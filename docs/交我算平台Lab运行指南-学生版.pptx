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5da479a2ae45a6" /><Relationship Type="http://schemas.openxmlformats.org/officeDocument/2006/relationships/extended-properties" Target="/docProps/app.xml" Id="R4ea353248b934123" /><Relationship Type="http://schemas.openxmlformats.org/officeDocument/2006/relationships/officeDocument" Target="/ppt/presentation.xml" Id="R8f8fcebfebb341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8b2b72a4e4427a"/>
  </p:sldMasterIdLst>
  <p:notesMasterIdLst>
    <p:notesMasterId xmlns:r="http://schemas.openxmlformats.org/officeDocument/2006/relationships" r:id="R4a1295cde87746a5"/>
  </p:notesMasterIdLst>
  <p:sldIdLst>
    <p:sldId xmlns:r="http://schemas.openxmlformats.org/officeDocument/2006/relationships" id="256" r:id="R7fee738532d746e1"/>
    <p:sldId xmlns:r="http://schemas.openxmlformats.org/officeDocument/2006/relationships" id="257" r:id="R697a093346934758"/>
    <p:sldId xmlns:r="http://schemas.openxmlformats.org/officeDocument/2006/relationships" id="258" r:id="R978f60e158e34e1a"/>
    <p:sldId xmlns:r="http://schemas.openxmlformats.org/officeDocument/2006/relationships" id="259" r:id="Ree067b619d48410e"/>
    <p:sldId xmlns:r="http://schemas.openxmlformats.org/officeDocument/2006/relationships" id="260" r:id="R769425df93e04fa6"/>
    <p:sldId xmlns:r="http://schemas.openxmlformats.org/officeDocument/2006/relationships" id="261" r:id="R0f4db516a1f64eef"/>
    <p:sldId xmlns:r="http://schemas.openxmlformats.org/officeDocument/2006/relationships" id="262" r:id="Rc0b1a19997fb4dfc"/>
    <p:sldId xmlns:r="http://schemas.openxmlformats.org/officeDocument/2006/relationships" id="263" r:id="Raa213ea74d02432a"/>
    <p:sldId xmlns:r="http://schemas.openxmlformats.org/officeDocument/2006/relationships" id="264" r:id="R198c39ae379a4152"/>
    <p:sldId xmlns:r="http://schemas.openxmlformats.org/officeDocument/2006/relationships" id="265" r:id="R492a68928f7f4161"/>
    <p:sldId xmlns:r="http://schemas.openxmlformats.org/officeDocument/2006/relationships" id="266" r:id="R1134c625252940b1"/>
    <p:sldId xmlns:r="http://schemas.openxmlformats.org/officeDocument/2006/relationships" id="267" r:id="Rc7620d0c8c124863"/>
    <p:sldId xmlns:r="http://schemas.openxmlformats.org/officeDocument/2006/relationships" id="268" r:id="R8c4ab4dd80364d87"/>
    <p:sldId xmlns:r="http://schemas.openxmlformats.org/officeDocument/2006/relationships" id="269" r:id="Re7c70e650fe24c03"/>
    <p:sldId xmlns:r="http://schemas.openxmlformats.org/officeDocument/2006/relationships" id="270" r:id="Rb478e241d3a44a81"/>
    <p:sldId xmlns:r="http://schemas.openxmlformats.org/officeDocument/2006/relationships" id="271" r:id="R6108d92f0ac046f9"/>
    <p:sldId xmlns:r="http://schemas.openxmlformats.org/officeDocument/2006/relationships" id="272" r:id="Rfee98f6ffe5843cb"/>
    <p:sldId xmlns:r="http://schemas.openxmlformats.org/officeDocument/2006/relationships" id="273" r:id="R1425fda4eb404fbb"/>
    <p:sldId xmlns:r="http://schemas.openxmlformats.org/officeDocument/2006/relationships" id="274" r:id="R627b1938d9334a24"/>
    <p:sldId xmlns:r="http://schemas.openxmlformats.org/officeDocument/2006/relationships" id="275" r:id="R135c7721aa964f9b"/>
    <p:sldId xmlns:r="http://schemas.openxmlformats.org/officeDocument/2006/relationships" id="276" r:id="R3fe350374cad449a"/>
    <p:sldId xmlns:r="http://schemas.openxmlformats.org/officeDocument/2006/relationships" id="277" r:id="R731551d6f50f4a0e"/>
    <p:sldId xmlns:r="http://schemas.openxmlformats.org/officeDocument/2006/relationships" id="278" r:id="R47ae73d605bd44d6"/>
    <p:sldId xmlns:r="http://schemas.openxmlformats.org/officeDocument/2006/relationships" id="279" r:id="R825a2d3fb6d24de5"/>
    <p:sldId xmlns:r="http://schemas.openxmlformats.org/officeDocument/2006/relationships" id="280" r:id="Re6256507a12f422a"/>
    <p:sldId xmlns:r="http://schemas.openxmlformats.org/officeDocument/2006/relationships" id="281" r:id="R8af782a649704f12"/>
    <p:sldId xmlns:r="http://schemas.openxmlformats.org/officeDocument/2006/relationships" id="282" r:id="Rb69d1f6484a2470b"/>
    <p:sldId xmlns:r="http://schemas.openxmlformats.org/officeDocument/2006/relationships" id="283" r:id="Ra41586e90b134f66"/>
    <p:sldId xmlns:r="http://schemas.openxmlformats.org/officeDocument/2006/relationships" id="284" r:id="R30d346fe1036425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d9ffd080a84d55" /><Relationship Type="http://schemas.openxmlformats.org/officeDocument/2006/relationships/slideMaster" Target="/ppt/slideMasters/slideMaster1.xml" Id="R8e8b2b72a4e4427a" /><Relationship Type="http://schemas.openxmlformats.org/officeDocument/2006/relationships/notesMaster" Target="/ppt/notesMasters/notesMaster1.xml" Id="R4a1295cde87746a5" /><Relationship Type="http://schemas.openxmlformats.org/officeDocument/2006/relationships/presProps" Target="/ppt/presProps.xml" Id="Rb069504b15a040d3" /><Relationship Type="http://schemas.openxmlformats.org/officeDocument/2006/relationships/tableStyles" Target="/ppt/tableStyles.xml" Id="R1c569607c5da4235" /><Relationship Type="http://schemas.openxmlformats.org/officeDocument/2006/relationships/slide" Target="/ppt/slides/slide1.xml" Id="R7fee738532d746e1" /><Relationship Type="http://schemas.openxmlformats.org/officeDocument/2006/relationships/slide" Target="/ppt/slides/slide2.xml" Id="R697a093346934758" /><Relationship Type="http://schemas.openxmlformats.org/officeDocument/2006/relationships/slide" Target="/ppt/slides/slide3.xml" Id="R978f60e158e34e1a" /><Relationship Type="http://schemas.openxmlformats.org/officeDocument/2006/relationships/slide" Target="/ppt/slides/slide4.xml" Id="Ree067b619d48410e" /><Relationship Type="http://schemas.openxmlformats.org/officeDocument/2006/relationships/slide" Target="/ppt/slides/slide5.xml" Id="R769425df93e04fa6" /><Relationship Type="http://schemas.openxmlformats.org/officeDocument/2006/relationships/slide" Target="/ppt/slides/slide6.xml" Id="R0f4db516a1f64eef" /><Relationship Type="http://schemas.openxmlformats.org/officeDocument/2006/relationships/slide" Target="/ppt/slides/slide7.xml" Id="Rc0b1a19997fb4dfc" /><Relationship Type="http://schemas.openxmlformats.org/officeDocument/2006/relationships/slide" Target="/ppt/slides/slide8.xml" Id="Raa213ea74d02432a" /><Relationship Type="http://schemas.openxmlformats.org/officeDocument/2006/relationships/slide" Target="/ppt/slides/slide9.xml" Id="R198c39ae379a4152" /><Relationship Type="http://schemas.openxmlformats.org/officeDocument/2006/relationships/slide" Target="/ppt/slides/slide10.xml" Id="R492a68928f7f4161" /><Relationship Type="http://schemas.openxmlformats.org/officeDocument/2006/relationships/slide" Target="/ppt/slides/slide11.xml" Id="R1134c625252940b1" /><Relationship Type="http://schemas.openxmlformats.org/officeDocument/2006/relationships/slide" Target="/ppt/slides/slide12.xml" Id="Rc7620d0c8c124863" /><Relationship Type="http://schemas.openxmlformats.org/officeDocument/2006/relationships/slide" Target="/ppt/slides/slide13.xml" Id="R8c4ab4dd80364d87" /><Relationship Type="http://schemas.openxmlformats.org/officeDocument/2006/relationships/slide" Target="/ppt/slides/slide14.xml" Id="Re7c70e650fe24c03" /><Relationship Type="http://schemas.openxmlformats.org/officeDocument/2006/relationships/slide" Target="/ppt/slides/slide15.xml" Id="Rb478e241d3a44a81" /><Relationship Type="http://schemas.openxmlformats.org/officeDocument/2006/relationships/slide" Target="/ppt/slides/slide16.xml" Id="R6108d92f0ac046f9" /><Relationship Type="http://schemas.openxmlformats.org/officeDocument/2006/relationships/slide" Target="/ppt/slides/slide17.xml" Id="Rfee98f6ffe5843cb" /><Relationship Type="http://schemas.openxmlformats.org/officeDocument/2006/relationships/slide" Target="/ppt/slides/slide18.xml" Id="R1425fda4eb404fbb" /><Relationship Type="http://schemas.openxmlformats.org/officeDocument/2006/relationships/slide" Target="/ppt/slides/slide19.xml" Id="R627b1938d9334a24" /><Relationship Type="http://schemas.openxmlformats.org/officeDocument/2006/relationships/slide" Target="/ppt/slides/slide20.xml" Id="R135c7721aa964f9b" /><Relationship Type="http://schemas.openxmlformats.org/officeDocument/2006/relationships/slide" Target="/ppt/slides/slide21.xml" Id="R3fe350374cad449a" /><Relationship Type="http://schemas.openxmlformats.org/officeDocument/2006/relationships/slide" Target="/ppt/slides/slide22.xml" Id="R731551d6f50f4a0e" /><Relationship Type="http://schemas.openxmlformats.org/officeDocument/2006/relationships/slide" Target="/ppt/slides/slide23.xml" Id="R47ae73d605bd44d6" /><Relationship Type="http://schemas.openxmlformats.org/officeDocument/2006/relationships/slide" Target="/ppt/slides/slide24.xml" Id="R825a2d3fb6d24de5" /><Relationship Type="http://schemas.openxmlformats.org/officeDocument/2006/relationships/slide" Target="/ppt/slides/slide25.xml" Id="Re6256507a12f422a" /><Relationship Type="http://schemas.openxmlformats.org/officeDocument/2006/relationships/slide" Target="/ppt/slides/slide26.xml" Id="R8af782a649704f12" /><Relationship Type="http://schemas.openxmlformats.org/officeDocument/2006/relationships/slide" Target="/ppt/slides/slide27.xml" Id="Rb69d1f6484a2470b" /><Relationship Type="http://schemas.openxmlformats.org/officeDocument/2006/relationships/slide" Target="/ppt/slides/slide28.xml" Id="Ra41586e90b134f66" /><Relationship Type="http://schemas.openxmlformats.org/officeDocument/2006/relationships/slide" Target="/ppt/slides/slide29.xml" Id="R30d346fe103642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6f2bfbb38949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35d79ef23e49a3" /><Relationship Type="http://schemas.openxmlformats.org/officeDocument/2006/relationships/notesMaster" Target="/ppt/notesMasters/notesMaster1.xml" Id="R3d4ee758351c4d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c781f3e1914f89" /><Relationship Type="http://schemas.openxmlformats.org/officeDocument/2006/relationships/notesMaster" Target="/ppt/notesMasters/notesMaster1.xml" Id="Ra27baddcd7304d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52ef9e6861483e" /><Relationship Type="http://schemas.openxmlformats.org/officeDocument/2006/relationships/notesMaster" Target="/ppt/notesMasters/notesMaster1.xml" Id="Rdb80c697c70d41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ae312ffc3248a5" /><Relationship Type="http://schemas.openxmlformats.org/officeDocument/2006/relationships/notesMaster" Target="/ppt/notesMasters/notesMaster1.xml" Id="Rac87279a6db348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2de7f3eb194207" /><Relationship Type="http://schemas.openxmlformats.org/officeDocument/2006/relationships/notesMaster" Target="/ppt/notesMasters/notesMaster1.xml" Id="Re6138b19cbcf40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f6a363e27848af" /><Relationship Type="http://schemas.openxmlformats.org/officeDocument/2006/relationships/notesMaster" Target="/ppt/notesMasters/notesMaster1.xml" Id="R63b71d31c96147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a5f61119574a11" /><Relationship Type="http://schemas.openxmlformats.org/officeDocument/2006/relationships/notesMaster" Target="/ppt/notesMasters/notesMaster1.xml" Id="Rcb7a7b3a70294e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7c0806cf77438c" /><Relationship Type="http://schemas.openxmlformats.org/officeDocument/2006/relationships/notesMaster" Target="/ppt/notesMasters/notesMaster1.xml" Id="Rf9ec1e9b1b6440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add06f4f11470b" /><Relationship Type="http://schemas.openxmlformats.org/officeDocument/2006/relationships/notesMaster" Target="/ppt/notesMasters/notesMaster1.xml" Id="R0874ed7792e448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739ca38115407b" /><Relationship Type="http://schemas.openxmlformats.org/officeDocument/2006/relationships/notesMaster" Target="/ppt/notesMasters/notesMaster1.xml" Id="Re12a7f492cdc4c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0b9ce24da74c16" /><Relationship Type="http://schemas.openxmlformats.org/officeDocument/2006/relationships/notesMaster" Target="/ppt/notesMasters/notesMaster1.xml" Id="Rd7c434ef5de64a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50937b6b3f4988" /><Relationship Type="http://schemas.openxmlformats.org/officeDocument/2006/relationships/notesMaster" Target="/ppt/notesMasters/notesMaster1.xml" Id="R506f51acdbcf43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2536b8475540fe" /><Relationship Type="http://schemas.openxmlformats.org/officeDocument/2006/relationships/notesMaster" Target="/ppt/notesMasters/notesMaster1.xml" Id="R5d8495c535e046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a7bf8f25ab49ba" /><Relationship Type="http://schemas.openxmlformats.org/officeDocument/2006/relationships/notesMaster" Target="/ppt/notesMasters/notesMaster1.xml" Id="R9e61da30f34742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426233bb0e43d2" /><Relationship Type="http://schemas.openxmlformats.org/officeDocument/2006/relationships/notesMaster" Target="/ppt/notesMasters/notesMaster1.xml" Id="R5ff12c220afb46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135f2a18254268" /><Relationship Type="http://schemas.openxmlformats.org/officeDocument/2006/relationships/notesMaster" Target="/ppt/notesMasters/notesMaster1.xml" Id="R64b032226cc543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dd4a7885c64290" /><Relationship Type="http://schemas.openxmlformats.org/officeDocument/2006/relationships/notesMaster" Target="/ppt/notesMasters/notesMaster1.xml" Id="R84965cc04fda47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33a76c75884296" /><Relationship Type="http://schemas.openxmlformats.org/officeDocument/2006/relationships/notesMaster" Target="/ppt/notesMasters/notesMaster1.xml" Id="Rc6c5d0232aeb41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115bf24ba4452d" /><Relationship Type="http://schemas.openxmlformats.org/officeDocument/2006/relationships/notesMaster" Target="/ppt/notesMasters/notesMaster1.xml" Id="R02beb4c0eb40493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db3e4c3c4749a8" /><Relationship Type="http://schemas.openxmlformats.org/officeDocument/2006/relationships/notesMaster" Target="/ppt/notesMasters/notesMaster1.xml" Id="Rcb419158ee2245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609b7c33a649d5" /><Relationship Type="http://schemas.openxmlformats.org/officeDocument/2006/relationships/notesMaster" Target="/ppt/notesMasters/notesMaster1.xml" Id="R04fb0047b3674e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c9ef0da158473d" /><Relationship Type="http://schemas.openxmlformats.org/officeDocument/2006/relationships/notesMaster" Target="/ppt/notesMasters/notesMaster1.xml" Id="R1cb583ba9b1a4a8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6b03cf7a0e44402" /><Relationship Type="http://schemas.openxmlformats.org/officeDocument/2006/relationships/notesMaster" Target="/ppt/notesMasters/notesMaster1.xml" Id="R7ea350b7d43144f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d7395d0942d4002" /><Relationship Type="http://schemas.openxmlformats.org/officeDocument/2006/relationships/notesMaster" Target="/ppt/notesMasters/notesMaster1.xml" Id="Rd0587907db2b435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50f20ef2dc54310" /><Relationship Type="http://schemas.openxmlformats.org/officeDocument/2006/relationships/notesMaster" Target="/ppt/notesMasters/notesMaster1.xml" Id="R6d061e36da1341b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c7e573078e84203" /><Relationship Type="http://schemas.openxmlformats.org/officeDocument/2006/relationships/notesMaster" Target="/ppt/notesMasters/notesMaster1.xml" Id="R9299b2a1933a4b8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f6a39a93eed465b" /><Relationship Type="http://schemas.openxmlformats.org/officeDocument/2006/relationships/notesMaster" Target="/ppt/notesMasters/notesMaster1.xml" Id="Ref29fa06eac2473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f66d758169f457b" /><Relationship Type="http://schemas.openxmlformats.org/officeDocument/2006/relationships/notesMaster" Target="/ppt/notesMasters/notesMaster1.xml" Id="Rea2d0a4156cd445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8b4ceb78d1842e5" /><Relationship Type="http://schemas.openxmlformats.org/officeDocument/2006/relationships/notesMaster" Target="/ppt/notesMasters/notesMaster1.xml" Id="Rae0d7e9ae78747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本教程面向第一次使用超算的课程学生。所有命令示例均需学生自行执行。本教程未提交任何作业。命令以当前课程仓库和交我算官方文档为依据。用户名使用占位符，学生必须使用本人账号。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教师通过交大云盘分发学生包。学生下载后传入平台；编辑可用 VS Code，编译与测试须申请计算节点。结束后下载最终源码、报告和日志，再上传课程指定的云盘收件入口。GitHub 仓库用于维护课程材料。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https://docs.hpc.sjtu.edu.cn/login/sshlogin.html</a:t>
            </a:r>
          </a:p>
          <a:p xmlns:a="http://schemas.openxmlformats.org/drawingml/2006/main">
            <a:r>
              <a:t>https://docs.hpc.sjtu.edu.cn/transport/transportsolution.html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HPC_USER 在本地终端设置。将 your_username 替换为本人的超算账号。jiaowosuan 是当前使用者电脑上已有的 SSH 别名，其他学生未配置时应使用完整域名。平台文档规定 2026-04-10 起教学账号禁止校外登录。不要展示或转发密码、证书私钥。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https://docs.hpc.sjtu.edu.cn/login/sshlogin.html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配置保存在本地用户目录。保留已有其他主机配置；同名 Host 修改原条目。nano 用 Ctrl-O、Enter 保存，Ctrl-X 退出。macOS/Linux 保存后可设 chmod 700 ~/.ssh 和 chmod 600 ~/.ssh/config。与仓库 .vscode 目录无关。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https://docs.hpc.sjtu.edu.cn/login/sshlogin.html</a:t>
            </a:r>
          </a:p>
          <a:p xmlns:a="http://schemas.openxmlformats.org/drawingml/2006/main">
            <a:r>
              <a:t>https://docs.hpc.sjtu.edu.cn/login/vscode.html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 Host 段都写入自己的本地 config。Host 是别名，HostName 是入口域名，User 是超算账号。ServerAlive 参数只帮助检测连接，不替代平台活跃会话要求。不要把密码写入配置。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https://docs.hpc.sjtu.edu.cn/login/sshlogin.html</a:t>
            </a:r>
          </a:p>
          <a:p xmlns:a="http://schemas.openxmlformats.org/drawingml/2006/main">
            <a:r>
              <a:t>https://docs.hpc.sjtu.edu.cn/transport/transportsolution.html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本课程先确认教学账号已开放免密证书申请。登录管理平台后核对账号，并按提示完成身份绑定和授权。一键生成后，将下载目录里的私钥与证书两个文件移入本地 .ssh 目录，具体操作见随后两页。以下示例文件名为 id_ed25519 和 id_ed25519-cert.pub，学生应按实际下载文件名替换。已有密钥时可以提交对应公钥申请证书，继续使用原私钥。申请功能不可用时继续密码登录并联系助教。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https://docs.hpc.sjtu.edu.cn/accounts/security.html</a:t>
            </a:r>
          </a:p>
          <a:p xmlns:a="http://schemas.openxmlformats.org/drawingml/2006/main">
            <a:r>
              <a:t>https://docs.hpc.sjtu.edu.cn/login/sshlogin.html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这些命令全部在学生自己的电脑执行。mv 将两个文件从 Downloads 移到 .ssh，config 随后指向移动后的路径。-i 让同名覆盖前先询问，遇到已有密钥应回答 n 并先核对用途，可另建目录保存后调整 config。保留下载文件名，不批量移动 Downloads 中的其他文件。若实际是 id_rsa 与 id_rsa-cert.pub，替换命令中的对应名称。如果浏览器下载到其他目录，则替换 Downloads 路径。本步骤只需私钥与证书两个文件。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https://docs.hpc.sjtu.edu.cn/accounts/security.html</a:t>
            </a:r>
          </a:p>
          <a:p xmlns:a="http://schemas.openxmlformats.org/drawingml/2006/main">
            <a:r>
              <a:t>https://docs.hpc.sjtu.edu.cn/login/sshlogin.html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Set-Location 切换到用户自己的本地目录，所以后续 .ssh 和 Downloads 都是该用户目录下的子目录。Move-Item 不加 -Force，已有同名目标文件时先处理冲突。也可用文件资源管理器剪切下载的两个文件，在地址栏输入 C:/Users/你的用户名/.ssh/ 后粘贴。Windows 不运行上一页的 chmod 命令。若下载文件名为 id_rsa 与 id_rsa-cert.pub，替换命令中的对应名称。两个文件仅用于本人本地 SSH 登录，不上传作业。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https://docs.hpc.sjtu.edu.cn/accounts/security.html</a:t>
            </a:r>
          </a:p>
          <a:p xmlns:a="http://schemas.openxmlformats.org/drawingml/2006/main">
            <a:r>
              <a:t>https://docs.hpc.sjtu.edu.cn/login/sshlogin.html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把三行分别加到已有 Host jiaowosuan 与 Host jiaowosuan-data 配置段中，User 填对应超算账号。IdentityFile 和 CertificateFile 指向移动后保存在本地 .ssh 中的文件。Windows 也可以填写 C:/Users/your_name/.ssh/ 下的绝对路径；包含空格时加双引号。IdentitiesOnly yes 限制认证身份为配置中的密钥和证书，避免额外尝试 ssh-agent 提供的其他身份；它不会禁用密码或 keyboard-interactive 认证，也不免除私钥自身的 passphrase。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https://docs.hpc.sjtu.edu.cn/accounts/security.html</a:t>
            </a:r>
          </a:p>
          <a:p xmlns:a="http://schemas.openxmlformats.org/drawingml/2006/main">
            <a:r>
              <a:t>https://docs.hpc.sjtu.edu.cn/login/sshlogin.html</a:t>
            </a:r>
          </a:p>
          <a:p xmlns:a="http://schemas.openxmlformats.org/drawingml/2006/main">
            <a:r>
              <a:t>https://man.openbsd.org/ssh_config#IdentitiesOnly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日常使用 ssh jiaowosuan 即可，VS Code Remote-SSH 也使用同一 Host 配置。出现账号密码提示意味着这次没有完成证书免密，应检查路径、匹配关系、证书有效期和账号名。私钥 passphrase 是本地保护口令，不是超算账号密码。可选测试中的 -o 是 SSH 命令行临时配置参数；PreferredAuthentications=publickey 只允许本次用公钥或证书认证，防止回退到密码后误以为免密已成功。不需要把此选项写入日常配置。证书详情可先在本地终端进入 .ssh，再执行 ssh-keygen -L -f id_ed25519-cert.pub，检查 Valid 和 Principals。保留密码登录途径方便排错。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https://docs.hpc.sjtu.edu.cn/accounts/security.html</a:t>
            </a:r>
          </a:p>
          <a:p xmlns:a="http://schemas.openxmlformats.org/drawingml/2006/main">
            <a:r>
              <a:t>https://docs.hpc.sjtu.edu.cn/login/sshlogin.html</a:t>
            </a:r>
          </a:p>
          <a:p xmlns:a="http://schemas.openxmlformats.org/drawingml/2006/main">
            <a:r>
              <a:t>https://man.openbsd.org/ssh_config#PreferredAuthentications</a:t>
            </a:r>
          </a:p>
          <a:p xmlns:a="http://schemas.openxmlformats.org/drawingml/2006/main">
            <a:r>
              <a:t>https://man.openbsd.org/ssh-keygen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先在独立终端测试 SSH，再打开 VS Code 远程连接。打开文件夹时若 ~ 未展开，使用普通 SSH 会话 pwd 确认的绝对路径。保存改变的是服务器上的文件，提交云盘前要下载最终源码。集成终端初始通常在登录节点。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https://docs.hpc.sjtu.edu.cn/login/vscode.html</a:t>
            </a:r>
          </a:p>
          <a:p xmlns:a="http://schemas.openxmlformats.org/drawingml/2006/main">
            <a:r>
              <a:t>https://code.visualstudio.com/docs/remote/ssh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已有用户设置时合并字段，不覆盖其他配置。别名找不到检查本地 config 路径和文件后缀。SSH 失败先检查校内网络、账号认证和证书。终端正常但 VS Code 不稳定时检查普通 SSH 活跃会话，以及负载均衡入口导致不同连接落到不同节点的问题。扩展的依赖下载可能仍需另行处理。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https://docs.hpc.sjtu.edu.cn/login/vscode.html</a:t>
            </a:r>
          </a:p>
          <a:p xmlns:a="http://schemas.openxmlformats.org/drawingml/2006/main">
            <a:r>
              <a:t>https://code.visualstudio.com/docs/remote/ssh</a:t>
            </a:r>
          </a:p>
          <a:p xmlns:a="http://schemas.openxmlformats.org/drawingml/2006/main">
            <a:r>
              <a:t>https://code.visualstudio.com/docs/remote/troubleshooting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首次上传流程适用于 macOS、Linux 及具备 OpenSSH 客户端的 Windows。课程根目录应包含 labs/。不要传入本地构建产物。macOS/Linux 的 rsync 过滤示例见讲义。云盘分享链接可能需要登录或提取码，不一定是 wget 可用的文件直链。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https://docs.hpc.sjtu.edu.cn/transport/transportsolution.html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在登录节点执行 srun。成功分配后才执行下方编译器检查，hostname 应显示计算节点。若排队，等待分配，不要退回登录节点直接运行实验。1 task、1 CPU 足以运行当前串行框架。20 分钟仅用于小规模调试。退出 bash 会释放交互式资源。登录节点于 2026-09-27 实测有 GCC 8.5.0、CMake 3.20.2，但计算节点仍需现场确认。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https://docs.hpc.sjtu.edu.cn/job/slurm.html</a:t>
            </a:r>
          </a:p>
          <a:p xmlns:a="http://schemas.openxmlformats.org/drawingml/2006/main">
            <a:r>
              <a:t>https://docs.hpc.sjtu.edu.cn/job/partition.html</a:t>
            </a:r>
          </a:p>
          <a:p xmlns:a="http://schemas.openxmlformats.org/drawingml/2006/main">
            <a:r>
              <a:t>https://docs.hpc.sjtu.edu.cn/job/kos.html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selftest 检查测试器、参考函数、签名和评分流程，不能证明 bits.c 已完成。make grade 检查学生答案。当前本地 bits.c 是姓名学号为空的学生模板，正式评分会拒绝运行；学生需要按题面自行填写并完成作答。dlc 是 x86-64 Linux 可执行文件，适合 Pi CPU 节点；当前版本不能识别新增 FP8 题的全部规则。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课程仓库 labs/lab1-datalab/README.md、Makefile、bits.c（2026-09-27）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 CMake &gt;= 3.16。默认使用随框架提供的参考 BLAS，不需要安装 MKL 或 OpenBLAS。build-pi2 是独立构建目录，不上传本地的 CMakeCache.txt。当前 CMakeLists 已为 reg_reuse 和 cache_part3 指定 -O0，为 cache_part4_o0..o3 分别指定优化级别；不添加额外全局优化选项。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课程仓库 labs/lab2-matrix/CMakeLists.txt、README.md、benchmarks/*.c、scripts/*.sh（2026-09-27）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这些命令覆盖寄存器复用、六种循环次序、六种缓存分块和 optimal 的四个优化级别。48、6 可满足当前框架的整除条件。只把不含 INVALID、退出状态为 0 的测试视为通过。学生空白实现会失败，这是预期行为。小矩阵测试是快速检查，不能证明所有输入均正确。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课程仓库 labs/lab2-matrix/CMakeLists.txt、README.md、benchmarks/*.c、scripts/*.sh（2026-09-27）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Slurm 的 ntasks 是进程数，cpus-per-task 是每个进程分配的 CPU 数。当前课程框架没有 MPI/OpenMP 并行，增加分配核数不会自动使单个实验加速。cpu 队列现场查询为每核默认 4096 MiB，上限也为 4096 MiB。任务时限是最大允许值，不是预计耗时。避免默认选择独占整节点。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https://docs.hpc.sjtu.edu.cn/job/slurm.html</a:t>
            </a:r>
          </a:p>
          <a:p xmlns:a="http://schemas.openxmlformats.org/drawingml/2006/main">
            <a:r>
              <a:t>https://docs.hpc.sjtu.edu.cn/job/partition.html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把本页内容保存为 course-labs/lab1.slurm。从仓库根目录提交，提交前先 mkdir -p results，因为 Slurm 在启动脚本前就会打开日志文件。脚本直接在所分配的计算节点执行。set -euo pipefail 使检查失败时作业返回非零。%j 由 Slurm 替换为作业编号。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https://docs.hpc.sjtu.edu.cn/job/slurm.html</a:t>
            </a:r>
          </a:p>
          <a:p xmlns:a="http://schemas.openxmlformats.org/drawingml/2006/main">
            <a:r>
              <a:t>课程仓库 labs/lab1-datalab/README.md、Makefile、bits.c（2026-09-27）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保存为 course-labs/lab2.slurm。左列接右列构成同一脚本，文字讲义提供完整可复制版本。每个作业使用包含 job ID 的独立构建目录，避免不同作业争用构建文件。这里执行小规模检查。正式实验应保留编译和正确性检查，再按课程题面添加运行命令并增加时限。若计算节点缺少工具，先 module avail，再加载实际存在的模块。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https://docs.hpc.sjtu.edu.cn/job/slurm.html</a:t>
            </a:r>
          </a:p>
          <a:p xmlns:a="http://schemas.openxmlformats.org/drawingml/2006/main">
            <a:r>
              <a:t>课程仓库 labs/lab2-matrix/CMakeLists.txt、README.md、benchmarks/*.c、scripts/*.sh（2026-09-27）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当前驱动默认值：reg_reuse 为 66,126,258,510,1026,2046；cache_part3 为 n=2000,b=10；cache_part4 为 n=2040,b=60。当前 README 部分正式规模与 dgemm3 的整除约定不一致，课程发布前应由教师统一。这里的命令仅演示重复运行，不定义新的课程测量规模。2040 和 60 满足 2、3、6 及缓存块的整除条件。CPU 绑核限制进程迁移，不能消除共享节点上的缓存、带宽、频率干扰。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课程仓库 labs/lab2-matrix/CMakeLists.txt、README.md、benchmarks/*.c、scripts/*.sh（2026-09-27）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这些命令在登录节点运行。必须先创建 results/ 再 sbatch。sbatch 返回的数字是 job ID，把 123456 替换为实际编号。PD 表示等待调度，R 表示运行中。squeue 中消失后，使用 sacct 看最终状态和退出码。只有 COMPLETED 且 ExitCode=0:0，结合程序检查结果，才确认该次作业成功。tail -f 用 Ctrl-C 结束查看，它不会取消作业。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https://docs.hpc.sjtu.edu.cn/job/slurm.html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在本地终端下载日志。Windows 或没有 rsync 时，在新建的本地收集目录执行 scp -r jiaowosuan-data:course-labs/results ./。源码需另外下载，参见下一页。关闭 SSH 不会自动结束已提交的 sbatch 作业。取消只针对明确的作业编号。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https://docs.hpc.sjtu.edu.cn/transport/transportsolution.html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按当前 Lab 选择下载命令。学生在云盘源码收集任务中上传单个 .c 文件；云盘可按学号和姓名重命名。报告与日志按教师指定的其他入口提交。</a:t>
            </a:r>
          </a:p>
          <a:p xmlns:a="http://schemas.openxmlformats.org/drawingml/2006/main">
            <a:r>
              <a:t>来源：https://pan.sjtu.edu.cn/pandoc/file-collection.html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示例学号与姓名为虚构。课程收集任务设置学号和姓名命名字段，学生按字段填写。当前 Lab 1/2 的源码各为一个文件。教师给出具体链接、报告入口与截止时间。</a:t>
            </a:r>
          </a:p>
          <a:p xmlns:a="http://schemas.openxmlformats.org/drawingml/2006/main">
            <a:r>
              <a:t>来源：https://pan.sjtu.edu.cn/pandoc/file-collection.html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云盘支持多次提交，同名文件可选择替换旧文件或保存两份。本课程建议替换，避免多版本无法确定。截止时间由收集任务有效期和课程通知确定。</a:t>
            </a:r>
          </a:p>
          <a:p xmlns:a="http://schemas.openxmlformats.org/drawingml/2006/main">
            <a:r>
              <a:t>来源：https://pan.sjtu.edu.cn/pandoc/file-collection.html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当前流水线自动评分只覆盖数值/位级正确性。Lab 1 保留 50 分制及单个错误半分规则；Lab 2 保留 100 分制。未决收件与环境问题保留空分待处理。教师统一处理反馈，不在学生共享目录发布全班成绩。依据课程 grader/README.md 与 docs/作业提交说明.md。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 cmake 不存在或版本过旧，在分配的计算节点上 module avail cmake，再 module load 实际存在的完整模块名，随后验证 cmake --version。旧 CMake 缓存必须使用新的构建目录，不能跨本地和集群复用。当前 labs/lab2-matrix/scripts/submit.sh 仅是 run_all.sh 的包装，不调用 sbatch，因此不能直接在登录节点使用。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https://docs.hpc.sjtu.edu.cn/job/slurm.html</a:t>
            </a:r>
          </a:p>
          <a:p xmlns:a="http://schemas.openxmlformats.org/drawingml/2006/main">
            <a:r>
              <a:t>https://docs.hpc.sjtu.edu.cn/job/kos.html</a:t>
            </a:r>
          </a:p>
          <a:p xmlns:a="http://schemas.openxmlformats.org/drawingml/2006/main">
            <a:r>
              <a:t>课程仓库 labs/lab1-datalab/README.md、Makefile、bits.c（2026-09-27）</a:t>
            </a:r>
          </a:p>
          <a:p xmlns:a="http://schemas.openxmlformats.org/drawingml/2006/main">
            <a:r>
              <a:t>课程仓库 labs/lab2-matrix/CMakeLists.txt、README.md、benchmarks/*.c、scripts/*.sh（2026-09-27）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课堂练习只运行小规模测试。学生尚未实现的函数允许输出失败，但必须能定位日志中的具体函数。下载结果后让学生说明本地、登录节点、计算节点的职责。官方文档和实际配置可能变化，软件版本与队列状态以当前 module avail、sinfo 和 scontrol 输出为准。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https://docs.hpc.sjtu.edu.cn/login/sshlogin.html</a:t>
            </a:r>
          </a:p>
          <a:p xmlns:a="http://schemas.openxmlformats.org/drawingml/2006/main">
            <a:r>
              <a:t>https://docs.hpc.sjtu.edu.cn/transport/transportsolution.html</a:t>
            </a:r>
          </a:p>
          <a:p xmlns:a="http://schemas.openxmlformats.org/drawingml/2006/main">
            <a:r>
              <a:t>https://docs.hpc.sjtu.edu.cn/job/slurm.html</a:t>
            </a:r>
          </a:p>
          <a:p xmlns:a="http://schemas.openxmlformats.org/drawingml/2006/main">
            <a:r>
              <a:t>https://docs.hpc.sjtu.edu.cn/job/partition.html</a:t>
            </a:r>
          </a:p>
          <a:p xmlns:a="http://schemas.openxmlformats.org/drawingml/2006/main">
            <a:r>
              <a:t>https://docs.hpc.sjtu.edu.cn/job/kos.html</a:t>
            </a:r>
          </a:p>
          <a:p xmlns:a="http://schemas.openxmlformats.org/drawingml/2006/main">
            <a:r>
              <a:t>课程仓库 labs/lab1-datalab/README.md、Makefile、bits.c（2026-09-27）</a:t>
            </a:r>
          </a:p>
          <a:p xmlns:a="http://schemas.openxmlformats.org/drawingml/2006/main">
            <a:r>
              <a:t>课程仓库 labs/lab2-matrix/CMakeLists.txt、README.md、benchmarks/*.c、scripts/*.sh（2026-09-27）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8ffc793d54e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91d336ea449af" /><Relationship Type="http://schemas.openxmlformats.org/officeDocument/2006/relationships/slideLayout" Target="/ppt/slideLayouts/slideLayout1.xml" Id="R84be41399f4146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be41399f4146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23a5666db455a" /><Relationship Type="http://schemas.openxmlformats.org/officeDocument/2006/relationships/notesSlide" Target="/ppt/notesSlides/notesSlide1.xml" Id="R1d9cd7b6e37e45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ed67cb06e477f" /><Relationship Type="http://schemas.openxmlformats.org/officeDocument/2006/relationships/notesSlide" Target="/ppt/notesSlides/notesSlide2.xml" Id="R54c7b9d529f84a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93015ef65452b" /><Relationship Type="http://schemas.openxmlformats.org/officeDocument/2006/relationships/notesSlide" Target="/ppt/notesSlides/notesSlide3.xml" Id="Rd1b4febe131f46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163c2e3754b6b" /><Relationship Type="http://schemas.openxmlformats.org/officeDocument/2006/relationships/notesSlide" Target="/ppt/notesSlides/notesSlide4.xml" Id="R813a05c4ba664f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3fc87d3d745df" /><Relationship Type="http://schemas.openxmlformats.org/officeDocument/2006/relationships/notesSlide" Target="/ppt/notesSlides/notesSlide5.xml" Id="R7dd525c7d1bd4d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c2ba29a4546f4" /><Relationship Type="http://schemas.openxmlformats.org/officeDocument/2006/relationships/notesSlide" Target="/ppt/notesSlides/notesSlide6.xml" Id="Rbef8ca3d3ff040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4aa2ddd9a400d" /><Relationship Type="http://schemas.openxmlformats.org/officeDocument/2006/relationships/notesSlide" Target="/ppt/notesSlides/notesSlide7.xml" Id="R545aa51bdfa240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fd1eb5ab44a6d" /><Relationship Type="http://schemas.openxmlformats.org/officeDocument/2006/relationships/notesSlide" Target="/ppt/notesSlides/notesSlide8.xml" Id="R409b71991a4f43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06700396e4250" /><Relationship Type="http://schemas.openxmlformats.org/officeDocument/2006/relationships/notesSlide" Target="/ppt/notesSlides/notesSlide9.xml" Id="R9e9567e229e749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01c6989ec4743" /><Relationship Type="http://schemas.openxmlformats.org/officeDocument/2006/relationships/notesSlide" Target="/ppt/notesSlides/notesSlide10.xml" Id="R93fc3b024d5f46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c07c83c874f26" /><Relationship Type="http://schemas.openxmlformats.org/officeDocument/2006/relationships/notesSlide" Target="/ppt/notesSlides/notesSlide11.xml" Id="R3c81d14218d04a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99eb3502e47f6" /><Relationship Type="http://schemas.openxmlformats.org/officeDocument/2006/relationships/notesSlide" Target="/ppt/notesSlides/notesSlide12.xml" Id="R9246d3392e294c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896bf847944ee" /><Relationship Type="http://schemas.openxmlformats.org/officeDocument/2006/relationships/notesSlide" Target="/ppt/notesSlides/notesSlide13.xml" Id="Rdd33c0f21a0c44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c5c02a88443eb" /><Relationship Type="http://schemas.openxmlformats.org/officeDocument/2006/relationships/notesSlide" Target="/ppt/notesSlides/notesSlide14.xml" Id="R32910b380ebc46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10a55334d4a75" /><Relationship Type="http://schemas.openxmlformats.org/officeDocument/2006/relationships/notesSlide" Target="/ppt/notesSlides/notesSlide15.xml" Id="R708841035b6942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04d4968f842d0" /><Relationship Type="http://schemas.openxmlformats.org/officeDocument/2006/relationships/notesSlide" Target="/ppt/notesSlides/notesSlide16.xml" Id="R1108ff1b092d4d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47c74d7c44c98" /><Relationship Type="http://schemas.openxmlformats.org/officeDocument/2006/relationships/notesSlide" Target="/ppt/notesSlides/notesSlide17.xml" Id="Ra6a225750d1341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ee34468614db9" /><Relationship Type="http://schemas.openxmlformats.org/officeDocument/2006/relationships/notesSlide" Target="/ppt/notesSlides/notesSlide18.xml" Id="R9dde8c9da76a4a6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8c51ca2bf453c" /><Relationship Type="http://schemas.openxmlformats.org/officeDocument/2006/relationships/notesSlide" Target="/ppt/notesSlides/notesSlide19.xml" Id="R25b072c6135c411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bcd52b1614274" /><Relationship Type="http://schemas.openxmlformats.org/officeDocument/2006/relationships/notesSlide" Target="/ppt/notesSlides/notesSlide20.xml" Id="R5ae52d6aa08f4a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2b1dfaa264cbf" /><Relationship Type="http://schemas.openxmlformats.org/officeDocument/2006/relationships/notesSlide" Target="/ppt/notesSlides/notesSlide21.xml" Id="Rf0df86ed49f04d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e26dd625e4d02" /><Relationship Type="http://schemas.openxmlformats.org/officeDocument/2006/relationships/notesSlide" Target="/ppt/notesSlides/notesSlide22.xml" Id="Ra52342a3671e476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627df32ef4c10" /><Relationship Type="http://schemas.openxmlformats.org/officeDocument/2006/relationships/notesSlide" Target="/ppt/notesSlides/notesSlide23.xml" Id="R54cccbe78ca84cc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9001572cf482d" /><Relationship Type="http://schemas.openxmlformats.org/officeDocument/2006/relationships/notesSlide" Target="/ppt/notesSlides/notesSlide24.xml" Id="Rfb9d46eba6ff4b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19f0a15514cf1" /><Relationship Type="http://schemas.openxmlformats.org/officeDocument/2006/relationships/notesSlide" Target="/ppt/notesSlides/notesSlide25.xml" Id="R865ab0926b24472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c4b142fdf465c" /><Relationship Type="http://schemas.openxmlformats.org/officeDocument/2006/relationships/notesSlide" Target="/ppt/notesSlides/notesSlide26.xml" Id="Re30dd722759d42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fec0bd0324194" /><Relationship Type="http://schemas.openxmlformats.org/officeDocument/2006/relationships/notesSlide" Target="/ppt/notesSlides/notesSlide27.xml" Id="R7a03148f505d49a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4f295d33040d3" /><Relationship Type="http://schemas.openxmlformats.org/officeDocument/2006/relationships/notesSlide" Target="/ppt/notesSlides/notesSlide28.xml" Id="R7b02b938faa74ad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361bc961f49e8" /><Relationship Type="http://schemas.openxmlformats.org/officeDocument/2006/relationships/hyperlink" Target="https://docs.hpc.sjtu.edu.cn/login/sshlogin.html" TargetMode="External" Id="Rad89e489e6ca4f4c" /><Relationship Type="http://schemas.openxmlformats.org/officeDocument/2006/relationships/hyperlink" Target="https://docs.hpc.sjtu.edu.cn/job/slurm.html" TargetMode="External" Id="R841043cfe6b94dcc" /><Relationship Type="http://schemas.openxmlformats.org/officeDocument/2006/relationships/hyperlink" Target="https://docs.hpc.sjtu.edu.cn/transport/transportsolution.html" TargetMode="External" Id="R232b39c2ca6e462b" /><Relationship Type="http://schemas.openxmlformats.org/officeDocument/2006/relationships/notesSlide" Target="/ppt/notesSlides/notesSlide29.xml" Id="R83ee05dbc8a348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E11AA-16BF-4B07-9424-186276CC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295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15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15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交我算平台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EB3C5-E753-4E42-AC5F-492EA4FF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33725"/>
            <a:ext cx="1323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15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15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Lab 运行指南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09EDD-CF67-4208-A430-22EBBD89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B7ED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0">
                <a:solidFill>
                  <a:srgbClr val="B7EDDB"/>
                </a:solidFill>
                <a:latin typeface="Hiragino Sans GB"/>
                <a:ea typeface="Hiragino Sans GB"/>
                <a:cs typeface="Hiragino Sans GB"/>
              </a:rPr>
              <a:t>π 2.0 集群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57BED-9824-420F-9E9E-7F38E208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DataLab 与 MatrixLab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00642-7ED1-4C7E-AB7A-90167418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86650"/>
            <a:ext cx="1285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CEC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B7CECC"/>
                </a:solidFill>
                <a:latin typeface="Hiragino Sans GB"/>
                <a:ea typeface="Hiragino Sans GB"/>
                <a:cs typeface="Hiragino Sans GB"/>
              </a:rPr>
              <a:t>学生上手教程　2026 年 9 月 · 云盘提交版</a:t>
            </a:r>
          </a:p>
        </p:txBody>
      </p:sp>
    </p:spTree>
    <p:extLst>
      <p:ext uri="{BB962C8B-B14F-4D97-AF65-F5344CB8AC3E}">
        <p14:creationId xmlns:p14="http://schemas.microsoft.com/office/powerpoint/2010/main" val="1486668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64DFF-97F5-4DC2-9259-17655D5F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一次实验的完整流程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57980-2E95-4A25-BFA1-50A82769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76300" y="1905000"/>
          <a:ext xmlns:a="http://schemas.openxmlformats.org/drawingml/2006/main" cx="133350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000750"/>
                <a:gridCol w="4857750"/>
              </a:tblGrid>
              <a:tr h="971550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solidFill>
                      <a:srgbClr val="167A70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执行的操作</a:t>
                      </a:r>
                    </a:p>
                  </a:txBody>
                  <a:tcPr marL="91440" marR="91440" marT="45720" marB="45720" anchor="ctr">
                    <a:solidFill>
                      <a:srgbClr val="167A70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常用命令</a:t>
                      </a:r>
                    </a:p>
                  </a:txBody>
                  <a:tcPr marL="91440" marR="91440" marT="45720" marB="45720" anchor="ctr">
                    <a:solidFill>
                      <a:srgbClr val="167A70"/>
                    </a:solidFill>
                  </a:tcPr>
                </a:tc>
              </a:tr>
              <a:tr h="971550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本地电脑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云盘下载与提交、源码传输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浏览器、ssh、scp / rsync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登录节点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查询队列、申请资源、提交作业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sinfo、srun、sbatch、squeue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</a:tr>
              <a:tr h="971550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计算节点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编译、正确性检查、性能测量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make、cmake、实验程序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数据节点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通过本地客户端传输文件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data.hpc.sjtu.edu.cn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6B664-C546-491C-A7DA-8C0EDE7E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86625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rPr>
              <a:t>登录节点禁止运行计算密集任务。编译与实验统一放入 Slurm 分配的计算节点。</a:t>
            </a:r>
          </a:p>
        </p:txBody>
      </p:sp>
    </p:spTree>
    <p:extLst>
      <p:ext uri="{BB962C8B-B14F-4D97-AF65-F5344CB8AC3E}">
        <p14:creationId xmlns:p14="http://schemas.microsoft.com/office/powerpoint/2010/main" val="2011885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登录 π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9B1E8-0A26-4E7E-9FBD-B0E2555C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在本地终端执行，your_username 替换为本人超算用户名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FEF93-934B-4D01-9AC2-2312D5DF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1343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5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ssh -V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BEB3C-1B69-4AD7-8964-2838E6DA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4225"/>
            <a:ext cx="1343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5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ssh your_username@pilogin.hpc.sjtu.edu.cn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B50A4-4CA3-4266-9F3F-5910109D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完成后面的本地 SSH 配置后，可以简写为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D5CA9-B242-4F6B-9A39-5ABB485F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343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7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ssh jiaowosuan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E6DC5-2158-444A-8B32-E35DBB42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91375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rPr>
              <a:t>教学账号须在校内网络登录；jiaowosuan 不是平台统一提供的命令。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本地 SSH 配置文件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0" name="content-2">
            <a:extLst xmlns:a="http://schemas.openxmlformats.org/drawingml/2006/main">
              <a:ext uri="{FF2B5EF4-FFF2-40B4-BE49-F238E27FC236}">
                <a16:creationId xmlns:a16="http://schemas.microsoft.com/office/drawing/2014/main" id="{BEE83DAE-2A95-48B3-B33B-42D13BF9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macOS / Linux：在自己的电脑上编辑</a:t>
            </a:r>
          </a:p>
        </p:txBody>
      </p:sp>
      <p:sp>
        <p:nvSpPr>
          <p:cNvPr id="11" name="content-3">
            <a:extLst xmlns:a="http://schemas.openxmlformats.org/drawingml/2006/main">
              <a:ext uri="{FF2B5EF4-FFF2-40B4-BE49-F238E27FC236}">
                <a16:creationId xmlns:a16="http://schemas.microsoft.com/office/drawing/2014/main" id="{E7EE85EA-6FC9-4DEA-99A6-CE2BB0F1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7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~/.ssh/config</a:t>
            </a:r>
          </a:p>
        </p:txBody>
      </p:sp>
      <p:sp>
        <p:nvSpPr>
          <p:cNvPr id="12" name="content-4">
            <a:extLst xmlns:a="http://schemas.openxmlformats.org/drawingml/2006/main">
              <a:ext uri="{FF2B5EF4-FFF2-40B4-BE49-F238E27FC236}">
                <a16:creationId xmlns:a16="http://schemas.microsoft.com/office/drawing/2014/main" id="{5F8F9D9D-939D-4E85-B927-4277AC20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mkdir -p ~/.ssh</a:t>
            </a:r>
          </a:p>
        </p:txBody>
      </p:sp>
      <p:sp>
        <p:nvSpPr>
          <p:cNvPr id="13" name="content-5">
            <a:extLst xmlns:a="http://schemas.openxmlformats.org/drawingml/2006/main">
              <a:ext uri="{FF2B5EF4-FFF2-40B4-BE49-F238E27FC236}">
                <a16:creationId xmlns:a16="http://schemas.microsoft.com/office/drawing/2014/main" id="{A5DB860A-F3D0-4315-B5D2-977D6ECC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touch ~/.ssh/config &amp;&amp; nano ~/.ssh/config</a:t>
            </a:r>
          </a:p>
        </p:txBody>
      </p:sp>
      <p:sp>
        <p:nvSpPr>
          <p:cNvPr id="14" name="content-6">
            <a:extLst xmlns:a="http://schemas.openxmlformats.org/drawingml/2006/main">
              <a:ext uri="{FF2B5EF4-FFF2-40B4-BE49-F238E27FC236}">
                <a16:creationId xmlns:a16="http://schemas.microsoft.com/office/drawing/2014/main" id="{2A8CF849-5ECA-4830-8F2F-24E04F18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007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Windows：在 PowerShell 中打开记事本</a:t>
            </a:r>
          </a:p>
        </p:txBody>
      </p:sp>
      <p:sp>
        <p:nvSpPr>
          <p:cNvPr id="15" name="content-7">
            <a:extLst xmlns:a="http://schemas.openxmlformats.org/drawingml/2006/main">
              <a:ext uri="{FF2B5EF4-FFF2-40B4-BE49-F238E27FC236}">
                <a16:creationId xmlns:a16="http://schemas.microsoft.com/office/drawing/2014/main" id="{95FF3CAC-BD1B-4755-8305-6FA628DA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New-Item -ItemType Directory -Force "$env:USERPROFILE\.ssh"</a:t>
            </a:r>
          </a:p>
        </p:txBody>
      </p:sp>
      <p:sp>
        <p:nvSpPr>
          <p:cNvPr id="16" name="content-8">
            <a:extLst xmlns:a="http://schemas.openxmlformats.org/drawingml/2006/main">
              <a:ext uri="{FF2B5EF4-FFF2-40B4-BE49-F238E27FC236}">
                <a16:creationId xmlns:a16="http://schemas.microsoft.com/office/drawing/2014/main" id="{F2F2AA3E-847A-47F2-9C32-79C7AF55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notepad "$env:USERPROFILE\.ssh\config"</a:t>
            </a:r>
          </a:p>
        </p:txBody>
      </p:sp>
      <p:sp>
        <p:nvSpPr>
          <p:cNvPr id="17" name="content-9">
            <a:extLst xmlns:a="http://schemas.openxmlformats.org/drawingml/2006/main">
              <a:ext uri="{FF2B5EF4-FFF2-40B4-BE49-F238E27FC236}">
                <a16:creationId xmlns:a16="http://schemas.microsoft.com/office/drawing/2014/main" id="{87352598-E4D0-4F1F-8A5B-4C610E42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追加或修改自己的 Host 条目；文件名为 config，无 .txt 后缀。完整步骤见讲义。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登录与文件传输的 SSH 别名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0" name="content-2">
            <a:extLst xmlns:a="http://schemas.openxmlformats.org/drawingml/2006/main">
              <a:ext uri="{FF2B5EF4-FFF2-40B4-BE49-F238E27FC236}">
                <a16:creationId xmlns:a16="http://schemas.microsoft.com/office/drawing/2014/main" id="{096AB81F-76E9-4789-8542-C7A5F6FA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登录：编辑文件、提交作业</a:t>
            </a:r>
          </a:p>
        </p:txBody>
      </p:sp>
      <p:sp>
        <p:nvSpPr>
          <p:cNvPr id="11" name="content-3">
            <a:extLst xmlns:a="http://schemas.openxmlformats.org/drawingml/2006/main">
              <a:ext uri="{FF2B5EF4-FFF2-40B4-BE49-F238E27FC236}">
                <a16:creationId xmlns:a16="http://schemas.microsoft.com/office/drawing/2014/main" id="{847FF308-C205-4617-8165-3AED7915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6212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传输：上传源码、下载结果</a:t>
            </a:r>
          </a:p>
        </p:txBody>
      </p:sp>
      <p:sp>
        <p:nvSpPr>
          <p:cNvPr id="12" name="content-4">
            <a:extLst xmlns:a="http://schemas.openxmlformats.org/drawingml/2006/main">
              <a:ext uri="{FF2B5EF4-FFF2-40B4-BE49-F238E27FC236}">
                <a16:creationId xmlns:a16="http://schemas.microsoft.com/office/drawing/2014/main" id="{48CAC5A1-6C4C-40BA-8406-3E886E70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Host jiaowosuan</a:t>
            </a:r>
          </a:p>
        </p:txBody>
      </p:sp>
      <p:sp>
        <p:nvSpPr>
          <p:cNvPr id="13" name="content-5">
            <a:extLst xmlns:a="http://schemas.openxmlformats.org/drawingml/2006/main">
              <a:ext uri="{FF2B5EF4-FFF2-40B4-BE49-F238E27FC236}">
                <a16:creationId xmlns:a16="http://schemas.microsoft.com/office/drawing/2014/main" id="{DFB9BFD2-9BAB-440C-920C-DE5F0227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HostName pilogin.hpc.sjtu.edu.cn</a:t>
            </a:r>
          </a:p>
        </p:txBody>
      </p:sp>
      <p:sp>
        <p:nvSpPr>
          <p:cNvPr id="14" name="content-6">
            <a:extLst xmlns:a="http://schemas.openxmlformats.org/drawingml/2006/main">
              <a:ext uri="{FF2B5EF4-FFF2-40B4-BE49-F238E27FC236}">
                <a16:creationId xmlns:a16="http://schemas.microsoft.com/office/drawing/2014/main" id="{9802413B-0533-4ABB-823F-CA84010A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User your_username</a:t>
            </a:r>
          </a:p>
        </p:txBody>
      </p:sp>
      <p:sp>
        <p:nvSpPr>
          <p:cNvPr id="15" name="content-7">
            <a:extLst xmlns:a="http://schemas.openxmlformats.org/drawingml/2006/main">
              <a:ext uri="{FF2B5EF4-FFF2-40B4-BE49-F238E27FC236}">
                <a16:creationId xmlns:a16="http://schemas.microsoft.com/office/drawing/2014/main" id="{F2F10397-91F6-4E8F-BC61-3B2803F5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95775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Port 22</a:t>
            </a:r>
          </a:p>
        </p:txBody>
      </p:sp>
      <p:sp>
        <p:nvSpPr>
          <p:cNvPr id="16" name="content-8">
            <a:extLst xmlns:a="http://schemas.openxmlformats.org/drawingml/2006/main">
              <a:ext uri="{FF2B5EF4-FFF2-40B4-BE49-F238E27FC236}">
                <a16:creationId xmlns:a16="http://schemas.microsoft.com/office/drawing/2014/main" id="{7FE4086A-1F70-484B-9C52-D0CA91A7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ServerAliveInterval 60</a:t>
            </a:r>
          </a:p>
        </p:txBody>
      </p:sp>
      <p:sp>
        <p:nvSpPr>
          <p:cNvPr id="17" name="content-9">
            <a:extLst xmlns:a="http://schemas.openxmlformats.org/drawingml/2006/main">
              <a:ext uri="{FF2B5EF4-FFF2-40B4-BE49-F238E27FC236}">
                <a16:creationId xmlns:a16="http://schemas.microsoft.com/office/drawing/2014/main" id="{E188AABB-FC94-4BFA-9441-148220DD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ServerAliveCountMax 3</a:t>
            </a:r>
          </a:p>
        </p:txBody>
      </p:sp>
      <p:sp>
        <p:nvSpPr>
          <p:cNvPr id="18" name="content-10">
            <a:extLst xmlns:a="http://schemas.openxmlformats.org/drawingml/2006/main">
              <a:ext uri="{FF2B5EF4-FFF2-40B4-BE49-F238E27FC236}">
                <a16:creationId xmlns:a16="http://schemas.microsoft.com/office/drawing/2014/main" id="{7E495652-DAAB-46D3-B128-E25C55AE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670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Host jiaowosuan-data</a:t>
            </a:r>
          </a:p>
        </p:txBody>
      </p:sp>
      <p:sp>
        <p:nvSpPr>
          <p:cNvPr id="19" name="content-11">
            <a:extLst xmlns:a="http://schemas.openxmlformats.org/drawingml/2006/main">
              <a:ext uri="{FF2B5EF4-FFF2-40B4-BE49-F238E27FC236}">
                <a16:creationId xmlns:a16="http://schemas.microsoft.com/office/drawing/2014/main" id="{D2BA50A0-4924-43CB-A2F5-C01E0F33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HostName data.hpc.sjtu.edu.cn</a:t>
            </a:r>
          </a:p>
        </p:txBody>
      </p:sp>
      <p:sp>
        <p:nvSpPr>
          <p:cNvPr id="20" name="content-12">
            <a:extLst xmlns:a="http://schemas.openxmlformats.org/drawingml/2006/main">
              <a:ext uri="{FF2B5EF4-FFF2-40B4-BE49-F238E27FC236}">
                <a16:creationId xmlns:a16="http://schemas.microsoft.com/office/drawing/2014/main" id="{2D8B9A71-D1ED-4BAC-BB33-2346D14E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5285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User your_username</a:t>
            </a:r>
          </a:p>
        </p:txBody>
      </p:sp>
      <p:sp>
        <p:nvSpPr>
          <p:cNvPr id="21" name="content-13">
            <a:extLst xmlns:a="http://schemas.openxmlformats.org/drawingml/2006/main">
              <a:ext uri="{FF2B5EF4-FFF2-40B4-BE49-F238E27FC236}">
                <a16:creationId xmlns:a16="http://schemas.microsoft.com/office/drawing/2014/main" id="{622D84D2-73DC-4A95-84C3-BCC6C602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9577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Port 22</a:t>
            </a:r>
          </a:p>
        </p:txBody>
      </p:sp>
      <p:sp>
        <p:nvSpPr>
          <p:cNvPr id="22" name="content-14">
            <a:extLst xmlns:a="http://schemas.openxmlformats.org/drawingml/2006/main">
              <a:ext uri="{FF2B5EF4-FFF2-40B4-BE49-F238E27FC236}">
                <a16:creationId xmlns:a16="http://schemas.microsoft.com/office/drawing/2014/main" id="{E75D4AEC-CD9F-46F6-9789-B849C349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387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ServerAliveInterval 60</a:t>
            </a:r>
          </a:p>
        </p:txBody>
      </p:sp>
      <p:sp>
        <p:nvSpPr>
          <p:cNvPr id="23" name="content-15">
            <a:extLst xmlns:a="http://schemas.openxmlformats.org/drawingml/2006/main">
              <a:ext uri="{FF2B5EF4-FFF2-40B4-BE49-F238E27FC236}">
                <a16:creationId xmlns:a16="http://schemas.microsoft.com/office/drawing/2014/main" id="{3435BA7E-A1BE-4741-BBB0-392B3DCF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8162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ServerAliveCountMax 3</a:t>
            </a:r>
          </a:p>
        </p:txBody>
      </p:sp>
      <p:sp>
        <p:nvSpPr>
          <p:cNvPr id="24" name="content-16">
            <a:extLst xmlns:a="http://schemas.openxmlformats.org/drawingml/2006/main">
              <a:ext uri="{FF2B5EF4-FFF2-40B4-BE49-F238E27FC236}">
                <a16:creationId xmlns:a16="http://schemas.microsoft.com/office/drawing/2014/main" id="{09CBA0C5-90E9-42D9-BC82-DF52FC68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3887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两处 your_username 都替换为本人超算用户名</a:t>
            </a:r>
          </a:p>
        </p:txBody>
      </p:sp>
      <p:sp>
        <p:nvSpPr>
          <p:cNvPr id="25" name="content-17">
            <a:extLst xmlns:a="http://schemas.openxmlformats.org/drawingml/2006/main">
              <a:ext uri="{FF2B5EF4-FFF2-40B4-BE49-F238E27FC236}">
                <a16:creationId xmlns:a16="http://schemas.microsoft.com/office/drawing/2014/main" id="{4A1D4BB2-2275-426A-93F6-4CD55CD7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保存后在本地运行 ssh jiaowosuan。别名简化命令，认证仍按平台要求完成。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学生免密登录：申请证书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10" name="content-2">
            <a:extLst xmlns:a="http://schemas.openxmlformats.org/drawingml/2006/main">
              <a:ext uri="{FF2B5EF4-FFF2-40B4-BE49-F238E27FC236}">
                <a16:creationId xmlns:a16="http://schemas.microsoft.com/office/drawing/2014/main" id="{B8A01086-6CB9-40E6-803E-55C25685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适用：账号已开放证书申请，并能正常使用密码登录</a:t>
            </a:r>
          </a:p>
        </p:txBody>
      </p:sp>
      <p:sp>
        <p:nvSpPr>
          <p:cNvPr id="11" name="content-3">
            <a:extLst xmlns:a="http://schemas.openxmlformats.org/drawingml/2006/main">
              <a:ext uri="{FF2B5EF4-FFF2-40B4-BE49-F238E27FC236}">
                <a16:creationId xmlns:a16="http://schemas.microsoft.com/office/drawing/2014/main" id="{7E2E5067-8024-4B71-861B-417A8CF6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1  在本地浏览器打开超算管理系统</a:t>
            </a:r>
          </a:p>
        </p:txBody>
      </p:sp>
      <p:sp>
        <p:nvSpPr>
          <p:cNvPr id="12" name="content-4">
            <a:extLst xmlns:a="http://schemas.openxmlformats.org/drawingml/2006/main">
              <a:ext uri="{FF2B5EF4-FFF2-40B4-BE49-F238E27FC236}">
                <a16:creationId xmlns:a16="http://schemas.microsoft.com/office/drawing/2014/main" id="{F81AABA0-2008-4ADA-80CC-B50C19AE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>
                <a:solidFill>
                  <a:srgbClr val="B7EDDB"/>
                </a:solidFill>
                <a:latin typeface="Menlo"/>
                <a:ea typeface="Menlo"/>
                <a:cs typeface="Menlo"/>
              </a:rPr>
              <a:t>https://my.hpc.sjtu.edu.cn/</a:t>
            </a:r>
          </a:p>
        </p:txBody>
      </p:sp>
      <p:sp>
        <p:nvSpPr>
          <p:cNvPr id="13" name="content-5">
            <a:extLst xmlns:a="http://schemas.openxmlformats.org/drawingml/2006/main">
              <a:ext uri="{FF2B5EF4-FFF2-40B4-BE49-F238E27FC236}">
                <a16:creationId xmlns:a16="http://schemas.microsoft.com/office/drawing/2014/main" id="{7E43AD0A-EDA9-4924-B597-FD0E705B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2  核对登录账号，按提示完成 jAccount / 邮箱绑定</a:t>
            </a:r>
          </a:p>
        </p:txBody>
      </p:sp>
      <p:sp>
        <p:nvSpPr>
          <p:cNvPr id="14" name="content-6">
            <a:extLst xmlns:a="http://schemas.openxmlformats.org/drawingml/2006/main">
              <a:ext uri="{FF2B5EF4-FFF2-40B4-BE49-F238E27FC236}">
                <a16:creationId xmlns:a16="http://schemas.microsoft.com/office/drawing/2014/main" id="{51689C4C-F8EF-42AC-9A41-0238D9BF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3  在证书申请中选择“一键生成”或提交已有公钥</a:t>
            </a:r>
          </a:p>
        </p:txBody>
      </p:sp>
      <p:sp>
        <p:nvSpPr>
          <p:cNvPr id="15" name="content-7">
            <a:extLst xmlns:a="http://schemas.openxmlformats.org/drawingml/2006/main">
              <a:ext uri="{FF2B5EF4-FFF2-40B4-BE49-F238E27FC236}">
                <a16:creationId xmlns:a16="http://schemas.microsoft.com/office/drawing/2014/main" id="{6A6BF024-7340-42F7-9657-3EC677A5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4  按页面提示完成授权，一键生成后下载私钥与证书两个文件</a:t>
            </a:r>
          </a:p>
        </p:txBody>
      </p:sp>
      <p:sp>
        <p:nvSpPr>
          <p:cNvPr id="16" name="content-8">
            <a:extLst xmlns:a="http://schemas.openxmlformats.org/drawingml/2006/main">
              <a:ext uri="{FF2B5EF4-FFF2-40B4-BE49-F238E27FC236}">
                <a16:creationId xmlns:a16="http://schemas.microsoft.com/office/drawing/2014/main" id="{F7D0A37E-CA0E-455F-A292-6537AC80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使用已有密钥时，只提交公钥（.pub），保留原私钥</a:t>
            </a:r>
          </a:p>
        </p:txBody>
      </p:sp>
      <p:sp>
        <p:nvSpPr>
          <p:cNvPr id="17" name="content-9">
            <a:extLst xmlns:a="http://schemas.openxmlformats.org/drawingml/2006/main">
              <a:ext uri="{FF2B5EF4-FFF2-40B4-BE49-F238E27FC236}">
                <a16:creationId xmlns:a16="http://schemas.microsoft.com/office/drawing/2014/main" id="{F6A1678C-44DC-4AA3-A04E-95E70875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申请权限以实际账号为准。若无入口或申请失败，继续使用密码登录并联系助教。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下载文件移入 .ssh：macOS / Linux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10" name="content-2">
            <a:extLst xmlns:a="http://schemas.openxmlformats.org/drawingml/2006/main">
              <a:ext uri="{FF2B5EF4-FFF2-40B4-BE49-F238E27FC236}">
                <a16:creationId xmlns:a16="http://schemas.microsoft.com/office/drawing/2014/main" id="{56F5F777-E3D7-4B0F-BC54-04DA3958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一键生成的两个文件保存在本地 Downloads 下载目录</a:t>
            </a:r>
          </a:p>
        </p:txBody>
      </p:sp>
      <p:sp>
        <p:nvSpPr>
          <p:cNvPr id="11" name="content-3">
            <a:extLst xmlns:a="http://schemas.openxmlformats.org/drawingml/2006/main">
              <a:ext uri="{FF2B5EF4-FFF2-40B4-BE49-F238E27FC236}">
                <a16:creationId xmlns:a16="http://schemas.microsoft.com/office/drawing/2014/main" id="{C5EA82D8-1A88-4930-A98C-205BCE66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id_ed25519 是私钥，id_ed25519-cert.pub 是证书</a:t>
            </a:r>
          </a:p>
        </p:txBody>
      </p:sp>
      <p:sp>
        <p:nvSpPr>
          <p:cNvPr id="12" name="content-4">
            <a:extLst xmlns:a="http://schemas.openxmlformats.org/drawingml/2006/main">
              <a:ext uri="{FF2B5EF4-FFF2-40B4-BE49-F238E27FC236}">
                <a16:creationId xmlns:a16="http://schemas.microsoft.com/office/drawing/2014/main" id="{3F0414F7-D087-4054-96A0-E7983532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>
                <a:solidFill>
                  <a:srgbClr val="B7EDDB"/>
                </a:solidFill>
                <a:latin typeface="Menlo"/>
                <a:ea typeface="Menlo"/>
                <a:cs typeface="Menlo"/>
              </a:rPr>
              <a:t>mkdir -p ~/.ssh</a:t>
            </a:r>
          </a:p>
        </p:txBody>
      </p:sp>
      <p:sp>
        <p:nvSpPr>
          <p:cNvPr id="13" name="content-5">
            <a:extLst xmlns:a="http://schemas.openxmlformats.org/drawingml/2006/main">
              <a:ext uri="{FF2B5EF4-FFF2-40B4-BE49-F238E27FC236}">
                <a16:creationId xmlns:a16="http://schemas.microsoft.com/office/drawing/2014/main" id="{9F89B84E-A135-434B-A2AC-9A35F4F7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>
                <a:solidFill>
                  <a:srgbClr val="B7EDDB"/>
                </a:solidFill>
                <a:latin typeface="Menlo"/>
                <a:ea typeface="Menlo"/>
                <a:cs typeface="Menlo"/>
              </a:rPr>
              <a:t>mv -i ~/Downloads/id_ed25519 ~/.ssh/</a:t>
            </a:r>
          </a:p>
        </p:txBody>
      </p:sp>
      <p:sp>
        <p:nvSpPr>
          <p:cNvPr id="14" name="content-6">
            <a:extLst xmlns:a="http://schemas.openxmlformats.org/drawingml/2006/main">
              <a:ext uri="{FF2B5EF4-FFF2-40B4-BE49-F238E27FC236}">
                <a16:creationId xmlns:a16="http://schemas.microsoft.com/office/drawing/2014/main" id="{FA96A641-E2F0-41E5-A9B9-3FE93681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>
                <a:solidFill>
                  <a:srgbClr val="B7EDDB"/>
                </a:solidFill>
                <a:latin typeface="Menlo"/>
                <a:ea typeface="Menlo"/>
                <a:cs typeface="Menlo"/>
              </a:rPr>
              <a:t>mv -i ~/Downloads/id_ed25519-cert.pub ~/.ssh/</a:t>
            </a:r>
          </a:p>
        </p:txBody>
      </p:sp>
      <p:sp>
        <p:nvSpPr>
          <p:cNvPr id="15" name="content-7">
            <a:extLst xmlns:a="http://schemas.openxmlformats.org/drawingml/2006/main">
              <a:ext uri="{FF2B5EF4-FFF2-40B4-BE49-F238E27FC236}">
                <a16:creationId xmlns:a16="http://schemas.microsoft.com/office/drawing/2014/main" id="{0E3DE64D-31DE-4FE1-B856-C2F2812F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>
                <a:solidFill>
                  <a:srgbClr val="B7EDDB"/>
                </a:solidFill>
                <a:latin typeface="Menlo"/>
                <a:ea typeface="Menlo"/>
                <a:cs typeface="Menlo"/>
              </a:rPr>
              <a:t>chmod 700 ~/.ssh</a:t>
            </a:r>
          </a:p>
        </p:txBody>
      </p:sp>
      <p:sp>
        <p:nvSpPr>
          <p:cNvPr id="16" name="content-8">
            <a:extLst xmlns:a="http://schemas.openxmlformats.org/drawingml/2006/main">
              <a:ext uri="{FF2B5EF4-FFF2-40B4-BE49-F238E27FC236}">
                <a16:creationId xmlns:a16="http://schemas.microsoft.com/office/drawing/2014/main" id="{9C913EE7-8565-4E25-9A0C-BF8DF4C5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6257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>
                <a:solidFill>
                  <a:srgbClr val="B7EDDB"/>
                </a:solidFill>
                <a:latin typeface="Menlo"/>
                <a:ea typeface="Menlo"/>
                <a:cs typeface="Menlo"/>
              </a:rPr>
              <a:t>chmod 600 ~/.ssh/id_ed25519</a:t>
            </a:r>
          </a:p>
        </p:txBody>
      </p:sp>
      <p:sp>
        <p:nvSpPr>
          <p:cNvPr id="17" name="content-9">
            <a:extLst xmlns:a="http://schemas.openxmlformats.org/drawingml/2006/main">
              <a:ext uri="{FF2B5EF4-FFF2-40B4-BE49-F238E27FC236}">
                <a16:creationId xmlns:a16="http://schemas.microsoft.com/office/drawing/2014/main" id="{FAEC08BF-6313-4138-A75D-BD3E9316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341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完成后，两个文件都位于自己电脑的 ~/.ssh/ 目录下</a:t>
            </a:r>
          </a:p>
        </p:txBody>
      </p:sp>
      <p:sp>
        <p:nvSpPr>
          <p:cNvPr id="18" name="content-10">
            <a:extLst xmlns:a="http://schemas.openxmlformats.org/drawingml/2006/main">
              <a:ext uri="{FF2B5EF4-FFF2-40B4-BE49-F238E27FC236}">
                <a16:creationId xmlns:a16="http://schemas.microsoft.com/office/drawing/2014/main" id="{D47DFAD2-0822-4915-AA8D-D5317A60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按实际文件名和下载路径替换。若提示覆盖同名文件，输入 n，先核对原文件用途。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下载文件移入 .ssh：Windows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10" name="content-2">
            <a:extLst xmlns:a="http://schemas.openxmlformats.org/drawingml/2006/main">
              <a:ext uri="{FF2B5EF4-FFF2-40B4-BE49-F238E27FC236}">
                <a16:creationId xmlns:a16="http://schemas.microsoft.com/office/drawing/2014/main" id="{01AC2062-B236-49D8-811A-25ED0D66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在自己电脑的 PowerShell 中执行，先切换到本地用户目录</a:t>
            </a:r>
          </a:p>
        </p:txBody>
      </p:sp>
      <p:sp>
        <p:nvSpPr>
          <p:cNvPr id="11" name="content-3">
            <a:extLst xmlns:a="http://schemas.openxmlformats.org/drawingml/2006/main">
              <a:ext uri="{FF2B5EF4-FFF2-40B4-BE49-F238E27FC236}">
                <a16:creationId xmlns:a16="http://schemas.microsoft.com/office/drawing/2014/main" id="{49E43EB5-1D64-454B-8A86-B3015A04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>
                <a:solidFill>
                  <a:srgbClr val="B7EDDB"/>
                </a:solidFill>
                <a:latin typeface="Menlo"/>
                <a:ea typeface="Menlo"/>
                <a:cs typeface="Menlo"/>
              </a:rPr>
              <a:t>Set-Location "$env:USERPROFILE"</a:t>
            </a:r>
          </a:p>
        </p:txBody>
      </p:sp>
      <p:sp>
        <p:nvSpPr>
          <p:cNvPr id="12" name="content-4">
            <a:extLst xmlns:a="http://schemas.openxmlformats.org/drawingml/2006/main">
              <a:ext uri="{FF2B5EF4-FFF2-40B4-BE49-F238E27FC236}">
                <a16:creationId xmlns:a16="http://schemas.microsoft.com/office/drawing/2014/main" id="{AFD1D581-9EFA-4259-8B8A-6B950D3F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>
                <a:solidFill>
                  <a:srgbClr val="B7EDDB"/>
                </a:solidFill>
                <a:latin typeface="Menlo"/>
                <a:ea typeface="Menlo"/>
                <a:cs typeface="Menlo"/>
              </a:rPr>
              <a:t>New-Item -ItemType Directory -Force .ssh</a:t>
            </a:r>
          </a:p>
        </p:txBody>
      </p:sp>
      <p:sp>
        <p:nvSpPr>
          <p:cNvPr id="13" name="content-5">
            <a:extLst xmlns:a="http://schemas.openxmlformats.org/drawingml/2006/main">
              <a:ext uri="{FF2B5EF4-FFF2-40B4-BE49-F238E27FC236}">
                <a16:creationId xmlns:a16="http://schemas.microsoft.com/office/drawing/2014/main" id="{CAC085F3-2F9D-475B-A8C6-5BA6296D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>
                <a:solidFill>
                  <a:srgbClr val="B7EDDB"/>
                </a:solidFill>
                <a:latin typeface="Menlo"/>
                <a:ea typeface="Menlo"/>
                <a:cs typeface="Menlo"/>
              </a:rPr>
              <a:t>Move-Item .\Downloads\id_ed25519 .\.ssh\</a:t>
            </a:r>
          </a:p>
        </p:txBody>
      </p:sp>
      <p:sp>
        <p:nvSpPr>
          <p:cNvPr id="14" name="content-6">
            <a:extLst xmlns:a="http://schemas.openxmlformats.org/drawingml/2006/main">
              <a:ext uri="{FF2B5EF4-FFF2-40B4-BE49-F238E27FC236}">
                <a16:creationId xmlns:a16="http://schemas.microsoft.com/office/drawing/2014/main" id="{1012A7A3-5798-4B99-AC02-992A05BC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>
                <a:solidFill>
                  <a:srgbClr val="B7EDDB"/>
                </a:solidFill>
                <a:latin typeface="Menlo"/>
                <a:ea typeface="Menlo"/>
                <a:cs typeface="Menlo"/>
              </a:rPr>
              <a:t>Move-Item .\Downloads\id_ed25519-cert.pub .\.ssh\</a:t>
            </a:r>
          </a:p>
        </p:txBody>
      </p:sp>
      <p:sp>
        <p:nvSpPr>
          <p:cNvPr id="15" name="content-7">
            <a:extLst xmlns:a="http://schemas.openxmlformats.org/drawingml/2006/main">
              <a:ext uri="{FF2B5EF4-FFF2-40B4-BE49-F238E27FC236}">
                <a16:creationId xmlns:a16="http://schemas.microsoft.com/office/drawing/2014/main" id="{BF0CB122-FEF4-46C1-9CDB-56ABD55A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完成后，私钥和证书位于 C:/Users/你的用户名/.ssh/</a:t>
            </a:r>
          </a:p>
        </p:txBody>
      </p:sp>
      <p:sp>
        <p:nvSpPr>
          <p:cNvPr id="16" name="content-8">
            <a:extLst xmlns:a="http://schemas.openxmlformats.org/drawingml/2006/main">
              <a:ext uri="{FF2B5EF4-FFF2-40B4-BE49-F238E27FC236}">
                <a16:creationId xmlns:a16="http://schemas.microsoft.com/office/drawing/2014/main" id="{7DD802BF-3496-44BA-AF75-EFD81802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按实际文件名和下载路径替换。移动报同名冲突时先核对，保留已有文件。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免密登录的 SSH config 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10" name="content-2">
            <a:extLst xmlns:a="http://schemas.openxmlformats.org/drawingml/2006/main">
              <a:ext uri="{FF2B5EF4-FFF2-40B4-BE49-F238E27FC236}">
                <a16:creationId xmlns:a16="http://schemas.microsoft.com/office/drawing/2014/main" id="{6A414BE7-06C2-45D8-947D-869D7AB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两个文件移入 .ssh 后，编辑自己电脑上的 SSH config</a:t>
            </a:r>
          </a:p>
        </p:txBody>
      </p:sp>
      <p:sp>
        <p:nvSpPr>
          <p:cNvPr id="11" name="content-3">
            <a:extLst xmlns:a="http://schemas.openxmlformats.org/drawingml/2006/main">
              <a:ext uri="{FF2B5EF4-FFF2-40B4-BE49-F238E27FC236}">
                <a16:creationId xmlns:a16="http://schemas.microsoft.com/office/drawing/2014/main" id="{BC5C7C3C-7A72-4554-8648-E5BB3C89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在 jiaowosuan 和 jiaowosuan-data 的 Host 段内分别追加：</a:t>
            </a:r>
          </a:p>
        </p:txBody>
      </p:sp>
      <p:sp>
        <p:nvSpPr>
          <p:cNvPr id="12" name="content-4">
            <a:extLst xmlns:a="http://schemas.openxmlformats.org/drawingml/2006/main">
              <a:ext uri="{FF2B5EF4-FFF2-40B4-BE49-F238E27FC236}">
                <a16:creationId xmlns:a16="http://schemas.microsoft.com/office/drawing/2014/main" id="{9BDE3B06-5EFC-4F1F-8660-D903800F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IdentityFile ~/.ssh/id_ed25519</a:t>
            </a:r>
          </a:p>
        </p:txBody>
      </p:sp>
      <p:sp>
        <p:nvSpPr>
          <p:cNvPr id="13" name="content-5">
            <a:extLst xmlns:a="http://schemas.openxmlformats.org/drawingml/2006/main">
              <a:ext uri="{FF2B5EF4-FFF2-40B4-BE49-F238E27FC236}">
                <a16:creationId xmlns:a16="http://schemas.microsoft.com/office/drawing/2014/main" id="{39FD90ED-F0F7-4972-84C6-71CC5666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CertificateFile ~/.ssh/id_ed25519-cert.pub</a:t>
            </a:r>
          </a:p>
        </p:txBody>
      </p:sp>
      <p:sp>
        <p:nvSpPr>
          <p:cNvPr id="14" name="content-6">
            <a:extLst xmlns:a="http://schemas.openxmlformats.org/drawingml/2006/main">
              <a:ext uri="{FF2B5EF4-FFF2-40B4-BE49-F238E27FC236}">
                <a16:creationId xmlns:a16="http://schemas.microsoft.com/office/drawing/2014/main" id="{14C6ADBE-7C1E-481B-A3CE-C5CB3EE8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>
                <a:solidFill>
                  <a:srgbClr val="B7EDDB"/>
                </a:solidFill>
                <a:latin typeface="Menlo"/>
                <a:ea typeface="Menlo"/>
                <a:cs typeface="Menlo"/>
              </a:rPr>
              <a:t>    IdentitiesOnly yes</a:t>
            </a:r>
          </a:p>
        </p:txBody>
      </p:sp>
      <p:sp>
        <p:nvSpPr>
          <p:cNvPr id="15" name="content-7">
            <a:extLst xmlns:a="http://schemas.openxmlformats.org/drawingml/2006/main">
              <a:ext uri="{FF2B5EF4-FFF2-40B4-BE49-F238E27FC236}">
                <a16:creationId xmlns:a16="http://schemas.microsoft.com/office/drawing/2014/main" id="{F9A0683C-0BA2-4DFC-8A9C-21A2C75E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IdentityFile 指向私钥，CertificateFile 指向匹配的证书</a:t>
            </a:r>
          </a:p>
        </p:txBody>
      </p:sp>
      <p:sp>
        <p:nvSpPr>
          <p:cNvPr id="16" name="content-8">
            <a:extLst xmlns:a="http://schemas.openxmlformats.org/drawingml/2006/main">
              <a:ext uri="{FF2B5EF4-FFF2-40B4-BE49-F238E27FC236}">
                <a16:creationId xmlns:a16="http://schemas.microsoft.com/office/drawing/2014/main" id="{B7DBC82C-CCBC-4298-8729-ED208C58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341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IdentitiesOnly 避免额外尝试 ssh-agent 中的其他密钥</a:t>
            </a:r>
          </a:p>
        </p:txBody>
      </p:sp>
      <p:sp>
        <p:nvSpPr>
          <p:cNvPr id="17" name="content-9">
            <a:extLst xmlns:a="http://schemas.openxmlformats.org/drawingml/2006/main">
              <a:ext uri="{FF2B5EF4-FFF2-40B4-BE49-F238E27FC236}">
                <a16:creationId xmlns:a16="http://schemas.microsoft.com/office/drawing/2014/main" id="{CB0ADB5B-8BD3-4172-AB9B-CB65941A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保留原有 HostName 和 User，使用实际文件名。Windows 的 config 同样可用 ~/.ssh/ 路径。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日常登录与可选验证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10" name="content-2">
            <a:extLst xmlns:a="http://schemas.openxmlformats.org/drawingml/2006/main">
              <a:ext uri="{FF2B5EF4-FFF2-40B4-BE49-F238E27FC236}">
                <a16:creationId xmlns:a16="http://schemas.microsoft.com/office/drawing/2014/main" id="{0DEEA27B-BDCA-439A-8577-5F67A996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配置完成后，在本地终端直接登录</a:t>
            </a:r>
          </a:p>
        </p:txBody>
      </p:sp>
      <p:sp>
        <p:nvSpPr>
          <p:cNvPr id="11" name="content-3">
            <a:extLst xmlns:a="http://schemas.openxmlformats.org/drawingml/2006/main">
              <a:ext uri="{FF2B5EF4-FFF2-40B4-BE49-F238E27FC236}">
                <a16:creationId xmlns:a16="http://schemas.microsoft.com/office/drawing/2014/main" id="{6E919AFB-A4D5-4F3C-8854-50728763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3225">
                <a:solidFill>
                  <a:srgbClr val="B7EDDB"/>
                </a:solidFill>
                <a:latin typeface="Menlo"/>
                <a:ea typeface="Menlo"/>
                <a:cs typeface="Menlo"/>
              </a:rPr>
              <a:t>ssh jiaowosuan</a:t>
            </a:r>
          </a:p>
        </p:txBody>
      </p:sp>
      <p:sp>
        <p:nvSpPr>
          <p:cNvPr id="12" name="content-4">
            <a:extLst xmlns:a="http://schemas.openxmlformats.org/drawingml/2006/main">
              <a:ext uri="{FF2B5EF4-FFF2-40B4-BE49-F238E27FC236}">
                <a16:creationId xmlns:a16="http://schemas.microsoft.com/office/drawing/2014/main" id="{24387E3A-46AF-48B4-8BF5-6E2C7975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VS Code 也选择同一别名。私钥若设有 passphrase，仍需解锁</a:t>
            </a:r>
          </a:p>
        </p:txBody>
      </p:sp>
      <p:sp>
        <p:nvSpPr>
          <p:cNvPr id="13" name="content-5">
            <a:extLst xmlns:a="http://schemas.openxmlformats.org/drawingml/2006/main">
              <a:ext uri="{FF2B5EF4-FFF2-40B4-BE49-F238E27FC236}">
                <a16:creationId xmlns:a16="http://schemas.microsoft.com/office/drawing/2014/main" id="{89767EFE-2518-401C-85B1-AB14C6D4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可选：仅测试证书认证，避免回退到账号密码</a:t>
            </a:r>
          </a:p>
        </p:txBody>
      </p:sp>
      <p:sp>
        <p:nvSpPr>
          <p:cNvPr id="14" name="content-6">
            <a:extLst xmlns:a="http://schemas.openxmlformats.org/drawingml/2006/main">
              <a:ext uri="{FF2B5EF4-FFF2-40B4-BE49-F238E27FC236}">
                <a16:creationId xmlns:a16="http://schemas.microsoft.com/office/drawing/2014/main" id="{08CB2A09-519C-487E-8775-28CD67D7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>
                <a:solidFill>
                  <a:srgbClr val="B7EDDB"/>
                </a:solidFill>
                <a:latin typeface="Menlo"/>
                <a:ea typeface="Menlo"/>
                <a:cs typeface="Menlo"/>
              </a:rPr>
              <a:t>ssh -o PreferredAuthentications=publickey jiaowosuan</a:t>
            </a:r>
          </a:p>
        </p:txBody>
      </p:sp>
      <p:sp>
        <p:nvSpPr>
          <p:cNvPr id="15" name="content-7">
            <a:extLst xmlns:a="http://schemas.openxmlformats.org/drawingml/2006/main">
              <a:ext uri="{FF2B5EF4-FFF2-40B4-BE49-F238E27FC236}">
                <a16:creationId xmlns:a16="http://schemas.microsoft.com/office/drawing/2014/main" id="{955677D6-184E-41AF-93B9-9AFA31C2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-o 临时传入选项，只影响本次连接，日常登录无需添加</a:t>
            </a:r>
          </a:p>
        </p:txBody>
      </p:sp>
      <p:sp>
        <p:nvSpPr>
          <p:cNvPr id="16" name="content-8">
            <a:extLst xmlns:a="http://schemas.openxmlformats.org/drawingml/2006/main">
              <a:ext uri="{FF2B5EF4-FFF2-40B4-BE49-F238E27FC236}">
                <a16:creationId xmlns:a16="http://schemas.microsoft.com/office/drawing/2014/main" id="{CD599FE5-5D8A-455F-BC9B-DD4A2D02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2937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证书过期后重新申请，更新本地证书文件并再次登录</a:t>
            </a:r>
          </a:p>
        </p:txBody>
      </p:sp>
      <p:sp>
        <p:nvSpPr>
          <p:cNvPr id="17" name="content-9">
            <a:extLst xmlns:a="http://schemas.openxmlformats.org/drawingml/2006/main">
              <a:ext uri="{FF2B5EF4-FFF2-40B4-BE49-F238E27FC236}">
                <a16:creationId xmlns:a16="http://schemas.microsoft.com/office/drawing/2014/main" id="{1E708BCC-609F-4176-BE5E-F537EA33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若普通登录仍要求账号密码，检查路径、账号和证书有效期。教学账号仍需校内网络登录。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VS Code 连接与编辑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10" name="content-2">
            <a:extLst xmlns:a="http://schemas.openxmlformats.org/drawingml/2006/main">
              <a:ext uri="{FF2B5EF4-FFF2-40B4-BE49-F238E27FC236}">
                <a16:creationId xmlns:a16="http://schemas.microsoft.com/office/drawing/2014/main" id="{609A6770-9ABC-4A99-908D-A58F5C35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1  在本地安装 Microsoft Remote - SSH 扩展</a:t>
            </a:r>
          </a:p>
        </p:txBody>
      </p:sp>
      <p:sp>
        <p:nvSpPr>
          <p:cNvPr id="11" name="content-3">
            <a:extLst xmlns:a="http://schemas.openxmlformats.org/drawingml/2006/main">
              <a:ext uri="{FF2B5EF4-FFF2-40B4-BE49-F238E27FC236}">
                <a16:creationId xmlns:a16="http://schemas.microsoft.com/office/drawing/2014/main" id="{F6AC5F6B-C396-4397-AC0E-98B406E1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2  按 F1，搜索 Remote-SSH: Connect to Host...</a:t>
            </a:r>
          </a:p>
        </p:txBody>
      </p:sp>
      <p:sp>
        <p:nvSpPr>
          <p:cNvPr id="12" name="content-4">
            <a:extLst xmlns:a="http://schemas.openxmlformats.org/drawingml/2006/main">
              <a:ext uri="{FF2B5EF4-FFF2-40B4-BE49-F238E27FC236}">
                <a16:creationId xmlns:a16="http://schemas.microsoft.com/office/drawing/2014/main" id="{5EA8E908-6F4A-451C-99F3-EAD1E96F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3  选择 jiaowosuan，远端系统选择 Linux，完成认证</a:t>
            </a:r>
          </a:p>
        </p:txBody>
      </p:sp>
      <p:sp>
        <p:nvSpPr>
          <p:cNvPr id="13" name="content-5">
            <a:extLst xmlns:a="http://schemas.openxmlformats.org/drawingml/2006/main">
              <a:ext uri="{FF2B5EF4-FFF2-40B4-BE49-F238E27FC236}">
                <a16:creationId xmlns:a16="http://schemas.microsoft.com/office/drawing/2014/main" id="{E4B232E0-1C31-447C-9365-51793F34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2025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4  打开远端 ~/course-labs，确认左下角的 SSH 主机名</a:t>
            </a:r>
          </a:p>
        </p:txBody>
      </p:sp>
      <p:sp>
        <p:nvSpPr>
          <p:cNvPr id="14" name="content-6">
            <a:extLst xmlns:a="http://schemas.openxmlformats.org/drawingml/2006/main">
              <a:ext uri="{FF2B5EF4-FFF2-40B4-BE49-F238E27FC236}">
                <a16:creationId xmlns:a16="http://schemas.microsoft.com/office/drawing/2014/main" id="{E3C73381-BF7D-462B-A43C-BB822C08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5  保存源码后，在集成终端先申请计算资源，再编译</a:t>
            </a:r>
          </a:p>
        </p:txBody>
      </p:sp>
      <p:sp>
        <p:nvSpPr>
          <p:cNvPr id="15" name="content-7">
            <a:extLst xmlns:a="http://schemas.openxmlformats.org/drawingml/2006/main">
              <a:ext uri="{FF2B5EF4-FFF2-40B4-BE49-F238E27FC236}">
                <a16:creationId xmlns:a16="http://schemas.microsoft.com/office/drawing/2014/main" id="{7BF07F11-E49B-460E-98AA-7ECD07BD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使用期间保持一个普通 ssh jiaowosuan 会话打开，满足平台的活跃会话要求。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VS Code 首次连接与排错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10" name="content-2">
            <a:extLst xmlns:a="http://schemas.openxmlformats.org/drawingml/2006/main">
              <a:ext uri="{FF2B5EF4-FFF2-40B4-BE49-F238E27FC236}">
                <a16:creationId xmlns:a16="http://schemas.microsoft.com/office/drawing/2014/main" id="{5CCE61FE-A847-416B-9481-60FAAB30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连接卡住时，查看“输出”中的 Remote - SSH 日志</a:t>
            </a:r>
          </a:p>
        </p:txBody>
      </p:sp>
      <p:sp>
        <p:nvSpPr>
          <p:cNvPr id="11" name="content-3">
            <a:extLst xmlns:a="http://schemas.openxmlformats.org/drawingml/2006/main">
              <a:ext uri="{FF2B5EF4-FFF2-40B4-BE49-F238E27FC236}">
                <a16:creationId xmlns:a16="http://schemas.microsoft.com/office/drawing/2014/main" id="{C137CDE4-D6A2-49AC-BC00-0A189740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可在本地“用户设置(JSON)”中合并以下字段</a:t>
            </a:r>
          </a:p>
        </p:txBody>
      </p:sp>
      <p:sp>
        <p:nvSpPr>
          <p:cNvPr id="12" name="content-4">
            <a:extLst xmlns:a="http://schemas.openxmlformats.org/drawingml/2006/main">
              <a:ext uri="{FF2B5EF4-FFF2-40B4-BE49-F238E27FC236}">
                <a16:creationId xmlns:a16="http://schemas.microsoft.com/office/drawing/2014/main" id="{8B010679-3E7B-438D-B6F0-6C7495E2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13" name="content-5">
            <a:extLst xmlns:a="http://schemas.openxmlformats.org/drawingml/2006/main">
              <a:ext uri="{FF2B5EF4-FFF2-40B4-BE49-F238E27FC236}">
                <a16:creationId xmlns:a16="http://schemas.microsoft.com/office/drawing/2014/main" id="{E5703089-D1CE-4E4B-B6D2-9455DFE5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"remote.SSH.showLoginTerminal": true,</a:t>
            </a:r>
          </a:p>
        </p:txBody>
      </p:sp>
      <p:sp>
        <p:nvSpPr>
          <p:cNvPr id="14" name="content-6">
            <a:extLst xmlns:a="http://schemas.openxmlformats.org/drawingml/2006/main">
              <a:ext uri="{FF2B5EF4-FFF2-40B4-BE49-F238E27FC236}">
                <a16:creationId xmlns:a16="http://schemas.microsoft.com/office/drawing/2014/main" id="{EAFF8F4D-C17D-436D-AEEA-5FBF852D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"remote.SSH.localServerDownload": "always"</a:t>
            </a:r>
          </a:p>
        </p:txBody>
      </p:sp>
      <p:sp>
        <p:nvSpPr>
          <p:cNvPr id="15" name="content-7">
            <a:extLst xmlns:a="http://schemas.openxmlformats.org/drawingml/2006/main">
              <a:ext uri="{FF2B5EF4-FFF2-40B4-BE49-F238E27FC236}">
                <a16:creationId xmlns:a16="http://schemas.microsoft.com/office/drawing/2014/main" id="{4824C8D1-448A-4D18-A24C-4E4879B7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6" name="content-8">
            <a:extLst xmlns:a="http://schemas.openxmlformats.org/drawingml/2006/main">
              <a:ext uri="{FF2B5EF4-FFF2-40B4-BE49-F238E27FC236}">
                <a16:creationId xmlns:a16="http://schemas.microsoft.com/office/drawing/2014/main" id="{4F7B3432-35A0-40A7-A3D6-D83F099A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3887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显示登录提示；远端下载失败时，由本地下载 Server 再传入</a:t>
            </a:r>
          </a:p>
        </p:txBody>
      </p:sp>
      <p:sp>
        <p:nvSpPr>
          <p:cNvPr id="17" name="content-9">
            <a:extLst xmlns:a="http://schemas.openxmlformats.org/drawingml/2006/main">
              <a:ext uri="{FF2B5EF4-FFF2-40B4-BE49-F238E27FC236}">
                <a16:creationId xmlns:a16="http://schemas.microsoft.com/office/drawing/2014/main" id="{8D169129-2695-4378-85CA-25A48C8A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本地需要能访问微软下载服务。SSH config 与 VS Code 用户设置均独立于仓库。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D8CD2-C378-452E-BD65-A32051B5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从云盘获取并上传源码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5AA1C-7538-452B-A075-B36D60CD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14" name="content-2">
            <a:extLst xmlns:a="http://schemas.openxmlformats.org/drawingml/2006/main">
              <a:ext uri="{FF2B5EF4-FFF2-40B4-BE49-F238E27FC236}">
                <a16:creationId xmlns:a16="http://schemas.microsoft.com/office/drawing/2014/main" id="{3CD37B2F-FD3B-43C0-AF11-E2F282B2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浏览器下载教师发布的学生包，解压后将根目录命名为 course-labs</a:t>
            </a:r>
          </a:p>
        </p:txBody>
      </p:sp>
      <p:sp>
        <p:nvSpPr>
          <p:cNvPr id="15" name="content-3">
            <a:extLst xmlns:a="http://schemas.openxmlformats.org/drawingml/2006/main">
              <a:ext uri="{FF2B5EF4-FFF2-40B4-BE49-F238E27FC236}">
                <a16:creationId xmlns:a16="http://schemas.microsoft.com/office/drawing/2014/main" id="{D62A69DB-A711-41DD-99E3-FB2F155C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本地终端：在 course-labs 的上一级目录执行</a:t>
            </a:r>
          </a:p>
        </p:txBody>
      </p:sp>
      <p:sp>
        <p:nvSpPr>
          <p:cNvPr id="16" name="content-4">
            <a:extLst xmlns:a="http://schemas.openxmlformats.org/drawingml/2006/main">
              <a:ext uri="{FF2B5EF4-FFF2-40B4-BE49-F238E27FC236}">
                <a16:creationId xmlns:a16="http://schemas.microsoft.com/office/drawing/2014/main" id="{0D69CE6B-B379-4948-A86D-27F98550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5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scp -r ./course-labs jiaowosuan-data:</a:t>
            </a:r>
          </a:p>
        </p:txBody>
      </p:sp>
      <p:sp>
        <p:nvSpPr>
          <p:cNvPr id="17" name="content-5">
            <a:extLst xmlns:a="http://schemas.openxmlformats.org/drawingml/2006/main">
              <a:ext uri="{FF2B5EF4-FFF2-40B4-BE49-F238E27FC236}">
                <a16:creationId xmlns:a16="http://schemas.microsoft.com/office/drawing/2014/main" id="{EAA7F502-16FD-4D2E-8D0C-602787B1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5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ssh jiaowosuan</a:t>
            </a:r>
          </a:p>
        </p:txBody>
      </p:sp>
      <p:sp>
        <p:nvSpPr>
          <p:cNvPr id="18" name="content-6">
            <a:extLst xmlns:a="http://schemas.openxmlformats.org/drawingml/2006/main">
              <a:ext uri="{FF2B5EF4-FFF2-40B4-BE49-F238E27FC236}">
                <a16:creationId xmlns:a16="http://schemas.microsoft.com/office/drawing/2014/main" id="{1A2AD3A8-95AB-4F39-8AE6-9E8ECE9C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5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cd ~/course-labs</a:t>
            </a:r>
          </a:p>
        </p:txBody>
      </p:sp>
      <p:sp>
        <p:nvSpPr>
          <p:cNvPr id="19" name="content-7">
            <a:extLst xmlns:a="http://schemas.openxmlformats.org/drawingml/2006/main">
              <a:ext uri="{FF2B5EF4-FFF2-40B4-BE49-F238E27FC236}">
                <a16:creationId xmlns:a16="http://schemas.microsoft.com/office/drawing/2014/main" id="{E3011C2E-F30F-4713-A05E-1E742796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5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ls labs</a:t>
            </a:r>
          </a:p>
        </p:txBody>
      </p:sp>
      <p:sp>
        <p:nvSpPr>
          <p:cNvPr id="20" name="content-8">
            <a:extLst xmlns:a="http://schemas.openxmlformats.org/drawingml/2006/main">
              <a:ext uri="{FF2B5EF4-FFF2-40B4-BE49-F238E27FC236}">
                <a16:creationId xmlns:a16="http://schemas.microsoft.com/office/drawing/2014/main" id="{17AB631B-C4A0-4DD9-BAB1-9AF59624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后续更新先保存远端修改，再合并新版本。分享页面下载到本地后，通过数据节点上传。</a:t>
            </a:r>
          </a:p>
        </p:txBody>
      </p:sp>
    </p:spTree>
    <p:extLst>
      <p:ext uri="{BB962C8B-B14F-4D97-AF65-F5344CB8AC3E}">
        <p14:creationId xmlns:p14="http://schemas.microsoft.com/office/powerpoint/2010/main" val="15234254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E6EC2-21DA-414B-AF6E-2782ACA9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申请一个计算核心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9D959-7B71-430B-BCF8-02A54041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5EA2E-692B-4837-A4E3-AE2A6777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3430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cd ~/course-labs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88F77-E9A0-4DE3-8BCB-D7878E65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13430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srun -p cpu -N 1 -n 1 -c 1 -t 00:20:00 \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A2566-3C56-4F19-AC4C-D066E5A3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3430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--cpu-bind=cores --pty /bin/bash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9D7A4-D17D-4381-A1E8-8356CADB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3430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F30DC-12EB-4A76-8418-ECAEF0FF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3430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hostname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BFAE1-8FB9-4E50-AB14-10F440F2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3430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gcc --version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14224-07BF-41F8-BB55-F196F21F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3430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cmake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040BB-3DB9-464D-8B2B-57338843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91375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rPr>
              <a:t>分配后仅当前终端进入计算节点；新终端先核对 hostname。结束时输入 exit。</a:t>
            </a:r>
          </a:p>
        </p:txBody>
      </p:sp>
    </p:spTree>
    <p:extLst>
      <p:ext uri="{BB962C8B-B14F-4D97-AF65-F5344CB8AC3E}">
        <p14:creationId xmlns:p14="http://schemas.microsoft.com/office/powerpoint/2010/main" val="17451656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724B1-87ED-4A13-A3F4-C120F475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Lab 1：DataLab 编译与检查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D2784-7D4D-4795-BB5B-E9DE9E97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A82E2-1865-4C13-A72E-A27ED55F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cd ~/course-labs/labs/lab1-datalab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C415D-F64F-4EC7-8ADD-7D1D870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make -j1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4F5BE-F2EA-406A-9983-2D488C20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make selftest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5022B-5E9F-4D7C-A317-95331801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9E490-3A2D-4E07-9F9F-804C507D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./btest -f bitCount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F4072-5926-4F7D-858E-C3481C0D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make grade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58353-C40A-402E-A3AD-835C7F76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./dlc bits.c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B5A37-8EFE-4F06-9CAA-F6BE900D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91375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rPr>
              <a:t>先填写 bits.c 的姓名和学号。btest 查正确性，dlc 只检查其支持的编码规则。</a:t>
            </a:r>
          </a:p>
        </p:txBody>
      </p:sp>
    </p:spTree>
    <p:extLst>
      <p:ext uri="{BB962C8B-B14F-4D97-AF65-F5344CB8AC3E}">
        <p14:creationId xmlns:p14="http://schemas.microsoft.com/office/powerpoint/2010/main" val="16342025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0FD5F-39E6-4985-8D14-D992FD4B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Lab 2：MatrixLab 编译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26C0E-36C8-4374-80D8-2A76944B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0AA8B-605E-4FE7-8EC3-747760A6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3430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cd ~/course-labs/labs/lab2-matrix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6CC0D-CE18-42EC-9EDB-A80FDC3D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3430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cmake -S . -B build-pi2 -DBUILD_TESTING=ON \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ADF46-5637-4F54-BFD9-82250329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3430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-DLAB_USE_SYSTEM_BLAS=OFF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D0A58-7B73-4327-8EE1-872F113C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4775"/>
            <a:ext cx="13430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cmake --build build-pi2 --parallel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9C4AC-744B-4A47-9E8A-CC90853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3430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(cd build-pi2 &amp;&amp; ctest --output-on-failure)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CC32C-8FA1-4F4C-AA00-324DCAE3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框架已提供参考 BLAS，无需安装额外数学库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1D08D-8C62-42CB-91B9-795597BA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rPr>
              <a:t>ctest 检查框架和参考 BLAS；学生矩阵乘法还需运行下一页的测试。</a:t>
            </a:r>
          </a:p>
        </p:txBody>
      </p:sp>
    </p:spTree>
    <p:extLst>
      <p:ext uri="{BB962C8B-B14F-4D97-AF65-F5344CB8AC3E}">
        <p14:creationId xmlns:p14="http://schemas.microsoft.com/office/powerpoint/2010/main" val="213918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6E408-4221-4D15-90EE-41ABC832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Lab 2：小矩阵正确性验证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BF6B0-2386-463E-A36F-5588CDE8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81390-D8EC-4DC0-A2B7-56D86E45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./build-pi2/reg_reuse 6 12 24 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8FD51-6D86-40D4-BC67-21248FC3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./build-pi2/cache_part3 48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B5E1A-9B26-48C1-A6C2-6EC8F586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E8D44-1B67-48CF-AC6F-586F4509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for opt in 0 1 2 3; 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6BAEB-7FCD-48A9-89BD-1CD453FB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./build-pi2/cache_part4_o${opt} 48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B5CB8-A74C-457D-96B6-CA02FC1D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done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59BCD-31A0-4D9A-B974-036865B6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29350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出现 INVALID 时，先检查对应函数的数值结果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17ACE-DEF7-4E92-BDD2-A8BE10E6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24725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rPr>
              <a:t>小规模全部通过后，再提交较长的性能实验。</a:t>
            </a:r>
          </a:p>
        </p:txBody>
      </p:sp>
    </p:spTree>
    <p:extLst>
      <p:ext uri="{BB962C8B-B14F-4D97-AF65-F5344CB8AC3E}">
        <p14:creationId xmlns:p14="http://schemas.microsoft.com/office/powerpoint/2010/main" val="10689399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D6441-C350-47FB-B161-F73F2510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批处理作业的资源参数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B9B74-C802-425C-8CCC-F267D57F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76300" y="1905000"/>
          <a:ext xmlns:a="http://schemas.openxmlformats.org/drawingml/2006/main" cx="13335000" cy="491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9625"/>
                <a:gridCol w="3143250"/>
                <a:gridCol w="5572125"/>
              </a:tblGrid>
              <a:tr h="819150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参数</a:t>
                      </a:r>
                    </a:p>
                  </a:txBody>
                  <a:tcPr marL="91440" marR="91440" marT="45720" marB="45720" anchor="ctr">
                    <a:solidFill>
                      <a:srgbClr val="167A70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本教程取值</a:t>
                      </a:r>
                    </a:p>
                  </a:txBody>
                  <a:tcPr marL="91440" marR="91440" marT="45720" marB="45720" anchor="ctr">
                    <a:solidFill>
                      <a:srgbClr val="167A70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solidFill>
                      <a:srgbClr val="167A70"/>
                    </a:solidFill>
                  </a:tcPr>
                </a:tc>
              </a:tr>
              <a:tr h="819150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-p / --partition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cpu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明确指定 π 2.0 CPU 队列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-N / --nodes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一个计算节点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</a:tr>
              <a:tr h="819150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-n / --ntasks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一个进程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-c / --cpus-per-task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分配一个 CPU 核心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</a:tr>
              <a:tr h="819150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-t / --time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00:20:00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小规模检查最多运行 20 分钟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8EA9F-FB44-43A8-A20C-972A36D3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rPr>
              <a:t>当前 lab 使用串行 CPU 程序。正式实验按实测耗时调整时限。</a:t>
            </a:r>
          </a:p>
        </p:txBody>
      </p:sp>
    </p:spTree>
    <p:extLst>
      <p:ext uri="{BB962C8B-B14F-4D97-AF65-F5344CB8AC3E}">
        <p14:creationId xmlns:p14="http://schemas.microsoft.com/office/powerpoint/2010/main" val="11561446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5D593-FF83-4A87-9AE7-3DD0D962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Lab 1 批处理脚本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53FC4-AC56-4EDD-BAC4-B45B5083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5D150-0668-459C-AE77-9AA1DBA1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85925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保存为仓库根目录下的 lab1.slurm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EA266-7F1B-4DFB-BE5D-D5EC42B5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1343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#!/bin/bash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A557F-CAA0-4F6E-A37E-F1C4E566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1343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#SBATCH -J datalab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8FDD5-37A7-4110-93C9-5D6C6023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1343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#SBATCH -p cpu -N 1 -n 1 -c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816B4-D237-403A-9060-CC9E513F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775"/>
            <a:ext cx="1343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#SBATCH -t 00:20:00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8A46E-7125-4647-92A9-656F30ED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3825"/>
            <a:ext cx="1343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#SBATCH -o results/lab1-%j.log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BD5BF-2939-4B86-91DB-5BE1B0DE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1343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FEF14-2324-4424-969E-E7D80BDA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1343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set -euo pipefail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9E6C6-F290-4907-B336-5757222C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1343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cd "$SLURM_SUBMIT_DIR"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B1DE3-20D9-43EE-BC91-86166748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4025"/>
            <a:ext cx="1343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make -C labs/lab1-datalab -j1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D62B4-888E-4A06-9749-BB11FC87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34075"/>
            <a:ext cx="1343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make -C labs/lab1-datalab selftest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9E713-9AE5-47A9-B3C0-0209ECA2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34125"/>
            <a:ext cx="1343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make -C labs/lab1-datalab grade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9A94C-64E1-4003-BB13-C7880B40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62825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rPr>
              <a:t>每次作业使用单独的日志文件；姓名学号或答案未完成时，grade 可能失败。</a:t>
            </a:r>
          </a:p>
        </p:txBody>
      </p:sp>
    </p:spTree>
    <p:extLst>
      <p:ext uri="{BB962C8B-B14F-4D97-AF65-F5344CB8AC3E}">
        <p14:creationId xmlns:p14="http://schemas.microsoft.com/office/powerpoint/2010/main" val="21064123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64C19-1774-4F49-B25C-5CC322A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Lab 2 批处理脚本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F88A7-F97A-40C0-9E0D-FC882091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C0FF3-0558-4BEB-ACE6-ED7FF2F1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保存为 lab2.slurm；左列接右列，完整版本见配套文字讲义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0B188-256B-4888-AA3F-FC71A3AE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#!/bin/bash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A1864-9B0E-4933-88B2-3F76904E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#SBATCH -J matrixlab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376D3-336F-429A-B0A1-C7236512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#SBATCH -p cpu -N 1 -n 1 -c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067CF-98EB-4287-B58B-7D542029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#SBATCH -t 00:20:00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E48A0-16A2-4440-BDD7-284C309D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957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#SBATCH -o results/lab2-%j.log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2565C-9C12-43F5-BA3D-D685A95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75A1D-A4C5-44FC-A3DF-ABD2C329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set -euo pipefail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AF85C-4C1B-4DE4-92BD-D1D23204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cd "$SLURM_SUBMIT_DIR"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5A968-CF4F-4790-B9C8-D54FE8BC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864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B="build/pi2-lab2-$SLURM_JOB_ID"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58B7D-F7EE-49B1-BA07-C07742C5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505075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cmake -S labs/lab2-matrix -B "$B" \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483B2-D9A9-416A-BBD2-3671822F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95275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-DBUILD_TESTING=ON \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E9BA5-C49E-4D19-881C-D096A9A3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400425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-DLAB_USE_SYSTEM_BLAS=OFF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62359-7DF1-4B72-BDC9-1477374A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84810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cmake --build "$B" --parallel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72A91-9F87-41A5-814E-709C0364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295775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(cd "$B" &amp;&amp; ctest --output-on-failure)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30D09-EADC-4F82-9C2F-DC571E63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4345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srun --cpu-bind=cores "$B/reg_reuse" 6 12 24 48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FDEFA-74FD-4B2D-A80C-D976BED8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191125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srun --cpu-bind=cores "$B/cache_part3" 48 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726F1-DC39-4394-B788-A38D4B6A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3880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for opt in 0 1 2 3; 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C360F-FDC1-4892-A83F-C628121A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086475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srun --cpu-bind=cores "$B/cache_part4_o$opt" 48 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FF2F7-9ED1-4B7C-A654-4EEA7CAB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53415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done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76CDA-94D2-4EC6-870F-E0C79974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67600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rPr>
              <a:t>先 mkdir -p results，再从仓库根目录执行 sbatch lab2.slurm。</a:t>
            </a:r>
          </a:p>
        </p:txBody>
      </p:sp>
    </p:spTree>
    <p:extLst>
      <p:ext uri="{BB962C8B-B14F-4D97-AF65-F5344CB8AC3E}">
        <p14:creationId xmlns:p14="http://schemas.microsoft.com/office/powerpoint/2010/main" val="9385464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57A87-6BCA-4769-9841-3CE59A0E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性能实验：规模与测量条件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CA58D-2761-4BD3-A521-597D915A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53918-C4D3-49B8-B2E8-B5DCB7FF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正式规模以课程统一题面为准，并满足实现的整除条件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11224-D9B4-471D-A5E4-7DF58C99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同一组比较保持 CPU 型号、编译器、矩阵规模和块大小一致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906E6-C954-435C-8566-212CEC6B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串行运行各个版本，重复 3 次并记录中位数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B82A7-400F-4834-AF07-0AF09AE6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6275"/>
            <a:ext cx="13430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67A70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167A70"/>
                </a:solidFill>
                <a:latin typeface="Menlo"/>
                <a:ea typeface="Menlo"/>
                <a:cs typeface="Menlo"/>
              </a:rPr>
              <a:t>for rep in 1 2 3; 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AD37A-2FF2-48C2-A41C-D8025734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3430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67A70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167A70"/>
                </a:solidFill>
                <a:latin typeface="Menlo"/>
                <a:ea typeface="Menlo"/>
                <a:cs typeface="Menlo"/>
              </a:rPr>
              <a:t>  srun --cpu-bind=cores "$B/cache_part4_o3" 2040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9C3C0-3A64-4412-9206-0E1589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3430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67A70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167A70"/>
                </a:solidFill>
                <a:latin typeface="Menlo"/>
                <a:ea typeface="Menlo"/>
                <a:cs typeface="Menlo"/>
              </a:rPr>
              <a:t>done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06BA5-E0D2-4479-9693-4C6C09F4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53225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rPr>
              <a:t>上例添加到 Lab 2 作业脚本末尾。扩大规模时同步增加作业时限。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0E704-0090-4552-8B1D-56CCAB2D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96150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rPr>
              <a:t>正式记录还应包含主机名、CPU 型号、编译选项和正确性状态。</a:t>
            </a:r>
          </a:p>
        </p:txBody>
      </p:sp>
    </p:spTree>
    <p:extLst>
      <p:ext uri="{BB962C8B-B14F-4D97-AF65-F5344CB8AC3E}">
        <p14:creationId xmlns:p14="http://schemas.microsoft.com/office/powerpoint/2010/main" val="9968173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394CC-8575-4464-AFFB-B6076536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提交、排队与查看结果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8A11F-D6F6-48EE-ADBB-EDFD897B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9CC70-AE56-4592-A003-4568EB08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33575"/>
            <a:ext cx="1343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cd ~/course-labs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F1CBD-B84F-49C4-8470-7E62BD26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343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mkdir -p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0441D-2A63-4E32-AE12-9D90B1AF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1343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sbatch lab1.slurm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5BE3C-2016-4364-B632-4CB47B82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343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sbatch lab2.slurm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A74E6-1059-4592-A886-07DE475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1343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squeue -u "$USER"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C195E-CADB-4978-ADF6-AB906E52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343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0F2F9-C2D3-4E6E-BD74-17FCB90A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8225"/>
            <a:ext cx="1343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tail -f results/lab2-123456.log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AF41C-1C31-41F9-8CAF-A7DD965E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1343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sacct -j 123456 --format=JobID,State,ExitCode,Elapsed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932E0-745F-4F79-9C99-BBD79304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00900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rPr>
              <a:t>PD 表示排队，R 表示运行。123456 需要替换成 sbatch 返回的作业编号。</a:t>
            </a:r>
          </a:p>
        </p:txBody>
      </p:sp>
    </p:spTree>
    <p:extLst>
      <p:ext uri="{BB962C8B-B14F-4D97-AF65-F5344CB8AC3E}">
        <p14:creationId xmlns:p14="http://schemas.microsoft.com/office/powerpoint/2010/main" val="322598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71AF5-F767-424E-8B08-4F54E40B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下载日志并结束实验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A767A-97FF-49CD-B2D8-DA59CD7A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8C3A1-15A0-463E-A9F1-91F48831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在本地终端下载结果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B2688-9120-4F84-BDED-4DEBCDF1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mkdir -p pi2-results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C9EFE-46D4-40F9-8F83-AE28ACE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76575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rsync -av \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8FED9-0F58-40C1-BCCD-F7CA88D0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jiaowosuan-data:course-labs/results/ \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569E8-5370-42D1-BD9E-28DE338D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1343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  ./pi2-results/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71CCE-BC83-4B44-BF3C-89AEEB7D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需要主动取消某个作业时，在登录节点执行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FE189-E016-49D2-AB17-3606BDA3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1343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75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scancel 123456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225F3-F43E-4509-88A0-2F468547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91400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4D9D5"/>
                </a:solidFill>
                <a:latin typeface="Hiragino Sans GB"/>
                <a:ea typeface="Hiragino Sans GB"/>
                <a:cs typeface="Hiragino Sans GB"/>
              </a:rPr>
              <a:t>关闭 SSH 后，sbatch 提交的作业仍会继续运行。交互作业结束时输入 exit。</a:t>
            </a:r>
          </a:p>
        </p:txBody>
      </p:sp>
    </p:spTree>
    <p:extLst>
      <p:ext uri="{BB962C8B-B14F-4D97-AF65-F5344CB8AC3E}">
        <p14:creationId xmlns:p14="http://schemas.microsoft.com/office/powerpoint/2010/main" val="14029792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下载最终源码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  <p:sp>
        <p:nvSpPr>
          <p:cNvPr id="10" name="content-2">
            <a:extLst xmlns:a="http://schemas.openxmlformats.org/drawingml/2006/main">
              <a:ext uri="{FF2B5EF4-FFF2-40B4-BE49-F238E27FC236}">
                <a16:creationId xmlns:a16="http://schemas.microsoft.com/office/drawing/2014/main" id="{4C733361-F679-4EC8-937A-B9E0A8CE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先保存远端源码并完成测试，再在本地终端下载最终版本</a:t>
            </a:r>
          </a:p>
        </p:txBody>
      </p:sp>
      <p:sp>
        <p:nvSpPr>
          <p:cNvPr id="11" name="content-3">
            <a:extLst xmlns:a="http://schemas.openxmlformats.org/drawingml/2006/main">
              <a:ext uri="{FF2B5EF4-FFF2-40B4-BE49-F238E27FC236}">
                <a16:creationId xmlns:a16="http://schemas.microsoft.com/office/drawing/2014/main" id="{D8064D9C-D658-402C-90B7-11932A8D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mkdir pi2-submission</a:t>
            </a:r>
          </a:p>
        </p:txBody>
      </p:sp>
      <p:sp>
        <p:nvSpPr>
          <p:cNvPr id="12" name="content-4">
            <a:extLst xmlns:a="http://schemas.openxmlformats.org/drawingml/2006/main">
              <a:ext uri="{FF2B5EF4-FFF2-40B4-BE49-F238E27FC236}">
                <a16:creationId xmlns:a16="http://schemas.microsoft.com/office/drawing/2014/main" id="{6F891123-724C-4FC4-BE1E-03DC67E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cd pi2-submission</a:t>
            </a:r>
          </a:p>
        </p:txBody>
      </p:sp>
      <p:sp>
        <p:nvSpPr>
          <p:cNvPr id="13" name="content-5">
            <a:extLst xmlns:a="http://schemas.openxmlformats.org/drawingml/2006/main">
              <a:ext uri="{FF2B5EF4-FFF2-40B4-BE49-F238E27FC236}">
                <a16:creationId xmlns:a16="http://schemas.microsoft.com/office/drawing/2014/main" id="{7F946EB0-9F8E-4AAB-AF5A-2FBA0EF7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scp jiaowosuan-data:course-labs/labs/lab1-datalab/bits.c ./</a:t>
            </a:r>
          </a:p>
        </p:txBody>
      </p:sp>
      <p:sp>
        <p:nvSpPr>
          <p:cNvPr id="14" name="content-6">
            <a:extLst xmlns:a="http://schemas.openxmlformats.org/drawingml/2006/main">
              <a:ext uri="{FF2B5EF4-FFF2-40B4-BE49-F238E27FC236}">
                <a16:creationId xmlns:a16="http://schemas.microsoft.com/office/drawing/2014/main" id="{1C427AC3-0DFE-4869-95C5-6DEE7966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B7EDDB"/>
                </a:solidFill>
                <a:latin typeface="Menlo"/>
                <a:ea typeface="Menlo"/>
                <a:cs typeface="Menlo"/>
              </a:rPr>
              <a:t>scp jiaowosuan-data:course-labs/labs/lab2-matrix/src/mygemm.c ./</a:t>
            </a:r>
          </a:p>
        </p:txBody>
      </p:sp>
      <p:sp>
        <p:nvSpPr>
          <p:cNvPr id="15" name="content-7">
            <a:extLst xmlns:a="http://schemas.openxmlformats.org/drawingml/2006/main">
              <a:ext uri="{FF2B5EF4-FFF2-40B4-BE49-F238E27FC236}">
                <a16:creationId xmlns:a16="http://schemas.microsoft.com/office/drawing/2014/main" id="{ECF3154C-1714-4F83-97C1-974A6B53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两条下载命令按当前 Lab 选择，分别上传对应的源码收集任务</a:t>
            </a:r>
          </a:p>
        </p:txBody>
      </p:sp>
      <p:sp>
        <p:nvSpPr>
          <p:cNvPr id="16" name="content-8">
            <a:extLst xmlns:a="http://schemas.openxmlformats.org/drawingml/2006/main">
              <a:ext uri="{FF2B5EF4-FFF2-40B4-BE49-F238E27FC236}">
                <a16:creationId xmlns:a16="http://schemas.microsoft.com/office/drawing/2014/main" id="{C1577B6F-BCA0-4CFA-9E18-695B363F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436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源码单独提交 .c 文件，报告与日志按课程指定入口另交</a:t>
            </a:r>
          </a:p>
        </p:txBody>
      </p:sp>
      <p:sp>
        <p:nvSpPr>
          <p:cNvPr id="17" name="content-9">
            <a:extLst xmlns:a="http://schemas.openxmlformats.org/drawingml/2006/main">
              <a:ext uri="{FF2B5EF4-FFF2-40B4-BE49-F238E27FC236}">
                <a16:creationId xmlns:a16="http://schemas.microsoft.com/office/drawing/2014/main" id="{A8F144F0-F8FC-4089-A144-981FF8E5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上传前打开本地文件，核对已保存的最终代码。保留本地副本与提交记录。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云盘源码提交要求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  <p:sp>
        <p:nvSpPr>
          <p:cNvPr id="10" name="submission-2">
            <a:extLst xmlns:a="http://schemas.openxmlformats.org/drawingml/2006/main">
              <a:ext uri="{FF2B5EF4-FFF2-40B4-BE49-F238E27FC236}">
                <a16:creationId xmlns:a16="http://schemas.microsoft.com/office/drawing/2014/main" id="{41E209A0-A5C8-459B-A580-C1C0B41A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Lab 1：上传 bits.c，填写文件内的本人姓名和学号</a:t>
            </a:r>
          </a:p>
        </p:txBody>
      </p:sp>
      <p:sp>
        <p:nvSpPr>
          <p:cNvPr id="11" name="submission-3">
            <a:extLst xmlns:a="http://schemas.openxmlformats.org/drawingml/2006/main">
              <a:ext uri="{FF2B5EF4-FFF2-40B4-BE49-F238E27FC236}">
                <a16:creationId xmlns:a16="http://schemas.microsoft.com/office/drawing/2014/main" id="{42A89DEE-DF42-4946-91BC-6D625230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Lab 2：上传 mygemm.c，保留题目规定的函数接口</a:t>
            </a:r>
          </a:p>
        </p:txBody>
      </p:sp>
      <p:sp>
        <p:nvSpPr>
          <p:cNvPr id="12" name="submission-4">
            <a:extLst xmlns:a="http://schemas.openxmlformats.org/drawingml/2006/main">
              <a:ext uri="{FF2B5EF4-FFF2-40B4-BE49-F238E27FC236}">
                <a16:creationId xmlns:a16="http://schemas.microsoft.com/office/drawing/2014/main" id="{E1E99566-D968-43CD-BA1A-8F763AC2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打开对应 Lab 的“源码提交”链接，填写学号与姓名</a:t>
            </a:r>
          </a:p>
        </p:txBody>
      </p:sp>
      <p:sp>
        <p:nvSpPr>
          <p:cNvPr id="13" name="submission-5">
            <a:extLst xmlns:a="http://schemas.openxmlformats.org/drawingml/2006/main">
              <a:ext uri="{FF2B5EF4-FFF2-40B4-BE49-F238E27FC236}">
                <a16:creationId xmlns:a16="http://schemas.microsoft.com/office/drawing/2014/main" id="{02CD9E1D-4D77-45B5-B8A9-FC906E6D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B7EDDB"/>
                </a:solidFill>
                <a:latin typeface="Menlo"/>
                <a:ea typeface="Menlo"/>
                <a:cs typeface="Menlo"/>
              </a:defRPr>
            </a:pPr>
            <a:r>
              <a:rPr sz="2550">
                <a:solidFill>
                  <a:srgbClr val="B7EDDB"/>
                </a:solidFill>
                <a:latin typeface="Menlo"/>
                <a:ea typeface="Menlo"/>
                <a:cs typeface="Menlo"/>
              </a:rPr>
              <a:t>云盘统一命名，例如：0001_示例甲.c</a:t>
            </a:r>
          </a:p>
        </p:txBody>
      </p:sp>
      <p:sp>
        <p:nvSpPr>
          <p:cNvPr id="14" name="submission-6">
            <a:extLst xmlns:a="http://schemas.openxmlformats.org/drawingml/2006/main">
              <a:ext uri="{FF2B5EF4-FFF2-40B4-BE49-F238E27FC236}">
                <a16:creationId xmlns:a16="http://schemas.microsoft.com/office/drawing/2014/main" id="{0978764D-C50E-4EA7-BA0D-3C592E25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每个 Lab 分开提交，报告与实验日志按通知另交</a:t>
            </a:r>
          </a:p>
        </p:txBody>
      </p:sp>
      <p:sp>
        <p:nvSpPr>
          <p:cNvPr id="15" name="submission-7">
            <a:extLst xmlns:a="http://schemas.openxmlformats.org/drawingml/2006/main">
              <a:ext uri="{FF2B5EF4-FFF2-40B4-BE49-F238E27FC236}">
                <a16:creationId xmlns:a16="http://schemas.microsoft.com/office/drawing/2014/main" id="{8C150200-50A3-4E14-87D0-3B336957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源码收集接受单个 .c。多文件实验采用教师指定的 ZIP 结构。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云盘上传与重新提交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10" name="submission-2">
            <a:extLst xmlns:a="http://schemas.openxmlformats.org/drawingml/2006/main">
              <a:ext uri="{FF2B5EF4-FFF2-40B4-BE49-F238E27FC236}">
                <a16:creationId xmlns:a16="http://schemas.microsoft.com/office/drawing/2014/main" id="{2032E798-D2F7-4C74-9308-C65AC98A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1  打开教师发布的当前 Lab 源码收集链接并登录</a:t>
            </a:r>
          </a:p>
        </p:txBody>
      </p:sp>
      <p:sp>
        <p:nvSpPr>
          <p:cNvPr id="11" name="submission-3">
            <a:extLst xmlns:a="http://schemas.openxmlformats.org/drawingml/2006/main">
              <a:ext uri="{FF2B5EF4-FFF2-40B4-BE49-F238E27FC236}">
                <a16:creationId xmlns:a16="http://schemas.microsoft.com/office/drawing/2014/main" id="{31A9C603-AD76-4A02-87FC-D87FC3C0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2  填写本人学号、姓名，选择已经自测的本地源码</a:t>
            </a:r>
          </a:p>
        </p:txBody>
      </p:sp>
      <p:sp>
        <p:nvSpPr>
          <p:cNvPr id="12" name="submission-4">
            <a:extLst xmlns:a="http://schemas.openxmlformats.org/drawingml/2006/main">
              <a:ext uri="{FF2B5EF4-FFF2-40B4-BE49-F238E27FC236}">
                <a16:creationId xmlns:a16="http://schemas.microsoft.com/office/drawing/2014/main" id="{D026A457-5399-46C6-AB70-BE38F322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3  点击提交，等待上传完成，检查自己的提交记录</a:t>
            </a:r>
          </a:p>
        </p:txBody>
      </p:sp>
      <p:sp>
        <p:nvSpPr>
          <p:cNvPr id="13" name="submission-5">
            <a:extLst xmlns:a="http://schemas.openxmlformats.org/drawingml/2006/main">
              <a:ext uri="{FF2B5EF4-FFF2-40B4-BE49-F238E27FC236}">
                <a16:creationId xmlns:a16="http://schemas.microsoft.com/office/drawing/2014/main" id="{61637B50-329A-428C-ACBD-395C69E1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4  修改后在相同入口重新上传，选择替换旧文件</a:t>
            </a:r>
          </a:p>
        </p:txBody>
      </p:sp>
      <p:sp>
        <p:nvSpPr>
          <p:cNvPr id="14" name="submission-6">
            <a:extLst xmlns:a="http://schemas.openxmlformats.org/drawingml/2006/main">
              <a:ext uri="{FF2B5EF4-FFF2-40B4-BE49-F238E27FC236}">
                <a16:creationId xmlns:a16="http://schemas.microsoft.com/office/drawing/2014/main" id="{96B86450-0F7F-4011-99AE-E91A433E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5  在截止前确认最终版本，保留本地源码和提交记录</a:t>
            </a:r>
          </a:p>
        </p:txBody>
      </p:sp>
      <p:sp>
        <p:nvSpPr>
          <p:cNvPr id="15" name="submission-7">
            <a:extLst xmlns:a="http://schemas.openxmlformats.org/drawingml/2006/main">
              <a:ext uri="{FF2B5EF4-FFF2-40B4-BE49-F238E27FC236}">
                <a16:creationId xmlns:a16="http://schemas.microsoft.com/office/drawing/2014/main" id="{B755FA88-6259-4A2D-BBAC-0E03A668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云盘上传负责交件。正确性测试需自行运行，助教下载后统一评分。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2865-DC00-4E59-9F3A-640A791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正确性反馈与复查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7C7E-1DCE-457B-9A22-9FD38D1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  <p:sp>
        <p:nvSpPr>
          <p:cNvPr id="10" name="submission-2">
            <a:extLst xmlns:a="http://schemas.openxmlformats.org/drawingml/2006/main">
              <a:ext uri="{FF2B5EF4-FFF2-40B4-BE49-F238E27FC236}">
                <a16:creationId xmlns:a16="http://schemas.microsoft.com/office/drawing/2014/main" id="{833FCE93-5FE9-41C8-A0C1-74D06587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助教使用收到的源码重新编译，按函数检查正确性</a:t>
            </a:r>
          </a:p>
        </p:txBody>
      </p:sp>
      <p:sp>
        <p:nvSpPr>
          <p:cNvPr id="11" name="submission-3">
            <a:extLst xmlns:a="http://schemas.openxmlformats.org/drawingml/2006/main">
              <a:ext uri="{FF2B5EF4-FFF2-40B4-BE49-F238E27FC236}">
                <a16:creationId xmlns:a16="http://schemas.microsoft.com/office/drawing/2014/main" id="{2DDED857-57DC-40FB-85E2-29ECEF81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编译失败：查看编译日志，检查语法、文件与函数接口</a:t>
            </a:r>
          </a:p>
        </p:txBody>
      </p:sp>
      <p:sp>
        <p:nvSpPr>
          <p:cNvPr id="12" name="submission-4">
            <a:extLst xmlns:a="http://schemas.openxmlformats.org/drawingml/2006/main">
              <a:ext uri="{FF2B5EF4-FFF2-40B4-BE49-F238E27FC236}">
                <a16:creationId xmlns:a16="http://schemas.microsoft.com/office/drawing/2014/main" id="{48F8858D-3042-4842-A11C-E8F68F86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结果错误：根据失败函数与输入定位问题，再运行公开测试</a:t>
            </a:r>
          </a:p>
        </p:txBody>
      </p:sp>
      <p:sp>
        <p:nvSpPr>
          <p:cNvPr id="13" name="submission-5">
            <a:extLst xmlns:a="http://schemas.openxmlformats.org/drawingml/2006/main">
              <a:ext uri="{FF2B5EF4-FFF2-40B4-BE49-F238E27FC236}">
                <a16:creationId xmlns:a16="http://schemas.microsoft.com/office/drawing/2014/main" id="{ABFB9E32-64CB-4327-B2E8-23CE2C5F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超时或崩溃：检查循环是否结束、数组访问是否越界</a:t>
            </a:r>
          </a:p>
        </p:txBody>
      </p:sp>
      <p:sp>
        <p:nvSpPr>
          <p:cNvPr id="14" name="submission-6">
            <a:extLst xmlns:a="http://schemas.openxmlformats.org/drawingml/2006/main">
              <a:ext uri="{FF2B5EF4-FFF2-40B4-BE49-F238E27FC236}">
                <a16:creationId xmlns:a16="http://schemas.microsoft.com/office/drawing/2014/main" id="{8F701B04-393D-4877-AD07-5BA31F2F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EAF1EF"/>
                </a:solidFill>
                <a:latin typeface="Hiragino Sans GB"/>
                <a:ea typeface="Hiragino Sans GB"/>
                <a:cs typeface="Hiragino Sans GB"/>
              </a:rPr>
              <a:t>缺交、重复或身份不符：先核对云盘提交记录并联系助教</a:t>
            </a:r>
          </a:p>
        </p:txBody>
      </p:sp>
      <p:sp>
        <p:nvSpPr>
          <p:cNvPr id="15" name="submission-7">
            <a:extLst xmlns:a="http://schemas.openxmlformats.org/drawingml/2006/main">
              <a:ext uri="{FF2B5EF4-FFF2-40B4-BE49-F238E27FC236}">
                <a16:creationId xmlns:a16="http://schemas.microsoft.com/office/drawing/2014/main" id="{7D688176-BFF1-4371-9B7C-B494D97E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1333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>
                <a:solidFill>
                  <a:srgbClr val="A8C6C4"/>
                </a:solidFill>
                <a:latin typeface="Hiragino Sans GB"/>
                <a:ea typeface="Hiragino Sans GB"/>
                <a:cs typeface="Hiragino Sans GB"/>
              </a:rPr>
              <a:t>自动分数只计算正确性。编码规则另行检查，复查使用已归档的源码。</a:t>
            </a:r>
          </a:p>
        </p:txBody>
      </p:sp>
    </p:spTree>
    <p:extLst>
      <p:ext uri="{BB962C8B-B14F-4D97-AF65-F5344CB8AC3E}">
        <p14:creationId xmlns:p14="http://schemas.microsoft.com/office/powerpoint/2010/main" val="2974032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171DB-808B-4A18-9ACA-95A6DBF5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常见问题与处理顺序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0DB76-BAC7-4FD5-99D5-BF576516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76300" y="1809750"/>
          <a:ext xmlns:a="http://schemas.openxmlformats.org/drawingml/2006/main" cx="13335000" cy="4972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476750"/>
                <a:gridCol w="5619750"/>
              </a:tblGrid>
              <a:tr h="828675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现象</a:t>
                      </a:r>
                    </a:p>
                  </a:txBody>
                  <a:tcPr marL="91440" marR="91440" marT="45720" marB="45720" anchor="ctr">
                    <a:solidFill>
                      <a:srgbClr val="167A70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先检查</a:t>
                      </a:r>
                    </a:p>
                  </a:txBody>
                  <a:tcPr marL="91440" marR="91440" marT="45720" marB="45720" anchor="ctr">
                    <a:solidFill>
                      <a:srgbClr val="167A70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下一步</a:t>
                      </a:r>
                    </a:p>
                  </a:txBody>
                  <a:tcPr marL="91440" marR="91440" marT="45720" marB="45720" anchor="ctr">
                    <a:solidFill>
                      <a:srgbClr val="167A70"/>
                    </a:solidFill>
                  </a:tcPr>
                </a:tc>
              </a:tr>
              <a:tr h="828675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作业一直 PD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squeue 显示的原因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等待资源，或核对账户和队列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找不到 cmake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module avail cmake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加载可用模块，确认版本 ≥ 3.16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</a:tr>
              <a:tr h="828675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CMake 路径错误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是否复制过旧 build 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换新的构建目录重新配置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实验输出 INVALID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对应函数与矩阵参数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小规模调试，修正后再测性能</a:t>
                      </a:r>
                    </a:p>
                  </a:txBody>
                  <a:tcPr marL="91440" marR="91440" marT="45720" marB="45720" anchor="ctr">
                    <a:solidFill>
                      <a:srgbClr val="EDF1ED"/>
                    </a:solidFill>
                  </a:tcPr>
                </a:tc>
              </a:tr>
              <a:tr h="828675"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DataLab 无法评分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姓名学号是否填写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42875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D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按题面填写并完成 bits.c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AA11F-66AD-444C-93C4-06C79BEE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24725"/>
            <a:ext cx="1319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rPr>
              <a:t>本仓库的 submit.sh 不会提交 Slurm。批处理使用 sbatch lab1.slurm / lab2.slurm。</a:t>
            </a:r>
          </a:p>
        </p:txBody>
      </p:sp>
    </p:spTree>
    <p:extLst>
      <p:ext uri="{BB962C8B-B14F-4D97-AF65-F5344CB8AC3E}">
        <p14:creationId xmlns:p14="http://schemas.microsoft.com/office/powerpoint/2010/main" val="10776640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6722A-A459-4877-B5CF-BEDD709E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第一次练习与参考资料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77480-1642-4A8D-83FC-1C9CC505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26971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D56CD-76B5-4F6E-8714-F7AA4A7B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95475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练习目标：完成远程测试，并通过云盘提交一次作业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1C933-B09A-47AC-BBC6-88DC43E6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33350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1. 配置 SSH，用 VS Code 打开远端源码</a:t>
            </a:r>
          </a:p>
          <a:p xmlns:a="http://schemas.openxmlformats.org/drawingml/2006/main">
            <a:pPr>
              <a:buNone/>
              <a:defRPr sz="2550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2. 申请计算节点，编译并检查当前 Lab</a:t>
            </a:r>
          </a:p>
          <a:p xmlns:a="http://schemas.openxmlformats.org/drawingml/2006/main">
            <a:pPr>
              <a:buNone/>
              <a:defRPr sz="2550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3. 下载已经保存并测试的最终源码</a:t>
            </a:r>
          </a:p>
          <a:p xmlns:a="http://schemas.openxmlformats.org/drawingml/2006/main">
            <a:pPr>
              <a:buNone/>
              <a:defRPr sz="2550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4. 上传对应的云盘源码任务，核对提交记录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D8DAC-05D9-4A50-BC6F-5F4F6FD2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62575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2D36"/>
                </a:solidFill>
                <a:latin typeface="Hiragino Sans GB"/>
                <a:ea typeface="Hiragino Sans GB"/>
                <a:cs typeface="Hiragino Sans GB"/>
              </a:rPr>
              <a:t>官方文档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9CCE5-F9C2-4501-A882-CB8AAA2D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67A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67A70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d89e489e6ca4f4c"/>
              </a:rPr>
              <a:t>登录与账号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0C01E-7DFC-45C1-B0D2-2DDDAD0B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24625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67A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67A70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41043cfe6b94dcc"/>
              </a:rPr>
              <a:t>Slurm 作业管理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3C6D5-E03E-43B4-AD6E-0E08D932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67A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67A70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32b39c2ca6e462b"/>
              </a:rPr>
              <a:t>文件传输</a:t>
            </a:r>
          </a:p>
        </p:txBody>
      </p:sp>
    </p:spTree>
    <p:extLst>
      <p:ext uri="{BB962C8B-B14F-4D97-AF65-F5344CB8AC3E}">
        <p14:creationId xmlns:p14="http://schemas.microsoft.com/office/powerpoint/2010/main" val="51431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2026-09-27T08:36:26.0120000Z</dcterms:created>
  <dcterms:modified xsi:type="dcterms:W3CDTF">2026-09-27T08:36:26.0120000Z</dcterms:modified>
</coreProperties>
</file>