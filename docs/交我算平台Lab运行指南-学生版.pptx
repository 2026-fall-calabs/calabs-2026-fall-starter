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631bee11f6c4479" /><Relationship Type="http://schemas.openxmlformats.org/officeDocument/2006/relationships/extended-properties" Target="/docProps/app.xml" Id="Rcc89b6d167914b3f" /><Relationship Type="http://schemas.openxmlformats.org/officeDocument/2006/relationships/officeDocument" Target="/ppt/presentation.xml" Id="R862ba85faf1d49e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d447baf31eb4ec3"/>
  </p:sldMasterIdLst>
  <p:notesMasterIdLst>
    <p:notesMasterId xmlns:r="http://schemas.openxmlformats.org/officeDocument/2006/relationships" r:id="Rb87a0392fb964659"/>
  </p:notesMasterIdLst>
  <p:sldIdLst>
    <p:sldId xmlns:r="http://schemas.openxmlformats.org/officeDocument/2006/relationships" id="256" r:id="Rceef44d9b35c40d4"/>
    <p:sldId xmlns:r="http://schemas.openxmlformats.org/officeDocument/2006/relationships" id="257" r:id="R81cc83877b61473d"/>
    <p:sldId xmlns:r="http://schemas.openxmlformats.org/officeDocument/2006/relationships" id="258" r:id="R02eb1f8d294341ff"/>
    <p:sldId xmlns:r="http://schemas.openxmlformats.org/officeDocument/2006/relationships" id="259" r:id="R5c40457137ee487b"/>
    <p:sldId xmlns:r="http://schemas.openxmlformats.org/officeDocument/2006/relationships" id="260" r:id="Rdae68cedb146413b"/>
    <p:sldId xmlns:r="http://schemas.openxmlformats.org/officeDocument/2006/relationships" id="261" r:id="Rb1d1f198c00b4f6d"/>
    <p:sldId xmlns:r="http://schemas.openxmlformats.org/officeDocument/2006/relationships" id="262" r:id="Rffd71c5590104c3a"/>
    <p:sldId xmlns:r="http://schemas.openxmlformats.org/officeDocument/2006/relationships" id="263" r:id="R8b0cb4fa3fe940e0"/>
    <p:sldId xmlns:r="http://schemas.openxmlformats.org/officeDocument/2006/relationships" id="264" r:id="R0f5c04ea19c14b11"/>
    <p:sldId xmlns:r="http://schemas.openxmlformats.org/officeDocument/2006/relationships" id="265" r:id="R7152c27092494639"/>
    <p:sldId xmlns:r="http://schemas.openxmlformats.org/officeDocument/2006/relationships" id="266" r:id="R9c185575ed4d4807"/>
    <p:sldId xmlns:r="http://schemas.openxmlformats.org/officeDocument/2006/relationships" id="267" r:id="R94aabbb4f9e944a2"/>
    <p:sldId xmlns:r="http://schemas.openxmlformats.org/officeDocument/2006/relationships" id="268" r:id="R2b847ff9507a4f93"/>
    <p:sldId xmlns:r="http://schemas.openxmlformats.org/officeDocument/2006/relationships" id="269" r:id="R54633310f3a84a26"/>
    <p:sldId xmlns:r="http://schemas.openxmlformats.org/officeDocument/2006/relationships" id="270" r:id="R3b7a2960af004c2d"/>
    <p:sldId xmlns:r="http://schemas.openxmlformats.org/officeDocument/2006/relationships" id="271" r:id="Rc64e4aae331b411f"/>
    <p:sldId xmlns:r="http://schemas.openxmlformats.org/officeDocument/2006/relationships" id="272" r:id="R6349eaeffc1047df"/>
    <p:sldId xmlns:r="http://schemas.openxmlformats.org/officeDocument/2006/relationships" id="273" r:id="R8f8cda8f3bfb4e74"/>
    <p:sldId xmlns:r="http://schemas.openxmlformats.org/officeDocument/2006/relationships" id="274" r:id="R54583e3fc4a84ab1"/>
    <p:sldId xmlns:r="http://schemas.openxmlformats.org/officeDocument/2006/relationships" id="275" r:id="R178a47f32ffd4a09"/>
    <p:sldId xmlns:r="http://schemas.openxmlformats.org/officeDocument/2006/relationships" id="276" r:id="R2cd2a2e9841d4733"/>
    <p:sldId xmlns:r="http://schemas.openxmlformats.org/officeDocument/2006/relationships" id="277" r:id="R892fbf944dd44229"/>
    <p:sldId xmlns:r="http://schemas.openxmlformats.org/officeDocument/2006/relationships" id="278" r:id="Ra389f48c50b0476c"/>
    <p:sldId xmlns:r="http://schemas.openxmlformats.org/officeDocument/2006/relationships" id="279" r:id="R2edde5bb1dec4512"/>
    <p:sldId xmlns:r="http://schemas.openxmlformats.org/officeDocument/2006/relationships" id="280" r:id="Re0b20362b0534737"/>
    <p:sldId xmlns:r="http://schemas.openxmlformats.org/officeDocument/2006/relationships" id="281" r:id="R85bdb7f2b5bf4a90"/>
    <p:sldId xmlns:r="http://schemas.openxmlformats.org/officeDocument/2006/relationships" id="282" r:id="R8044b303c463435b"/>
    <p:sldId xmlns:r="http://schemas.openxmlformats.org/officeDocument/2006/relationships" id="283" r:id="R53ec4c548a614136"/>
    <p:sldId xmlns:r="http://schemas.openxmlformats.org/officeDocument/2006/relationships" id="284" r:id="R9c6186924d3740eb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f4cee95c83c4fcd" /><Relationship Type="http://schemas.openxmlformats.org/officeDocument/2006/relationships/slideMaster" Target="/ppt/slideMasters/slideMaster1.xml" Id="Rcd447baf31eb4ec3" /><Relationship Type="http://schemas.openxmlformats.org/officeDocument/2006/relationships/notesMaster" Target="/ppt/notesMasters/notesMaster1.xml" Id="Rb87a0392fb964659" /><Relationship Type="http://schemas.openxmlformats.org/officeDocument/2006/relationships/presProps" Target="/ppt/presProps.xml" Id="R8c7ea538baec4577" /><Relationship Type="http://schemas.openxmlformats.org/officeDocument/2006/relationships/tableStyles" Target="/ppt/tableStyles.xml" Id="R7ad82a0f98534ace" /><Relationship Type="http://schemas.openxmlformats.org/officeDocument/2006/relationships/slide" Target="/ppt/slides/slide1.xml" Id="Rceef44d9b35c40d4" /><Relationship Type="http://schemas.openxmlformats.org/officeDocument/2006/relationships/slide" Target="/ppt/slides/slide2.xml" Id="R81cc83877b61473d" /><Relationship Type="http://schemas.openxmlformats.org/officeDocument/2006/relationships/slide" Target="/ppt/slides/slide3.xml" Id="R02eb1f8d294341ff" /><Relationship Type="http://schemas.openxmlformats.org/officeDocument/2006/relationships/slide" Target="/ppt/slides/slide4.xml" Id="R5c40457137ee487b" /><Relationship Type="http://schemas.openxmlformats.org/officeDocument/2006/relationships/slide" Target="/ppt/slides/slide5.xml" Id="Rdae68cedb146413b" /><Relationship Type="http://schemas.openxmlformats.org/officeDocument/2006/relationships/slide" Target="/ppt/slides/slide6.xml" Id="Rb1d1f198c00b4f6d" /><Relationship Type="http://schemas.openxmlformats.org/officeDocument/2006/relationships/slide" Target="/ppt/slides/slide7.xml" Id="Rffd71c5590104c3a" /><Relationship Type="http://schemas.openxmlformats.org/officeDocument/2006/relationships/slide" Target="/ppt/slides/slide8.xml" Id="R8b0cb4fa3fe940e0" /><Relationship Type="http://schemas.openxmlformats.org/officeDocument/2006/relationships/slide" Target="/ppt/slides/slide9.xml" Id="R0f5c04ea19c14b11" /><Relationship Type="http://schemas.openxmlformats.org/officeDocument/2006/relationships/slide" Target="/ppt/slides/slide10.xml" Id="R7152c27092494639" /><Relationship Type="http://schemas.openxmlformats.org/officeDocument/2006/relationships/slide" Target="/ppt/slides/slide11.xml" Id="R9c185575ed4d4807" /><Relationship Type="http://schemas.openxmlformats.org/officeDocument/2006/relationships/slide" Target="/ppt/slides/slide12.xml" Id="R94aabbb4f9e944a2" /><Relationship Type="http://schemas.openxmlformats.org/officeDocument/2006/relationships/slide" Target="/ppt/slides/slide13.xml" Id="R2b847ff9507a4f93" /><Relationship Type="http://schemas.openxmlformats.org/officeDocument/2006/relationships/slide" Target="/ppt/slides/slide14.xml" Id="R54633310f3a84a26" /><Relationship Type="http://schemas.openxmlformats.org/officeDocument/2006/relationships/slide" Target="/ppt/slides/slide15.xml" Id="R3b7a2960af004c2d" /><Relationship Type="http://schemas.openxmlformats.org/officeDocument/2006/relationships/slide" Target="/ppt/slides/slide16.xml" Id="Rc64e4aae331b411f" /><Relationship Type="http://schemas.openxmlformats.org/officeDocument/2006/relationships/slide" Target="/ppt/slides/slide17.xml" Id="R6349eaeffc1047df" /><Relationship Type="http://schemas.openxmlformats.org/officeDocument/2006/relationships/slide" Target="/ppt/slides/slide18.xml" Id="R8f8cda8f3bfb4e74" /><Relationship Type="http://schemas.openxmlformats.org/officeDocument/2006/relationships/slide" Target="/ppt/slides/slide19.xml" Id="R54583e3fc4a84ab1" /><Relationship Type="http://schemas.openxmlformats.org/officeDocument/2006/relationships/slide" Target="/ppt/slides/slide20.xml" Id="R178a47f32ffd4a09" /><Relationship Type="http://schemas.openxmlformats.org/officeDocument/2006/relationships/slide" Target="/ppt/slides/slide21.xml" Id="R2cd2a2e9841d4733" /><Relationship Type="http://schemas.openxmlformats.org/officeDocument/2006/relationships/slide" Target="/ppt/slides/slide22.xml" Id="R892fbf944dd44229" /><Relationship Type="http://schemas.openxmlformats.org/officeDocument/2006/relationships/slide" Target="/ppt/slides/slide23.xml" Id="Ra389f48c50b0476c" /><Relationship Type="http://schemas.openxmlformats.org/officeDocument/2006/relationships/slide" Target="/ppt/slides/slide24.xml" Id="R2edde5bb1dec4512" /><Relationship Type="http://schemas.openxmlformats.org/officeDocument/2006/relationships/slide" Target="/ppt/slides/slide25.xml" Id="Re0b20362b0534737" /><Relationship Type="http://schemas.openxmlformats.org/officeDocument/2006/relationships/slide" Target="/ppt/slides/slide26.xml" Id="R85bdb7f2b5bf4a90" /><Relationship Type="http://schemas.openxmlformats.org/officeDocument/2006/relationships/slide" Target="/ppt/slides/slide27.xml" Id="R8044b303c463435b" /><Relationship Type="http://schemas.openxmlformats.org/officeDocument/2006/relationships/slide" Target="/ppt/slides/slide28.xml" Id="R53ec4c548a614136" /><Relationship Type="http://schemas.openxmlformats.org/officeDocument/2006/relationships/slide" Target="/ppt/slides/slide29.xml" Id="R9c6186924d3740e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7b94c66fa21493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bd4e486fcc84635" /><Relationship Type="http://schemas.openxmlformats.org/officeDocument/2006/relationships/notesMaster" Target="/ppt/notesMasters/notesMaster1.xml" Id="R314936a9924644b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e7fdbe377294dfd" /><Relationship Type="http://schemas.openxmlformats.org/officeDocument/2006/relationships/notesMaster" Target="/ppt/notesMasters/notesMaster1.xml" Id="R674806890d4140d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205a1314f4c43a5" /><Relationship Type="http://schemas.openxmlformats.org/officeDocument/2006/relationships/notesMaster" Target="/ppt/notesMasters/notesMaster1.xml" Id="R6ee884ddfec9454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c58343691674e89" /><Relationship Type="http://schemas.openxmlformats.org/officeDocument/2006/relationships/notesMaster" Target="/ppt/notesMasters/notesMaster1.xml" Id="R141326eabf4f4f9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5212e0bf3174bdf" /><Relationship Type="http://schemas.openxmlformats.org/officeDocument/2006/relationships/notesMaster" Target="/ppt/notesMasters/notesMaster1.xml" Id="R80b02b2632f0464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5702df2c1be403e" /><Relationship Type="http://schemas.openxmlformats.org/officeDocument/2006/relationships/notesMaster" Target="/ppt/notesMasters/notesMaster1.xml" Id="Rfa77b6080cf44ec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173679ba7344b72" /><Relationship Type="http://schemas.openxmlformats.org/officeDocument/2006/relationships/notesMaster" Target="/ppt/notesMasters/notesMaster1.xml" Id="R6f247b5522574e7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bd22c63a7a14b0e" /><Relationship Type="http://schemas.openxmlformats.org/officeDocument/2006/relationships/notesMaster" Target="/ppt/notesMasters/notesMaster1.xml" Id="Rf0decc374d59445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29844d4d6d04eab" /><Relationship Type="http://schemas.openxmlformats.org/officeDocument/2006/relationships/notesMaster" Target="/ppt/notesMasters/notesMaster1.xml" Id="R44eabcc891774e6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4d8ec8325f346bc" /><Relationship Type="http://schemas.openxmlformats.org/officeDocument/2006/relationships/notesMaster" Target="/ppt/notesMasters/notesMaster1.xml" Id="R709d565db64d49e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8da8d0a9c3543f1" /><Relationship Type="http://schemas.openxmlformats.org/officeDocument/2006/relationships/notesMaster" Target="/ppt/notesMasters/notesMaster1.xml" Id="R3aee4b82d1f14d8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32a49558c7941e9" /><Relationship Type="http://schemas.openxmlformats.org/officeDocument/2006/relationships/notesMaster" Target="/ppt/notesMasters/notesMaster1.xml" Id="R2429fb3983144e0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dcb88f7f3dc41f9" /><Relationship Type="http://schemas.openxmlformats.org/officeDocument/2006/relationships/notesMaster" Target="/ppt/notesMasters/notesMaster1.xml" Id="Rfdc7a525567b4fc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df74c7161b94343" /><Relationship Type="http://schemas.openxmlformats.org/officeDocument/2006/relationships/notesMaster" Target="/ppt/notesMasters/notesMaster1.xml" Id="R36e08855de6e4fa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8bd95ed36c842bf" /><Relationship Type="http://schemas.openxmlformats.org/officeDocument/2006/relationships/notesMaster" Target="/ppt/notesMasters/notesMaster1.xml" Id="R7e3cb9e344ce44d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44b7960e8e94bb0" /><Relationship Type="http://schemas.openxmlformats.org/officeDocument/2006/relationships/notesMaster" Target="/ppt/notesMasters/notesMaster1.xml" Id="Rb7116ba2f24f45f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1dff304e9d34d77" /><Relationship Type="http://schemas.openxmlformats.org/officeDocument/2006/relationships/notesMaster" Target="/ppt/notesMasters/notesMaster1.xml" Id="R6ae352e8b9f5458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c74ea9fe3ba4bdf" /><Relationship Type="http://schemas.openxmlformats.org/officeDocument/2006/relationships/notesMaster" Target="/ppt/notesMasters/notesMaster1.xml" Id="Rdb4c27481d794be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ca86b0e10c346f1" /><Relationship Type="http://schemas.openxmlformats.org/officeDocument/2006/relationships/notesMaster" Target="/ppt/notesMasters/notesMaster1.xml" Id="R840149d150694d2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5aea0dd0a71407b" /><Relationship Type="http://schemas.openxmlformats.org/officeDocument/2006/relationships/notesMaster" Target="/ppt/notesMasters/notesMaster1.xml" Id="R002ab8a26280456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eec6e0179bb4152" /><Relationship Type="http://schemas.openxmlformats.org/officeDocument/2006/relationships/notesMaster" Target="/ppt/notesMasters/notesMaster1.xml" Id="Rd3a5aa7f2f70464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972075dbd2341ea" /><Relationship Type="http://schemas.openxmlformats.org/officeDocument/2006/relationships/notesMaster" Target="/ppt/notesMasters/notesMaster1.xml" Id="R6ad069cd5ae74bbd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3beddec9b044490e" /><Relationship Type="http://schemas.openxmlformats.org/officeDocument/2006/relationships/notesMaster" Target="/ppt/notesMasters/notesMaster1.xml" Id="Rdc4f6bf03b604b0b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3356c3eaa17a4408" /><Relationship Type="http://schemas.openxmlformats.org/officeDocument/2006/relationships/notesMaster" Target="/ppt/notesMasters/notesMaster1.xml" Id="R929b368dc944478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d851bc7c14a46a3" /><Relationship Type="http://schemas.openxmlformats.org/officeDocument/2006/relationships/notesMaster" Target="/ppt/notesMasters/notesMaster1.xml" Id="R8ff68826fec0491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f86bb0cc86924798" /><Relationship Type="http://schemas.openxmlformats.org/officeDocument/2006/relationships/notesMaster" Target="/ppt/notesMasters/notesMaster1.xml" Id="Ra279f5f0c8c6404a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ecab6dd943624113" /><Relationship Type="http://schemas.openxmlformats.org/officeDocument/2006/relationships/notesMaster" Target="/ppt/notesMasters/notesMaster1.xml" Id="Rfe64e60ec22f4fd2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1f02f1ee9ed4b5a" /><Relationship Type="http://schemas.openxmlformats.org/officeDocument/2006/relationships/notesMaster" Target="/ppt/notesMasters/notesMaster1.xml" Id="Rec0f11b328824f0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e0a6892e9774a8f" /><Relationship Type="http://schemas.openxmlformats.org/officeDocument/2006/relationships/notesMaster" Target="/ppt/notesMasters/notesMaster1.xml" Id="R7f5a879a0ae5452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本教程面向第一次使用超算的课程学生。所有命令示例均需学生自行执行。本教程未提交任何作业。命令以当前课程仓库和交我算官方文档为依据。用户名使用占位符，学生必须使用本人账号。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教师通过交大云盘分发学生包。学生下载后传入平台；编辑可用 VS Code，编译与测试须申请计算节点。结束后下载最终源码、报告和日志，再上传课程指定的云盘收件入口。GitHub 仓库用于维护课程材料。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HPC_USER 在本地终端设置。将 your_username 替换为本人的超算账号。jiaowosuan 是当前使用者电脑上已有的 SSH 别名，其他学生未配置时应使用完整域名。平台文档规定 2026-04-10 起教学账号禁止校外登录。不要展示或转发密码、证书私钥。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配置保存在本地用户目录。保留已有其他主机配置；同名 Host 修改原条目。nano 用 Ctrl-O、Enter 保存，Ctrl-X 退出。macOS/Linux 保存后可设 chmod 700 ~/.ssh 和 chmod 600 ~/.ssh/config。与仓库 .vscode 目录无关。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https://docs.hpc.sjtu.edu.cn/login/vscode.html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两个 Host 段都写入自己的本地 config。Host 是别名，HostName 是入口域名，User 是超算账号。ServerAlive 参数只帮助检测连接，不替代平台活跃会话要求。不要把密码写入配置。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本课程先确认教学账号已开放免密证书申请。登录管理平台后核对账号，并按提示完成身份绑定和授权。一键生成后，将下载目录里的私钥与证书两个文件移入本地 .ssh 目录，具体操作见随后两页。以下示例文件名为 id_ed25519 和 id_ed25519-cert.pub，学生应按实际下载文件名替换。已有密钥时可以提交对应公钥申请证书，继续使用原私钥。申请功能不可用时继续密码登录并联系助教。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这些命令全部在学生自己的电脑执行。mv 将两个文件从 Downloads 移到 .ssh，config 随后指向移动后的路径。-i 让同名覆盖前先询问，遇到已有密钥应回答 n 并先核对用途，可另建目录保存后调整 config。保留下载文件名，不批量移动 Downloads 中的其他文件。若实际是 id_rsa 与 id_rsa-cert.pub，替换命令中的对应名称。如果浏览器下载到其他目录，则替换 Downloads 路径。本步骤只需私钥与证书两个文件。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Set-Location 切换到用户自己的本地目录，所以后续 .ssh 和 Downloads 都是该用户目录下的子目录。Move-Item 不加 -Force，已有同名目标文件时先处理冲突。也可用文件资源管理器剪切下载的两个文件，在地址栏输入 C:/Users/你的用户名/.ssh/ 后粘贴。Windows 不运行上一页的 chmod 命令。若下载文件名为 id_rsa 与 id_rsa-cert.pub，替换命令中的对应名称。两个文件仅用于本人本地 SSH 登录，不上传作业。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把三行分别加到已有 Host jiaowosuan 与 Host jiaowosuan-data 配置段中，User 填对应超算账号。IdentityFile 和 CertificateFile 指向移动后保存在本地 .ssh 中的文件。Windows 也可以填写 C:/Users/your_name/.ssh/ 下的绝对路径；包含空格时加双引号。IdentitiesOnly yes 限制认证身份为配置中的密钥和证书，避免额外尝试 ssh-agent 提供的其他身份；它不会禁用密码或 keyboard-interactive 认证，也不免除私钥自身的 passphrase。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https://man.openbsd.org/ssh_config#IdentitiesOnly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日常使用 ssh jiaowosuan 即可，VS Code Remote-SSH 也使用同一 Host 配置。出现账号密码提示意味着这次没有完成证书免密，应检查路径、匹配关系、证书有效期和账号名。私钥 passphrase 是本地保护口令，不是超算账号密码。可选测试中的 -o 是 SSH 命令行临时配置参数；PreferredAuthentications=publickey 只允许本次用公钥或证书认证，防止回退到密码后误以为免密已成功。不需要把此选项写入日常配置。证书详情可先在本地终端进入 .ssh，再执行 ssh-keygen -L -f id_ed25519-cert.pub，检查 Valid 和 Principals。保留密码登录途径方便排错。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https://man.openbsd.org/ssh_config#PreferredAuthentications</a:t>
            </a:r>
          </a:p>
          <a:p xmlns:a="http://schemas.openxmlformats.org/drawingml/2006/main">
            <a:r>
              <a:t>https://man.openbsd.org/ssh-keygen</a:t>
            </a:r>
          </a:p>
          <a:p xmlns:a="http://schemas.openxmlformats.org/drawingml/2006/main">
            <a:r>
              <a:t>PreferredAuthentications=publickey 限制为公钥认证方法，该方法包含证书与普通公钥；在交我算平台使用已签发的证书。重新一键生成会生成新密钥，必须同时更新私钥与证书。来源：https://man.openbsd.org/ssh_config 和 https://docs.hpc.sjtu.edu.cn/accounts/security.html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首次上传流程适用于 macOS、Linux 及具备 OpenSSH 客户端的 Windows。课程根目录应包含 labs/。不要传入本地构建产物。macOS/Linux 的 rsync 过滤示例见讲义。云盘分享链接可能需要登录或提取码，不一定是 wget 可用的文件直链。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先在独立终端测试 SSH，再打开 VS Code 远程连接。打开文件夹时若 ~ 未展开，使用普通 SSH 会话 pwd 确认的绝对路径。保存改变的是服务器上的文件，提交云盘前要下载最终源码。集成终端初始通常在登录节点。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https://docs.hpc.sjtu.edu.cn/login/vscode.html</a:t>
            </a:r>
          </a:p>
          <a:p xmlns:a="http://schemas.openxmlformats.org/drawingml/2006/main">
            <a:r>
              <a:t>https://code.visualstudio.com/docs/remote/ssh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已有用户设置时合并字段，不覆盖其他配置。别名找不到检查本地 config 路径和文件后缀。SSH 失败先检查校内网络、账号认证和证书。终端正常但 VS Code 不稳定时检查普通 SSH 活跃会话，以及负载均衡入口导致不同连接落到不同节点的问题。扩展的依赖下载可能仍需另行处理。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https://docs.hpc.sjtu.edu.cn/login/vscode.html</a:t>
            </a:r>
          </a:p>
          <a:p xmlns:a="http://schemas.openxmlformats.org/drawingml/2006/main">
            <a:r>
              <a:t>https://code.visualstudio.com/docs/remote/ssh</a:t>
            </a:r>
          </a:p>
          <a:p xmlns:a="http://schemas.openxmlformats.org/drawingml/2006/main">
            <a:r>
              <a:t>https://code.visualstudio.com/docs/remote/troubleshooting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在登录节点执行 srun。成功分配后才执行下方编译器检查，hostname 应显示计算节点。若排队，等待分配，不要退回登录节点直接运行实验。1 task、1 CPU 足以运行当前串行框架。20 分钟仅用于小规模调试。退出 bash 会释放交互式资源。登录节点于 2026-09-27 实测有 GCC 8.5.0、CMake 3.20.2，但计算节点仍需现场确认。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https://docs.hpc.sjtu.edu.cn/job/partition.html</a:t>
            </a:r>
          </a:p>
          <a:p xmlns:a="http://schemas.openxmlformats.org/drawingml/2006/main">
            <a:r>
              <a:t>https://docs.hpc.sjtu.edu.cn/job/kos.html</a:t>
            </a:r>
          </a:p>
          <a:p xmlns:a="http://schemas.openxmlformats.org/drawingml/2006/main">
            <a:r>
              <a:t>srun 分配后启动登录 shell，初始化计算节点的软件模块环境。module load cmake 加载默认版本；若不可用或版本低于 3.16，从 module avail cmake 选择实际存在的版本。官方 KOS 页面示例为 cmake/3.26.3-gcc-8.5.0，账号权限和模块版本以现场查询为准。来源：https://docs.hpc.sjtu.edu.cn/job/kos.html 和 https://docs.hpc.sjtu.edu.cn/app/module.html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make selftest 检查测试器、参考函数、签名和评分流程，不能证明 bits.c 已完成。make grade 检查学生答案。当前本地 bits.c 是姓名学号为空的学生模板，正式评分会拒绝运行；学生需要按题面自行填写并完成作答。dlc 是 x86-64 Linux 可执行文件，适合 Pi CPU 节点；当前版本不能识别新增 FP8 题的全部规则。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课程仓库 labs/lab1-datalab/README.md、Makefile、bits.c（2026-09-27）</a:t>
            </a:r>
          </a:p>
          <a:p xmlns:a="http://schemas.openxmlformats.org/drawingml/2006/main">
            <a:r>
              <a:t>仓库 dlc 的文件模式为 100644，云盘/Windows 传输也可能丢失执行位，首次执行前需 chmod u+x ./dlc。dlc 为 x86-64 Linux ELF，应在 π2.0 CPU 计算节点运行。make selftest 执行 btest -S -g，是参考函数/框架自检；make grade 才检查学生实现。依据 labs/lab1-datalab/Makefile、README.md 与文件模式。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 CMake &gt;= 3.16。默认使用随框架提供的参考 BLAS，不需要安装 MKL 或 OpenBLAS。build-pi2 是独立构建目录，不上传本地的 CMakeCache.txt。当前 CMakeLists 已为 reg_reuse 和 cache_part3 指定 -O0，为 cache_part4_o0..o3 分别指定优化级别；不添加额外全局优化选项。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这些命令覆盖寄存器复用、六种循环次序、六种缓存分块和 optimal 的四个优化级别。48、6 可满足当前框架的整除条件。只把不含 INVALID、退出状态为 0 的测试视为通过。学生空白实现会失败，这是预期行为。小矩阵测试是快速检查，不能证明所有输入均正确。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  <a:p xmlns:a="http://schemas.openxmlformats.org/drawingml/2006/main">
            <a:r>
              <a:t>reg_reuse 接受多个矩阵维度；cache_part3/cache_part4 接受 n 和块大小 b。6、12、24、48 均满足 6 的倍数要求，48 可被 6 整除。学生空模板会返回非零；ctest 不覆盖学生矩阵实现。依据 benchmarks/*.c、CMakeLists.txt。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Slurm 的 ntasks 是进程数，cpus-per-task 是每个进程分配的 CPU 数。当前课程框架没有 MPI/OpenMP 并行，增加分配核数不会自动使单个实验加速。cpu 队列现场查询为每核默认 4096 MiB，上限也为 4096 MiB。任务时限是最大允许值，不是预计耗时。避免默认选择独占整节点。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https://docs.hpc.sjtu.edu.cn/job/partition.html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把本页内容保存为 course-labs/lab1.slurm。从仓库根目录提交，提交前先 mkdir -p results，因为 Slurm 在启动脚本前就会打开日志文件。脚本直接在所分配的计算节点执行。set -euo pipefail 使检查失败时作业返回非零。%j 由 Slurm 替换为作业编号。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课程仓库 labs/lab1-datalab/README.md、Makefile、bits.c（2026-09-27）</a:t>
            </a:r>
          </a:p>
          <a:p xmlns:a="http://schemas.openxmlformats.org/drawingml/2006/main">
            <a:r>
              <a:t>在登录节点从 course-labs 根目录提交，先 mkdir -p results。日志目录必须在作业启动前存在。VS Code 右下角选 LF，避免 Windows CRLF 导致 sbatch 拒绝脚本。set -e 会在首个失败命令处停止。来源：https://slurm.schedmd.com/sbatch.html；命令目标依据 labs/lab1-datalab/Makefile。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保存为 course-labs/lab2.slurm。左列接右列构成同一脚本，文字讲义提供完整可复制版本。每个作业使用包含 job ID 的独立构建目录，避免不同作业争用构建文件。这里执行小规模检查。正式实验应保留编译和正确性检查，再按课程题面添加运行命令并增加时限。若计算节点缺少工具，先 module avail，再加载实际存在的模块。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  <a:p xmlns:a="http://schemas.openxmlformats.org/drawingml/2006/main">
            <a:r>
              <a:t>批处理脚本自身加载 CMake；交互节点内的 module load 不会自动改变登录节点随后提交的独立作业。登录 shell 初始化模块命令。默认版本必须 ≥3.16，必要时改为 module avail cmake 中确认的具体版本。来源：https://docs.hpc.sjtu.edu.cn/app/module.html 和 https://slurm.schedmd.com/sbatch.html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当前驱动默认值：reg_reuse 为 66,126,258,510,1026,2046；cache_part3 为 n=2000,b=10；cache_part4 为 n=2040,b=60。当前 README 部分正式规模与 dgemm3 的整除约定不一致，课程发布前应由教师统一。这里的命令仅演示重复运行，不定义新的课程测量规模。2040 和 60 满足 2、3、6 及缓存块的整除条件。CPU 绑核限制进程迁移，不能消除共享节点上的缓存、带宽、频率干扰。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这些命令在登录节点运行。必须先创建 results/ 再 sbatch。sbatch 返回的数字是 job ID，把 123456 替换为实际编号。PD 表示等待调度，R 表示运行中。squeue 中消失后，使用 sacct 看最终状态和退出码。只有 COMPLETED 且 ExitCode=0:0，结合程序检查结果，才确认该次作业成功。tail -f 用 Ctrl-C 结束查看，它不会取消作业。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将 123456 替换为本次 Lab2 的作业 ID。排队时日志可能尚未创建，tail -F 会等待文件出现；退出查看只中断 tail，不会取消作业。作业完成后 sacct 可查看状态与退出码。来源：https://www.gnu.org/software/coreutils/manual/html_node/tail-invocation.html 和 https://slurm.schedmd.com/sacct.html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在本地终端下载日志。Windows 或没有 rsync 时，在新建的本地收集目录执行 scp -r jiaowosuan-data:course-labs/results ./。源码需另外下载，参见下一页。关闭 SSH 不会自动结束已提交的 sbatch 作业。取消只针对明确的作业编号。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https://docs.hpc.sjtu.edu.cn/transport/transportsolution.html</a:t>
            </a:r>
          </a:p>
          <a:p xmlns:a="http://schemas.openxmlformats.org/drawingml/2006/main">
            <a:r>
              <a:t>Windows 默认没有 rsync。本例统一使用 OpenSSH scp -r 下载目录；目标 pi2-results 已创建，因此 results 目录存放于其中。macOS/Linux 的 rsync 可作为讲义中的可选命令。传输从本地发起。来源：https://docs.hpc.sjtu.edu.cn/transport/transportsolution.html 和 https://man.openbsd.org/scp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按当前 Lab 选择下载命令。学生在云盘源码收集任务中上传单个 .c 文件；云盘可按学号和姓名重命名。报告与日志按教师指定的其他入口提交。</a:t>
            </a:r>
          </a:p>
          <a:p xmlns:a="http://schemas.openxmlformats.org/drawingml/2006/main">
            <a:r>
              <a:t>来源：https://pan.sjtu.edu.cn/pandoc/file-collection.html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示例学号与姓名为虚构。课程收集任务设置学号和姓名命名字段，学生按字段填写。当前 Lab 1/2 的源码各为一个文件。教师给出具体链接、报告入口与截止时间。</a:t>
            </a:r>
          </a:p>
          <a:p xmlns:a="http://schemas.openxmlformats.org/drawingml/2006/main">
            <a:r>
              <a:t>来源：https://pan.sjtu.edu.cn/pandoc/file-collection.html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云盘支持多次提交，同名文件可选择替换旧文件或保存两份。本课程建议替换，避免多版本无法确定。截止时间由收集任务有效期和课程通知确定。</a:t>
            </a:r>
          </a:p>
          <a:p xmlns:a="http://schemas.openxmlformats.org/drawingml/2006/main">
            <a:r>
              <a:t>来源：https://pan.sjtu.edu.cn/pandoc/file-collection.html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当前流水线自动评分只覆盖数值/位级正确性。Lab 1 保留 50 分制及单个错误半分规则；Lab 2 保留 100 分制。未决收件与环境问题保留空分待处理。教师统一处理反馈，不在学生共享目录发布全班成绩。依据课程 grader/README.md 与 docs/作业提交说明.md。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若 cmake 不存在或版本过旧，在分配的计算节点上 module avail cmake，再 module load 实际存在的完整模块名，随后验证 cmake --version。旧 CMake 缓存必须使用新的构建目录，不能跨本地和集群复用。当前 labs/lab2-matrix/scripts/submit.sh 仅是 run_all.sh 的包装，不调用 sbatch，因此不能直接在登录节点使用。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https://docs.hpc.sjtu.edu.cn/job/kos.html</a:t>
            </a:r>
          </a:p>
          <a:p xmlns:a="http://schemas.openxmlformats.org/drawingml/2006/main">
            <a:r>
              <a:t>课程仓库 labs/lab1-datalab/README.md、Makefile、bits.c（2026-09-27）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课堂练习只运行小规模测试。学生尚未实现的函数允许输出失败，但必须能定位日志中的具体函数。下载结果后让学生说明本地、登录节点、计算节点的职责。官方文档和实际配置可能变化，软件版本与队列状态以当前 module avail、sinfo 和 scontrol 输出为准。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https://docs.hpc.sjtu.edu.cn/transport/transportsolution.html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https://docs.hpc.sjtu.edu.cn/job/partition.html</a:t>
            </a:r>
          </a:p>
          <a:p xmlns:a="http://schemas.openxmlformats.org/drawingml/2006/main">
            <a:r>
              <a:t>https://docs.hpc.sjtu.edu.cn/job/kos.html</a:t>
            </a:r>
          </a:p>
          <a:p xmlns:a="http://schemas.openxmlformats.org/drawingml/2006/main">
            <a:r>
              <a:t>课程仓库 labs/lab1-datalab/README.md、Makefile、bits.c（2026-09-27）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77d3c35c21476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4ae140eaa7c4248" /><Relationship Type="http://schemas.openxmlformats.org/officeDocument/2006/relationships/slideLayout" Target="/ppt/slideLayouts/slideLayout1.xml" Id="Rc865df411be44c1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865df411be44c1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fe36046dd342b1" /><Relationship Type="http://schemas.openxmlformats.org/officeDocument/2006/relationships/notesSlide" Target="/ppt/notesSlides/notesSlide1.xml" Id="R83e72f15fcbb478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03cd79cda34c9d" /><Relationship Type="http://schemas.openxmlformats.org/officeDocument/2006/relationships/notesSlide" Target="/ppt/notesSlides/notesSlide2.xml" Id="R053153ce4fef41c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085411e0a64de6" /><Relationship Type="http://schemas.openxmlformats.org/officeDocument/2006/relationships/notesSlide" Target="/ppt/notesSlides/notesSlide3.xml" Id="R911d8ab18cb945d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98bafca0774a3d" /><Relationship Type="http://schemas.openxmlformats.org/officeDocument/2006/relationships/notesSlide" Target="/ppt/notesSlides/notesSlide4.xml" Id="Rf66b2345c2c2409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3db3df0a674411" /><Relationship Type="http://schemas.openxmlformats.org/officeDocument/2006/relationships/notesSlide" Target="/ppt/notesSlides/notesSlide5.xml" Id="Rd70a0b7cd1e1452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ddfeb483de4121" /><Relationship Type="http://schemas.openxmlformats.org/officeDocument/2006/relationships/notesSlide" Target="/ppt/notesSlides/notesSlide6.xml" Id="Rfdc5bca01fac468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57f116972b495c" /><Relationship Type="http://schemas.openxmlformats.org/officeDocument/2006/relationships/notesSlide" Target="/ppt/notesSlides/notesSlide7.xml" Id="R39fa5c0d7bcf430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47986f26784f4f" /><Relationship Type="http://schemas.openxmlformats.org/officeDocument/2006/relationships/notesSlide" Target="/ppt/notesSlides/notesSlide8.xml" Id="R560562c8a62d498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db098eec51491d" /><Relationship Type="http://schemas.openxmlformats.org/officeDocument/2006/relationships/notesSlide" Target="/ppt/notesSlides/notesSlide9.xml" Id="Rf5b8f370f589407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1c8fcdc1dc4971" /><Relationship Type="http://schemas.openxmlformats.org/officeDocument/2006/relationships/notesSlide" Target="/ppt/notesSlides/notesSlide10.xml" Id="R0c7d5ae1c93547f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914610d9c84c0a" /><Relationship Type="http://schemas.openxmlformats.org/officeDocument/2006/relationships/notesSlide" Target="/ppt/notesSlides/notesSlide11.xml" Id="Rff88e24216a247f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8a5c670d104f6d" /><Relationship Type="http://schemas.openxmlformats.org/officeDocument/2006/relationships/notesSlide" Target="/ppt/notesSlides/notesSlide12.xml" Id="R09a3f98fda25429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671abe75414c6f" /><Relationship Type="http://schemas.openxmlformats.org/officeDocument/2006/relationships/notesSlide" Target="/ppt/notesSlides/notesSlide13.xml" Id="R785e1b09819a4fd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6f8454d1e24e27" /><Relationship Type="http://schemas.openxmlformats.org/officeDocument/2006/relationships/notesSlide" Target="/ppt/notesSlides/notesSlide14.xml" Id="R8250e590ffe549f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d7c26178d94e46" /><Relationship Type="http://schemas.openxmlformats.org/officeDocument/2006/relationships/notesSlide" Target="/ppt/notesSlides/notesSlide15.xml" Id="R56a42580a4244f2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2171f4c37d4519" /><Relationship Type="http://schemas.openxmlformats.org/officeDocument/2006/relationships/notesSlide" Target="/ppt/notesSlides/notesSlide16.xml" Id="R5a4ba9f07ab64f6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087b654f7246cd" /><Relationship Type="http://schemas.openxmlformats.org/officeDocument/2006/relationships/notesSlide" Target="/ppt/notesSlides/notesSlide17.xml" Id="Rf1c0f4140fef415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85e1c7b5964e83" /><Relationship Type="http://schemas.openxmlformats.org/officeDocument/2006/relationships/notesSlide" Target="/ppt/notesSlides/notesSlide18.xml" Id="R4d03a46d4a2e453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74f6149ec64b2a" /><Relationship Type="http://schemas.openxmlformats.org/officeDocument/2006/relationships/notesSlide" Target="/ppt/notesSlides/notesSlide19.xml" Id="Re5e89cce4fd04cd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c99ca531ad465d" /><Relationship Type="http://schemas.openxmlformats.org/officeDocument/2006/relationships/notesSlide" Target="/ppt/notesSlides/notesSlide20.xml" Id="Rd3b34d9105ca4a61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1736e5944e431a" /><Relationship Type="http://schemas.openxmlformats.org/officeDocument/2006/relationships/notesSlide" Target="/ppt/notesSlides/notesSlide21.xml" Id="Rd61cf1505b74463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1dbc2ece1b4f22" /><Relationship Type="http://schemas.openxmlformats.org/officeDocument/2006/relationships/notesSlide" Target="/ppt/notesSlides/notesSlide22.xml" Id="R9a43bc7f085e461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d5edefc1ff46c5" /><Relationship Type="http://schemas.openxmlformats.org/officeDocument/2006/relationships/notesSlide" Target="/ppt/notesSlides/notesSlide23.xml" Id="R2fc137c0beab4a4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2913a1099c4976" /><Relationship Type="http://schemas.openxmlformats.org/officeDocument/2006/relationships/notesSlide" Target="/ppt/notesSlides/notesSlide24.xml" Id="Rf6e5207e5f00416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2ae9d9738d49ff" /><Relationship Type="http://schemas.openxmlformats.org/officeDocument/2006/relationships/notesSlide" Target="/ppt/notesSlides/notesSlide25.xml" Id="Rdeba7ef47d59458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6135e862684abf" /><Relationship Type="http://schemas.openxmlformats.org/officeDocument/2006/relationships/notesSlide" Target="/ppt/notesSlides/notesSlide26.xml" Id="R09aacab471f043a3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edd647f40e4116" /><Relationship Type="http://schemas.openxmlformats.org/officeDocument/2006/relationships/notesSlide" Target="/ppt/notesSlides/notesSlide27.xml" Id="Rea83d5357ecf4d38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3e6f285cfa4075" /><Relationship Type="http://schemas.openxmlformats.org/officeDocument/2006/relationships/notesSlide" Target="/ppt/notesSlides/notesSlide28.xml" Id="R051888f82b1e45c9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50aabce7f34a3f" /><Relationship Type="http://schemas.openxmlformats.org/officeDocument/2006/relationships/hyperlink" Target="https://docs.hpc.sjtu.edu.cn/login/sshlogin.html" TargetMode="External" Id="R92fff7d3cf094eb6" /><Relationship Type="http://schemas.openxmlformats.org/officeDocument/2006/relationships/hyperlink" Target="https://docs.hpc.sjtu.edu.cn/job/slurm.html" TargetMode="External" Id="Ra8c61309f03c4527" /><Relationship Type="http://schemas.openxmlformats.org/officeDocument/2006/relationships/hyperlink" Target="https://docs.hpc.sjtu.edu.cn/transport/transportsolution.html" TargetMode="External" Id="R202ab1f9ec454f52" /><Relationship Type="http://schemas.openxmlformats.org/officeDocument/2006/relationships/notesSlide" Target="/ppt/notesSlides/notesSlide29.xml" Id="Re7a64397756d46f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7E11AA-16BF-4B07-9424-186276CC8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00250"/>
            <a:ext cx="12954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交我算平台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8EB3C5-E753-4E42-AC5F-492EA4FF6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33725"/>
            <a:ext cx="1323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运行指南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509EDD-CF67-4208-A430-22EBBD891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0"/>
            <a:ext cx="1143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rPr>
              <a:t>π 2.0 集群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657BED-9824-420F-9E9E-7F38E2083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81650"/>
            <a:ext cx="1143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DataLab 与 MatrixLab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800642-7ED1-4C7E-AB7A-90167418B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486650"/>
            <a:ext cx="12858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CECC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B7CECC"/>
                </a:solidFill>
                <a:latin typeface="Hiragino Sans GB"/>
                <a:ea typeface="Hiragino Sans GB"/>
                <a:cs typeface="Hiragino Sans GB"/>
              </a:rPr>
              <a:t>学生上手教程　2026 年 9 月 · 云盘提交版</a:t>
            </a:r>
          </a:p>
        </p:txBody>
      </p:sp>
    </p:spTree>
    <p:extLst>
      <p:ext uri="{BB962C8B-B14F-4D97-AF65-F5344CB8AC3E}">
        <p14:creationId xmlns:p14="http://schemas.microsoft.com/office/powerpoint/2010/main" val="14866681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864DFF-97F5-4DC2-9259-17655D5F9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一次实验的完整流程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157980-2E95-4A25-BFA1-50A82769C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876300" y="1905000"/>
          <a:ext xmlns:a="http://schemas.openxmlformats.org/drawingml/2006/main" cx="13335000" cy="4857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6000750"/>
                <a:gridCol w="4857750"/>
              </a:tblGrid>
              <a:tr h="9715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位置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执行的操作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常用命令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</a:tr>
              <a:tr h="9715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本地电脑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云盘下载与提交、源码传输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浏览器、ssh、scp / rsync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9715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登录节点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查询队列、申请资源、提交作业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sinfo、srun、sbatch、squeue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9715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计算节点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编译、正确性检查、性能测量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make、cmake、实验程序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9715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数据节点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通过本地客户端传输文件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data.hpc.sjtu.edu.cn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46B664-C546-491C-A7DA-8C0EDE7EE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866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登录节点禁止运行计算密集任务。编译与实验统一放入 Slurm 分配的计算节点。</a:t>
            </a:r>
          </a:p>
        </p:txBody>
      </p:sp>
    </p:spTree>
    <p:extLst>
      <p:ext uri="{BB962C8B-B14F-4D97-AF65-F5344CB8AC3E}">
        <p14:creationId xmlns:p14="http://schemas.microsoft.com/office/powerpoint/2010/main" val="20118855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登录 π 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B9B1E8-0A26-4E7E-9FBD-B0E2555C9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在本地终端执行，your_username 替换为本人超算用户名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CFEF93-934B-4D01-9AC2-2312D5DF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14625"/>
            <a:ext cx="1343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-V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2BEB3C-1B69-4AD7-8964-2838E6DA0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24225"/>
            <a:ext cx="1343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your_username@pilogin.hpc.sjtu.edu.cn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EB50A4-4CA3-4266-9F3F-5910109D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完成后面的本地 SSH 配置后，可以简写为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3D5CA9-B242-4F6B-9A39-5ABB485F6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7800"/>
            <a:ext cx="1343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7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jiaowosuan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2E6DC5-2158-444A-8B32-E35DBB42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19137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教学账号须在校内网络登录；jiaowosuan 不是平台统一提供的命令。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本地 SSH 配置文件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04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BEE83DAE-2A95-48B3-B33B-42D13BF9C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macOS / Linux：在自己的电脑上编辑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E7EE85EA-6FC9-4DEA-99A6-CE2BB0F1D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7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~/.ssh/config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5F8F9D9D-939D-4E85-B927-4277AC200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895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~/.ssh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A5DB860A-F3D0-4315-B5D2-977D6ECC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touch ~/.ssh/config &amp;&amp; nano ~/.ssh/config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2A8CF849-5ECA-4830-8F2F-24E04F18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100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Windows：在 PowerShell 中打开记事本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95FF3CAC-BD1B-4755-8305-6FA628DA9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958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New-Item -ItemType Directory -Force "$env:USERPROFILE\.ssh"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F2F2AA3E-847A-47F2-9C32-79C7AF555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7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notepad "$env:USERPROFILE\.ssh\config"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87352598-E4D0-4F1F-8A5B-4C610E42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追加或修改自己的 Host 条目；文件名为 config，无 .txt 后缀。完整步骤见讲义。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登录与文件传输的 SSH 别名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05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096AB81F-76E9-4789-8542-C7A5F6FA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登录：编辑文件、提交作业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847FF308-C205-4617-8165-3AED7915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6212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传输：上传源码、下载结果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48CAC5A1-6C4C-40BA-8406-3E886E70A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Host jiaowosuan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DFB9BFD2-9BAB-440C-920C-DE5F0227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HostName pilogin.hpc.sjtu.edu.cn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9802413B-0533-4ABB-823F-CA84010A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User your_username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F2F10397-91F6-4E8F-BC61-3B2803F5D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95775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Port 22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7FE4086A-1F70-484B-9C52-D0CA91A7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3870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ServerAliveInterval 60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E188AABB-FC94-4BFA-9441-148220DDC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81625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ServerAliveCountMax 3</a:t>
            </a:r>
          </a:p>
        </p:txBody>
      </p:sp>
      <p:sp>
        <p:nvSpPr>
          <p:cNvPr id="18" name="content-10">
            <a:extLst xmlns:a="http://schemas.openxmlformats.org/drawingml/2006/main">
              <a:ext uri="{FF2B5EF4-FFF2-40B4-BE49-F238E27FC236}">
                <a16:creationId xmlns:a16="http://schemas.microsoft.com/office/drawing/2014/main" id="{7E495652-DAAB-46D3-B128-E25C55AE6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66700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Host jiaowosuan-data</a:t>
            </a:r>
          </a:p>
        </p:txBody>
      </p:sp>
      <p:sp>
        <p:nvSpPr>
          <p:cNvPr id="19" name="content-11">
            <a:extLst xmlns:a="http://schemas.openxmlformats.org/drawingml/2006/main">
              <a:ext uri="{FF2B5EF4-FFF2-40B4-BE49-F238E27FC236}">
                <a16:creationId xmlns:a16="http://schemas.microsoft.com/office/drawing/2014/main" id="{D2BA50A0-4924-43CB-A2F5-C01E0F334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0992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HostName data.hpc.sjtu.edu.cn</a:t>
            </a:r>
          </a:p>
        </p:txBody>
      </p:sp>
      <p:sp>
        <p:nvSpPr>
          <p:cNvPr id="20" name="content-12">
            <a:extLst xmlns:a="http://schemas.openxmlformats.org/drawingml/2006/main">
              <a:ext uri="{FF2B5EF4-FFF2-40B4-BE49-F238E27FC236}">
                <a16:creationId xmlns:a16="http://schemas.microsoft.com/office/drawing/2014/main" id="{2D8B9A71-D1ED-4BAC-BB33-2346D14EF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5285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User your_username</a:t>
            </a:r>
          </a:p>
        </p:txBody>
      </p:sp>
      <p:sp>
        <p:nvSpPr>
          <p:cNvPr id="21" name="content-13">
            <a:extLst xmlns:a="http://schemas.openxmlformats.org/drawingml/2006/main">
              <a:ext uri="{FF2B5EF4-FFF2-40B4-BE49-F238E27FC236}">
                <a16:creationId xmlns:a16="http://schemas.microsoft.com/office/drawing/2014/main" id="{622D84D2-73DC-4A95-84C3-BCC6C6029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29577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Port 22</a:t>
            </a:r>
          </a:p>
        </p:txBody>
      </p:sp>
      <p:sp>
        <p:nvSpPr>
          <p:cNvPr id="22" name="content-14">
            <a:extLst xmlns:a="http://schemas.openxmlformats.org/drawingml/2006/main">
              <a:ext uri="{FF2B5EF4-FFF2-40B4-BE49-F238E27FC236}">
                <a16:creationId xmlns:a16="http://schemas.microsoft.com/office/drawing/2014/main" id="{E75D4AEC-CD9F-46F6-9789-B849C349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83870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ServerAliveInterval 60</a:t>
            </a:r>
          </a:p>
        </p:txBody>
      </p:sp>
      <p:sp>
        <p:nvSpPr>
          <p:cNvPr id="23" name="content-15">
            <a:extLst xmlns:a="http://schemas.openxmlformats.org/drawingml/2006/main">
              <a:ext uri="{FF2B5EF4-FFF2-40B4-BE49-F238E27FC236}">
                <a16:creationId xmlns:a16="http://schemas.microsoft.com/office/drawing/2014/main" id="{3435BA7E-A1BE-4741-BBB0-392B3DCF7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38162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ServerAliveCountMax 3</a:t>
            </a:r>
          </a:p>
        </p:txBody>
      </p:sp>
      <p:sp>
        <p:nvSpPr>
          <p:cNvPr id="24" name="content-16">
            <a:extLst xmlns:a="http://schemas.openxmlformats.org/drawingml/2006/main">
              <a:ext uri="{FF2B5EF4-FFF2-40B4-BE49-F238E27FC236}">
                <a16:creationId xmlns:a16="http://schemas.microsoft.com/office/drawing/2014/main" id="{09CBA0C5-90E9-42D9-BC82-DF52FC686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388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两处 your_username 都替换为本人超算用户名</a:t>
            </a:r>
          </a:p>
        </p:txBody>
      </p:sp>
      <p:sp>
        <p:nvSpPr>
          <p:cNvPr id="25" name="content-17">
            <a:extLst xmlns:a="http://schemas.openxmlformats.org/drawingml/2006/main">
              <a:ext uri="{FF2B5EF4-FFF2-40B4-BE49-F238E27FC236}">
                <a16:creationId xmlns:a16="http://schemas.microsoft.com/office/drawing/2014/main" id="{4A1D4BB2-2275-426A-93F6-4CD55CD79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保存后在本地运行 ssh jiaowosuan。别名简化命令，认证仍按平台要求完成。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学生免密登录：申请证书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06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B8A01086-6CB9-40E6-803E-55C256852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适用：账号已开放证书申请，并能正常使用密码登录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7E2E5067-8024-4B71-861B-417A8CF6A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1  在本地浏览器打开超算管理系统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F81AABA0-2008-4ADA-80CC-B50C19AE0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89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https://my.hpc.sjtu.edu.cn/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7E43AD0A-EDA9-4924-B597-FD0E705BD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2  核对登录账号，按提示完成 jAccount / 邮箱绑定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51689C4C-F8EF-42AC-9A41-0238D9BF6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67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3  在证书申请中选择“一键生成”或提交已有公钥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6A6BF024-7340-42F7-9657-3EC677A59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29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4  按页面提示完成授权，一键生成后下载私钥与证书两个文件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F7D0A37E-CA0E-455F-A292-6537AC806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91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使用已有密钥时，只提交公钥（.pub），保留原私钥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F6A1678C-44DC-4AA3-A04E-95E708753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申请权限以实际账号为准。若无入口或申请失败，继续使用密码登录并联系助教。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下载文件移入 .ssh：macOS / Linux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07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56F5F777-E3D7-4B0F-BC54-04DA39583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668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一键生成的两个文件保存在本地 Downloads 下载目录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C5EA82D8-1A88-4930-A98C-205BCE66F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38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id_ed25519 是私钥，id_ed25519-cert.pub 是证书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3F0414F7-D087-4054-96A0-E7983532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908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~/.ssh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9F89B84E-A135-434B-A2AC-9A35F4F7E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338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mv -i ~/Downloads/id_ed25519 ~/.ssh/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FA96A641-E2F0-41E5-A9B9-3FE936816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767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mv -i ~/Downloads/id_ed25519-cert.pub ~/.ssh/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0E3DE64D-31DE-4FE1-B856-C2F2812F4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chmod 700 ~/.ssh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9C913EE7-8565-4E25-9A0C-BF8DF4C5F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625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chmod 600 ~/.ssh/id_ed25519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FAEC08BF-6313-4138-A75D-BD3E93164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34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完成后，两个文件都位于自己电脑的 ~/.ssh/ 目录下</a:t>
            </a:r>
          </a:p>
        </p:txBody>
      </p:sp>
      <p:sp>
        <p:nvSpPr>
          <p:cNvPr id="18" name="content-10">
            <a:extLst xmlns:a="http://schemas.openxmlformats.org/drawingml/2006/main">
              <a:ext uri="{FF2B5EF4-FFF2-40B4-BE49-F238E27FC236}">
                <a16:creationId xmlns:a16="http://schemas.microsoft.com/office/drawing/2014/main" id="{D47DFAD2-0822-4915-AA8D-D5317A609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按实际文件名和下载路径替换。若提示覆盖同名文件，输入 n，先核对原文件用途。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下载文件移入 .ssh：Windows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08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01AC2062-B236-49D8-811A-25ED0D66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在自己电脑的 PowerShell 中执行，先切换到本地用户目录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49E43EB5-1D64-454B-8A86-B3015A04C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146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Set-Location "$env:USERPROFILE"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AFD1D581-9EFA-4259-8B8A-6B950D3FE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New-Item -ItemType Directory -Force .ssh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CAC085F3-2F9D-475B-A8C6-5BA6296D8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43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Move-Item .\Downloads\id_ed25519 .\.ssh\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1012A7A3-5798-4B99-AC02-992A05BC8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577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Move-Item .\Downloads\id_ed25519-cert.pub .\.ssh\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BF0CB122-FEF4-46C1-9CDB-56ABD55AD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91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完成后，私钥和证书位于 C:/Users/你的用户名/.ssh/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7DD802BF-3496-44BA-AF75-EFD818022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按实际文件名和下载路径替换。移动报同名冲突时先核对，保留已有文件。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免密登录的 SSH config 配置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09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6A414BE7-06C2-45D8-947D-869D7ABCB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两个文件移入 .ssh 后，编辑自己电脑上的 SSH config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BC5C7C3C-7A72-4554-8648-E5BB3C895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24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 jiaowosuan 和 jiaowosuan-data 的 Host 段内分别追加：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9BDE3B06-5EFC-4F1F-8660-D903800F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IdentityFile ~/.ssh/id_ed25519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39FD90ED-F0F7-4972-84C6-71CC5666C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148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CertificateFile ~/.ssh/id_ed25519-cert.pub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14C6ADBE-7C1E-481B-A3CE-C5CB3EE87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053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IdentitiesOnly yes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F9A0683C-0BA2-4DFC-8A9C-21A2C75E8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197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IdentityFile 指向私钥，CertificateFile 指向匹配的证书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B7DBC82C-CCBC-4298-8729-ED208C580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34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IdentitiesOnly 避免额外尝试 ssh-agent 中的其他密钥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CB0ADB5B-8BD3-4172-AB9B-CB65941AC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保留原有 HostName 和 User，使用实际文件名。Windows 的 config 同样可用 ~/.ssh/ 路径。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日常登录与可选验证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10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0DEEA27B-BDCA-439A-8577-5F67A996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配置完成后，在本地终端直接登录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6E919AFB-A4D5-4F3C-8854-50728763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288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3225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jiaowosuan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24387E3A-46AF-48B4-8BF5-6E2C79752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81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VS Code 也选择同一别名。私钥若设有 passphrase，仍需解锁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89767EFE-2518-401C-85B1-AB14C6D48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29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可选：仅允许公钥类认证（含证书），避免回退到账号密码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08CB2A09-519C-487E-8775-28CD67D78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006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-o PreferredAuthentications=publickey jiaowosuan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955677D6-184E-41AF-93B9-9AFA31C2F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626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-o 临时传入选项，只影响本次连接，日常登录无需添加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CD599FE5-5D8A-455F-BC9B-DD4A2D02A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29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续签时更新证书；若重新一键生成，私钥与证书都要更新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1E708BCC-609F-4176-BE5E-F537EA338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若普通登录仍要求账号密码，检查路径、账号和证书有效期。教学账号仍需校内网络登录。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2D8CD2-C378-452E-BD65-A32051B5A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从云盘获取并上传源码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65AA1C-7538-452B-A075-B36D60CDE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11</a:t>
            </a:r>
          </a:p>
        </p:txBody>
      </p:sp>
      <p:sp>
        <p:nvSpPr>
          <p:cNvPr id="14" name="content-2">
            <a:extLst xmlns:a="http://schemas.openxmlformats.org/drawingml/2006/main">
              <a:ext uri="{FF2B5EF4-FFF2-40B4-BE49-F238E27FC236}">
                <a16:creationId xmlns:a16="http://schemas.microsoft.com/office/drawing/2014/main" id="{3CD37B2F-FD3B-43C0-AF11-E2F282B23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浏览器下载教师发布的学生包，解压后将根目录命名为 course-labs</a:t>
            </a:r>
          </a:p>
        </p:txBody>
      </p:sp>
      <p:sp>
        <p:nvSpPr>
          <p:cNvPr id="15" name="content-3">
            <a:extLst xmlns:a="http://schemas.openxmlformats.org/drawingml/2006/main">
              <a:ext uri="{FF2B5EF4-FFF2-40B4-BE49-F238E27FC236}">
                <a16:creationId xmlns:a16="http://schemas.microsoft.com/office/drawing/2014/main" id="{D62A69DB-A711-41DD-99E3-FB2F155CD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本地终端：在 course-labs 的上一级目录执行</a:t>
            </a:r>
          </a:p>
        </p:txBody>
      </p:sp>
      <p:sp>
        <p:nvSpPr>
          <p:cNvPr id="16" name="content-4">
            <a:extLst xmlns:a="http://schemas.openxmlformats.org/drawingml/2006/main">
              <a:ext uri="{FF2B5EF4-FFF2-40B4-BE49-F238E27FC236}">
                <a16:creationId xmlns:a16="http://schemas.microsoft.com/office/drawing/2014/main" id="{0D69CE6B-B379-4948-A86D-27F98550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-r ./course-labs jiaowosuan-data:</a:t>
            </a:r>
          </a:p>
        </p:txBody>
      </p:sp>
      <p:sp>
        <p:nvSpPr>
          <p:cNvPr id="17" name="content-5">
            <a:extLst xmlns:a="http://schemas.openxmlformats.org/drawingml/2006/main">
              <a:ext uri="{FF2B5EF4-FFF2-40B4-BE49-F238E27FC236}">
                <a16:creationId xmlns:a16="http://schemas.microsoft.com/office/drawing/2014/main" id="{EAA7F502-16FD-4D2E-8D0C-602787B1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jiaowosuan</a:t>
            </a:r>
          </a:p>
        </p:txBody>
      </p:sp>
      <p:sp>
        <p:nvSpPr>
          <p:cNvPr id="18" name="content-6">
            <a:extLst xmlns:a="http://schemas.openxmlformats.org/drawingml/2006/main">
              <a:ext uri="{FF2B5EF4-FFF2-40B4-BE49-F238E27FC236}">
                <a16:creationId xmlns:a16="http://schemas.microsoft.com/office/drawing/2014/main" id="{1A2AD3A8-95AB-4F39-8AE6-9E8ECE9C9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</a:t>
            </a:r>
          </a:p>
        </p:txBody>
      </p:sp>
      <p:sp>
        <p:nvSpPr>
          <p:cNvPr id="19" name="content-7">
            <a:extLst xmlns:a="http://schemas.openxmlformats.org/drawingml/2006/main">
              <a:ext uri="{FF2B5EF4-FFF2-40B4-BE49-F238E27FC236}">
                <a16:creationId xmlns:a16="http://schemas.microsoft.com/office/drawing/2014/main" id="{E3011C2E-F30F-4713-A05E-1E742796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2925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ls labs</a:t>
            </a:r>
          </a:p>
        </p:txBody>
      </p:sp>
      <p:sp>
        <p:nvSpPr>
          <p:cNvPr id="20" name="content-8">
            <a:extLst xmlns:a="http://schemas.openxmlformats.org/drawingml/2006/main">
              <a:ext uri="{FF2B5EF4-FFF2-40B4-BE49-F238E27FC236}">
                <a16:creationId xmlns:a16="http://schemas.microsoft.com/office/drawing/2014/main" id="{17AB631B-C4A0-4DD9-BAB1-9AF59624C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后续更新先保存远端修改，再合并新版本。分享页面下载到本地后，通过数据节点上传。</a:t>
            </a:r>
          </a:p>
        </p:txBody>
      </p:sp>
    </p:spTree>
    <p:extLst>
      <p:ext uri="{BB962C8B-B14F-4D97-AF65-F5344CB8AC3E}">
        <p14:creationId xmlns:p14="http://schemas.microsoft.com/office/powerpoint/2010/main" val="152342540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VS Code 连接与编辑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12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609A6770-9ABC-4A99-908D-A58F5C357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5737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1  在本地安装 Microsoft Remote - SSH 扩展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F6AC5F6B-C396-4397-AC0E-98B406E1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2892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2  按 F1，搜索 Remote-SSH: Connect to Host...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5EA8E908-6F4A-451C-99F3-EAD1E96F7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0047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3  选择 jiaowosuan，远端系统选择 Linux，完成认证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E4B232E0-1C31-447C-9365-51793F345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7202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4  打开远端 ~/course-labs，确认左下角的 SSH 主机名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E3C73381-BF7D-462B-A43C-BB822C080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4357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5  保存源码后，在集成终端先申请计算资源，再编译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7BF07F11-E49B-460E-98AA-7ECD07BD9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使用期间保持一个普通 ssh jiaowosuan 会话打开，满足平台的活跃会话要求。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VS Code 首次连接与排错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13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5CCE61FE-A847-416B-9481-60FAAB306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连接卡住时，查看“输出”中的 Remote - SSH 日志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C137CDE4-D6A2-49AC-BC00-0A189740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193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可在本地“用户设置(JSON)”中合并以下字段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8B010679-3E7B-438D-B6F0-6C7495E21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76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{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E5703089-D1CE-4E4B-B6D2-9455DFE52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48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"remote.SSH.showLoginTerminal": true,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EAFF8F4D-C17D-436D-AEEA-5FBF852D5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9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"remote.SSH.localServerDownload": "always"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4824C8D1-448A-4D18-A24C-4E4879B7F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91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4F7B3432-35A0-40A7-A3D6-D83F099A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388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显示登录提示；远端下载失败时，由本地下载 Server 再传入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8D169129-2695-4378-85CA-25A48C8A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本地需要能访问微软下载服务。SSH config 与 VS Code 用户设置均独立于仓库。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8E6EC2-21DA-414B-AF6E-2782ACA9D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申请一个计算核心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99D959-7B71-430B-BCF8-02A54041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E5EA2E-692B-4837-A4E3-AE2A6777D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8120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088F77-E9A0-4DE3-8BCB-D7878E65A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860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-p cpu -N 1 -n 1 -c 1 -t 00:20:00 \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0A2566-3C56-4F19-AC4C-D066E5A3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--cpu-bind=cores --pty /bin/bash -l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C9D7A4-D17D-4381-A1E8-8356CADB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9567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9F30DC-12EB-4A76-8418-ECAEF0FF1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671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hostname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1BFAE1-8FB9-4E50-AB14-10F440F2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gcc --version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414224-07BF-41F8-BB55-F196F21F8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864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--version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2040BB-3DB9-464D-8B2B-57338843F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19137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分配后仅当前终端进入计算节点；新终端先核对 hostname。结束时输入 exit。</a:t>
            </a:r>
          </a:p>
        </p:txBody>
      </p:sp>
      <p:sp>
        <p:nvSpPr>
          <p:cNvPr id="12" name="audit-10">
            <a:extLst xmlns:a="http://schemas.openxmlformats.org/drawingml/2006/main">
              <a:ext uri="{FF2B5EF4-FFF2-40B4-BE49-F238E27FC236}">
                <a16:creationId xmlns:a16="http://schemas.microsoft.com/office/drawing/2014/main" id="{912E15DB-3987-4923-BA98-C7A06A2B2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76775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>
                <a:solidFill>
                  <a:srgbClr val="B7EDDB"/>
                </a:solidFill>
                <a:latin typeface="Menlo"/>
                <a:ea typeface="Menlo"/>
                <a:cs typeface="Menlo"/>
              </a:rPr>
              <a:t>module avail cmake</a:t>
            </a:r>
          </a:p>
        </p:txBody>
      </p:sp>
      <p:sp>
        <p:nvSpPr>
          <p:cNvPr id="13" name="audit-11">
            <a:extLst xmlns:a="http://schemas.openxmlformats.org/drawingml/2006/main">
              <a:ext uri="{FF2B5EF4-FFF2-40B4-BE49-F238E27FC236}">
                <a16:creationId xmlns:a16="http://schemas.microsoft.com/office/drawing/2014/main" id="{FAE76524-301C-468D-BF1E-C00B2176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81600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>
                <a:solidFill>
                  <a:srgbClr val="B7EDDB"/>
                </a:solidFill>
                <a:latin typeface="Menlo"/>
                <a:ea typeface="Menlo"/>
                <a:cs typeface="Menlo"/>
              </a:rPr>
              <a:t>module load cmake</a:t>
            </a:r>
          </a:p>
        </p:txBody>
      </p:sp>
      <p:sp>
        <p:nvSpPr>
          <p:cNvPr id="14" name="audit-12">
            <a:extLst xmlns:a="http://schemas.openxmlformats.org/drawingml/2006/main">
              <a:ext uri="{FF2B5EF4-FFF2-40B4-BE49-F238E27FC236}">
                <a16:creationId xmlns:a16="http://schemas.microsoft.com/office/drawing/2014/main" id="{17AE4FE9-BD97-443A-B9D8-AC3F09B97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477000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加载默认 CMake 模块并确认版本 ≥ 3.16；模块名称以实际查询为准</a:t>
            </a:r>
          </a:p>
        </p:txBody>
      </p:sp>
    </p:spTree>
    <p:extLst>
      <p:ext uri="{BB962C8B-B14F-4D97-AF65-F5344CB8AC3E}">
        <p14:creationId xmlns:p14="http://schemas.microsoft.com/office/powerpoint/2010/main" val="174516563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D724B1-87ED-4A13-A3F4-C120F4756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1：DataLab 编译与检查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2D2784-7D4D-4795-BB5B-E9DE9E978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9A82E2-1865-4C13-A72E-A27ED55FE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~/course-labs/labs/lab1-datalab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8C415D-F64F-4EC7-8ADD-7D1D87083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1460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 -j1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F4F5BE-F2EA-406A-9983-2D488C201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 selftest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E5022B-5E9F-4D7C-A317-953318013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4330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89E490-3A2D-4E07-9F9F-804C507D8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./btest -f bitCount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BF4072-5926-4F7D-858E-C3481C0D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7200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 grade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358353-C40A-402E-A3AD-835C7F76A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0070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./dlc bits.c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4B5A37-8EFE-4F06-9CAA-F6BE900DD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19137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先填写 bits.c 的姓名和学号。btest 查正确性，dlc 只检查其支持的编码规则。</a:t>
            </a:r>
          </a:p>
        </p:txBody>
      </p:sp>
      <p:sp>
        <p:nvSpPr>
          <p:cNvPr id="12" name="audit-10">
            <a:extLst xmlns:a="http://schemas.openxmlformats.org/drawingml/2006/main">
              <a:ext uri="{FF2B5EF4-FFF2-40B4-BE49-F238E27FC236}">
                <a16:creationId xmlns:a16="http://schemas.microsoft.com/office/drawing/2014/main" id="{322707AA-3AD4-470A-93F8-948D9F701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86350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>
                <a:solidFill>
                  <a:srgbClr val="B7EDDB"/>
                </a:solidFill>
                <a:latin typeface="Menlo"/>
                <a:ea typeface="Menlo"/>
                <a:cs typeface="Menlo"/>
              </a:rPr>
              <a:t>chmod u+x ./dlc</a:t>
            </a:r>
          </a:p>
        </p:txBody>
      </p:sp>
      <p:sp>
        <p:nvSpPr>
          <p:cNvPr id="13" name="audit-11">
            <a:extLst xmlns:a="http://schemas.openxmlformats.org/drawingml/2006/main">
              <a:ext uri="{FF2B5EF4-FFF2-40B4-BE49-F238E27FC236}">
                <a16:creationId xmlns:a16="http://schemas.microsoft.com/office/drawing/2014/main" id="{9DDAABF1-C846-4ABD-8CA2-9A79769A9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477000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selftest 的满分是框架自检结果；学生答案的得分看 make grade</a:t>
            </a:r>
          </a:p>
        </p:txBody>
      </p:sp>
    </p:spTree>
    <p:extLst>
      <p:ext uri="{BB962C8B-B14F-4D97-AF65-F5344CB8AC3E}">
        <p14:creationId xmlns:p14="http://schemas.microsoft.com/office/powerpoint/2010/main" val="163420253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40FD5F-39E6-4985-8D14-D992FD4B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2：MatrixLab 编译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E26C0E-36C8-4374-80D8-2A76944BB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80AA8B-605E-4FE7-8EC3-747760A6F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13430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~/course-labs/labs/lab2-matrix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76CC0D-CE18-42EC-9EDB-A80FDC3D8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90825"/>
            <a:ext cx="13430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-S . -B build-pi2 -DBUILD_TESTING=ON \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6ADF46-5637-4F54-BFD9-822503294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52800"/>
            <a:ext cx="13430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-DLAB_USE_SYSTEM_BLAS=OFF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1D0A58-7B73-4327-8EE1-872F113C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14775"/>
            <a:ext cx="13430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--build build-pi2 --parallel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D9C4AC-744B-4A47-9E8A-CC90853D4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76750"/>
            <a:ext cx="13430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(cd build-pi2 &amp;&amp; ctest --output-on-failure)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8CC32C-8FA1-4F4C-AA00-324DCAE38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0550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框架已提供参考 BLAS，无需安装额外数学库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31D08D-8C62-42CB-91B9-795597BAD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ctest 检查框架和参考 BLAS；学生矩阵乘法还需运行下一页的测试。</a:t>
            </a:r>
          </a:p>
        </p:txBody>
      </p:sp>
    </p:spTree>
    <p:extLst>
      <p:ext uri="{BB962C8B-B14F-4D97-AF65-F5344CB8AC3E}">
        <p14:creationId xmlns:p14="http://schemas.microsoft.com/office/powerpoint/2010/main" val="2139188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86E408-4221-4D15-90EE-41ABC8327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2：小矩阵正确性验证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5BF6B0-2386-463E-A36F-5588CDE87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B81390-D8EC-4DC0-A2B7-56D86E45E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62175"/>
            <a:ext cx="1343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./build-pi2/reg_reuse 6 12 24 48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18FD51-6D86-40D4-BC67-21248FC38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1343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./build-pi2/cache_part3 48 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1B5E1A-9B26-48C1-A6C2-6EC8F5867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48025"/>
            <a:ext cx="1343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AE8D44-1B67-48CF-AC6F-586F45092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90950"/>
            <a:ext cx="1343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for opt in 0 1 2 3; do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A6BAEB-7FCD-48A9-89BD-1CD453FBB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33875"/>
            <a:ext cx="1343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./build-pi2/cache_part4_o${opt} 48 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FB5CB8-A74C-457D-96B6-CA02FC1D1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76800"/>
            <a:ext cx="1343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059BCD-31A0-4D9A-B974-036865B6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2935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空模板出现 INVALID 是预期结果；实现函数后应全部通过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517ACE-DEF7-4E92-BDD2-A8BE10E6F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3247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小规模全部通过后，再提交较长的性能实验。</a:t>
            </a:r>
          </a:p>
        </p:txBody>
      </p:sp>
      <p:sp>
        <p:nvSpPr>
          <p:cNvPr id="12" name="audit-10">
            <a:extLst xmlns:a="http://schemas.openxmlformats.org/drawingml/2006/main">
              <a:ext uri="{FF2B5EF4-FFF2-40B4-BE49-F238E27FC236}">
                <a16:creationId xmlns:a16="http://schemas.microsoft.com/office/drawing/2014/main" id="{A9988DE3-DB5E-4E6F-B2FA-7A18D2351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19250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在计算节点的 ~/course-labs/labs/lab2-matrix 目录执行</a:t>
            </a:r>
          </a:p>
        </p:txBody>
      </p:sp>
    </p:spTree>
    <p:extLst>
      <p:ext uri="{BB962C8B-B14F-4D97-AF65-F5344CB8AC3E}">
        <p14:creationId xmlns:p14="http://schemas.microsoft.com/office/powerpoint/2010/main" val="106893996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ED6441-C350-47FB-B161-F73F25102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批处理作业的资源参数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5B9B74-C802-425C-8CCC-F267D57F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18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876300" y="1905000"/>
          <a:ext xmlns:a="http://schemas.openxmlformats.org/drawingml/2006/main" cx="13335000" cy="4914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19625"/>
                <a:gridCol w="3143250"/>
                <a:gridCol w="5572125"/>
              </a:tblGrid>
              <a:tr h="8191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参数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本教程取值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含义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</a:tr>
              <a:tr h="8191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-p / --partition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cpu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明确指定 π 2.0 CPU 队列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-N / --nodes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一个计算节点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8191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-n / --ntasks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一个进程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-c / --cpus-per-task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分配一个 CPU 核心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8191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-t / --time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00:20:00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小规模检查最多运行 20 分钟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C8EA9F-FB44-43A8-A20C-972A36D3E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当前 lab 使用串行 CPU 程序。正式实验按实测耗时调整时限。</a:t>
            </a:r>
          </a:p>
        </p:txBody>
      </p:sp>
    </p:spTree>
    <p:extLst>
      <p:ext uri="{BB962C8B-B14F-4D97-AF65-F5344CB8AC3E}">
        <p14:creationId xmlns:p14="http://schemas.microsoft.com/office/powerpoint/2010/main" val="115614462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25D593-FF83-4A87-9AE7-3DD0D9627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1 批处理脚本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653FC4-AC56-4EDD-BAC4-B45B5083D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95D150-0668-459C-AE77-9AA1DBA18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8592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保存为仓库根目录下的 lab1.slurm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AEA266-7F1B-4DFB-BE5D-D5EC42B5F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362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#!/bin/bash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5A557F-CAA0-4F6E-A37E-F1C4E566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3367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-J datalab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98FDD5-37A7-4110-93C9-5D6C6023F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3372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-p cpu -N 1 -n 1 -c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3816B4-D237-403A-9060-CC9E513F9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3377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-t 00:20:00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48A46E-7125-4647-92A9-656F30ED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3382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-o results/lab1-%j.log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BBD5BF-2939-4B86-91DB-5BE1B0DEF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3387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AFEF14-2324-4424-969E-E7D80BDA1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3392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set -euo pipefail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69E6C6-F290-4907-B336-5757222C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3397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"$SLURM_SUBMIT_DIR"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1B1DE3-20D9-43EE-BC91-861667484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3402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 -C labs/lab1-datalab -j1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3D62B4-888E-4A06-9749-BB11FC87B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3407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 -C labs/lab1-datalab selftest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19E713-9AE5-47A9-B3C0-0209ECA24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33412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 -C labs/lab1-datalab grade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09A94C-64E1-4003-BB13-C7880B401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3628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保存为 UTF-8 / LF；提交前先创建 results。未完成答案时 grade 会返回非零。</a:t>
            </a:r>
          </a:p>
        </p:txBody>
      </p:sp>
    </p:spTree>
    <p:extLst>
      <p:ext uri="{BB962C8B-B14F-4D97-AF65-F5344CB8AC3E}">
        <p14:creationId xmlns:p14="http://schemas.microsoft.com/office/powerpoint/2010/main" val="210641230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A64C19-1774-4F49-B25C-5CC322AB6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 批处理脚本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CF88A7-F97A-40C0-9E0D-FC882091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3C0FF3-0558-4BEB-ACE6-ED7FF2F14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7640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保存为 lab2.slurm（UTF-8 / LF）；左列接右列，完整版本见讲义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00B188-256B-4888-AA3F-FC71A3AE9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05075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#!/bin/bash -l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9A1864-9B0E-4933-88B2-3F76904E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52750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-J matrixlab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D376D3-336F-429A-B0A1-C72365128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00425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-p cpu -N 1 -n 1 -c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B067CF-98EB-4287-B58B-7D542029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-t 00:20:00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9E48A0-16A2-4440-BDD7-284C309DC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95775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-o results/lab2-%j.log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42565C-9C12-43F5-BA3D-D685A9518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43450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175A1D-A4C5-44FC-A3DF-ABD2C329E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91125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set -euo pipefail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EAF85C-4C1B-4DE4-92BD-D1D23204A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38800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"$SLURM_SUBMIT_DIR"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35A968-CF4F-4790-B9C8-D54FE8BC8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534150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B="build/pi2-lab2-$SLURM_JOB_ID"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858B7D-F7EE-49B1-BA07-C07742C5A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2505075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-S labs/lab2-matrix -B "$B" \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4483B2-D9A9-416A-BBD2-3671822F5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2952750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-DBUILD_TESTING=ON \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2E9BA5-C49E-4D19-881C-D096A9A3F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3400425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-DLAB_USE_SYSTEM_BLAS=OFF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B62359-7DF1-4B72-BDC9-1477374A2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3848100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--build "$B" --parallel 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772A91-9F87-41A5-814E-709C0364D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4295775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(cd "$B" &amp;&amp; ctest --output-on-failure)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D30D09-EADC-4F82-9C2F-DC571E639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4743450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--cpu-bind=cores "$B/reg_reuse" 6 12 24 48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EFDEFA-74FD-4B2D-A80C-D976BED8B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5191125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--cpu-bind=cores "$B/cache_part3" 48 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B726F1-DC39-4394-B788-A38D4B6AA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5638800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for opt in 0 1 2 3; do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7C360F-FDC1-4892-A83F-C628121AD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6086475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srun --cpu-bind=cores "$B/cache_part4_o$opt" 48 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5FF2F7-9ED1-4B7C-A654-4EEA7CAB4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6534150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776CDA-94D2-4EC6-870F-E0C799743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4676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先创建 results，再从仓库根目录提交。任一步失败即停止；CMake 模块以实际列表为准。</a:t>
            </a:r>
          </a:p>
        </p:txBody>
      </p:sp>
      <p:sp>
        <p:nvSpPr>
          <p:cNvPr id="25" name="audit-23">
            <a:extLst xmlns:a="http://schemas.openxmlformats.org/drawingml/2006/main">
              <a:ext uri="{FF2B5EF4-FFF2-40B4-BE49-F238E27FC236}">
                <a16:creationId xmlns:a16="http://schemas.microsoft.com/office/drawing/2014/main" id="{66DB346E-4BE5-47F7-AE65-F8A63A912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086475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>
                <a:solidFill>
                  <a:srgbClr val="B7EDDB"/>
                </a:solidFill>
                <a:latin typeface="Menlo"/>
                <a:ea typeface="Menlo"/>
                <a:cs typeface="Menlo"/>
              </a:rPr>
              <a:t>module load cmake</a:t>
            </a:r>
          </a:p>
        </p:txBody>
      </p:sp>
    </p:spTree>
    <p:extLst>
      <p:ext uri="{BB962C8B-B14F-4D97-AF65-F5344CB8AC3E}">
        <p14:creationId xmlns:p14="http://schemas.microsoft.com/office/powerpoint/2010/main" val="93854646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性能实验：规模与测量条件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053918-C4D3-49B8-B2E8-B5DCB7FFD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5737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6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正式规模以课程统一题面为准，并满足实现的整除条件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011224-D9B4-471D-A5E4-7DF58C99E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8605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同一组比较保持 CPU 型号、编译器、矩阵规模和块大小一致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F906E6-C954-435C-8566-212CEC6BA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8137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串行运行各个版本，重复 3 次并记录中位数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FB82A7-400F-4834-AF07-0AF09AE64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8627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67A70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167A70"/>
                </a:solidFill>
                <a:latin typeface="Menlo"/>
                <a:ea typeface="Menlo"/>
                <a:cs typeface="Menlo"/>
              </a:rPr>
              <a:t>for rep in 1 2 3; do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5AD37A-2FF2-48C2-A41C-D80257343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9110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67A70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167A70"/>
                </a:solidFill>
                <a:latin typeface="Menlo"/>
                <a:ea typeface="Menlo"/>
                <a:cs typeface="Menlo"/>
              </a:rPr>
              <a:t>  srun --cpu-bind=cores "$B/cache_part4_o3" 2040 60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09C3C0-3A64-4412-9206-0E15895B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959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67A70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167A70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706BA5-E0D2-4479-9693-4C6C09F4B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7532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上例添加到 Lab 2 作业脚本末尾。扩大规模时同步增加作业时限。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90E704-0090-4552-8B1D-56CCAB2DA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9615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正式记录还应包含主机名、CPU 型号、编译选项和正确性状态。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2394CC-8575-4464-AFFB-B6076536C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提交、排队与查看结果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58A11F-D6F6-48EE-ADBB-EDFD897BB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B9CC70-AE56-4592-A003-4568EB08C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3357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4F1CBD-B84F-49C4-8470-7E62BD26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1935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results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60441D-2A63-4E32-AE12-9D90B1AF5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0512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sbatch lab1.slurm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25BE3C-2016-4364-B632-4CB47B829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sbatch lab2.slurm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4A74E6-1059-4592-A886-07DE4756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7667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squeue -u "$USER"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9C195E-CADB-4978-ADF6-AB906E525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6245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E0F2F9-C2D3-4E6E-BD74-17FCB90AA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4822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tail -F results/lab2-123456.log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6AF41C-1C31-41F9-8CAF-A7DD965E0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0075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sacct -j 123456 --format=JobID,State,ExitCode,Elapsed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9932E0-745F-4F79-9C99-BBD793044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009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PD 表示排队，R 表示运行。123456 需要替换成 sbatch 返回的作业编号。</a:t>
            </a:r>
          </a:p>
        </p:txBody>
      </p:sp>
      <p:sp>
        <p:nvSpPr>
          <p:cNvPr id="13" name="audit-11">
            <a:extLst xmlns:a="http://schemas.openxmlformats.org/drawingml/2006/main">
              <a:ext uri="{FF2B5EF4-FFF2-40B4-BE49-F238E27FC236}">
                <a16:creationId xmlns:a16="http://schemas.microsoft.com/office/drawing/2014/main" id="{BB4B1ED5-F9C5-485E-B02E-63C51E19A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76375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在登录节点执行；若仍在交互计算节点，先 exit 返回</a:t>
            </a:r>
          </a:p>
        </p:txBody>
      </p:sp>
      <p:sp>
        <p:nvSpPr>
          <p:cNvPr id="14" name="audit-12">
            <a:extLst xmlns:a="http://schemas.openxmlformats.org/drawingml/2006/main">
              <a:ext uri="{FF2B5EF4-FFF2-40B4-BE49-F238E27FC236}">
                <a16:creationId xmlns:a16="http://schemas.microsoft.com/office/drawing/2014/main" id="{EC7173EC-7CAF-4009-9AED-C0E205865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24500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按 Ctrl-C 结束日志查看，再执行下面的 sacct</a:t>
            </a:r>
          </a:p>
        </p:txBody>
      </p:sp>
    </p:spTree>
    <p:extLst>
      <p:ext uri="{BB962C8B-B14F-4D97-AF65-F5344CB8AC3E}">
        <p14:creationId xmlns:p14="http://schemas.microsoft.com/office/powerpoint/2010/main" val="3225986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871AF5-F767-424E-8B08-4F54E40B9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下载日志并结束实验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CA767A-97FF-49CD-B2D8-DA59CD7AC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A8C3A1-15A0-463E-A9F1-91F488315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在本地终端下载：macOS / Linux / Windows PowerShell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4B2688-9120-4F84-BDED-4DEBCDF1F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62225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pi2-results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BC9EFE-46D4-40F9-8F83-AE28ACEF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76575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-r jiaowosuan-data:course-labs/results ./pi2-results/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271CCE-BC83-4B44-BF3C-89AEEB7DF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0545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需要主动取消某个作业时，在登录节点执行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4FE189-E016-49D2-AB17-3606BDA31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191250"/>
            <a:ext cx="1343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scancel 123456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6225F3-F43E-4509-88A0-2F468547D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3914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关闭 SSH 后，sbatch 提交的作业仍会继续运行。交互作业结束时输入 exit。</a:t>
            </a:r>
          </a:p>
        </p:txBody>
      </p:sp>
      <p:sp>
        <p:nvSpPr>
          <p:cNvPr id="12" name="audit-8">
            <a:extLst xmlns:a="http://schemas.openxmlformats.org/drawingml/2006/main">
              <a:ext uri="{FF2B5EF4-FFF2-40B4-BE49-F238E27FC236}">
                <a16:creationId xmlns:a16="http://schemas.microsoft.com/office/drawing/2014/main" id="{44F9FA96-E8CF-4F32-89E3-600D8B321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日志位于 pi2-results/results/；已有同名目录时先核对版本</a:t>
            </a:r>
          </a:p>
        </p:txBody>
      </p:sp>
      <p:sp>
        <p:nvSpPr>
          <p:cNvPr id="13" name="audit-9">
            <a:extLst xmlns:a="http://schemas.openxmlformats.org/drawingml/2006/main">
              <a:ext uri="{FF2B5EF4-FFF2-40B4-BE49-F238E27FC236}">
                <a16:creationId xmlns:a16="http://schemas.microsoft.com/office/drawing/2014/main" id="{635AAA4D-73DD-4F65-8ACB-A58F4A192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00575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本例使用各系统 OpenSSH 均提供的 scp，无需另装 rsync</a:t>
            </a:r>
          </a:p>
        </p:txBody>
      </p:sp>
    </p:spTree>
    <p:extLst>
      <p:ext uri="{BB962C8B-B14F-4D97-AF65-F5344CB8AC3E}">
        <p14:creationId xmlns:p14="http://schemas.microsoft.com/office/powerpoint/2010/main" val="140297928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下载最终源码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24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4C733361-F679-4EC8-937A-B9E0A8CE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先保存远端源码并完成测试，再在本地终端下载最终版本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D8064D9C-D658-402C-90B7-11932A8DC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pi2-submission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6F891123-724C-4FC4-BE1E-03DC67EA5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pi2-submission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7F946EB0-9F8E-4AAB-AF5A-2FBA0EF7F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957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jiaowosuan-data:course-labs/labs/lab1-datalab/bits.c ./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1C427AC3-0DFE-4869-95C5-6DEE79669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29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jiaowosuan-data:course-labs/labs/lab2-matrix/src/mygemm.c ./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ECF3154C-1714-4F83-97C1-974A6B535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81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两条下载命令按当前 Lab 选择，分别上传对应的源码收集任务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C1577B6F-BCA0-4CFA-9E18-695B363F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43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源码单独提交 .c 文件，报告与日志按课程指定入口另交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A8F144F0-F8FC-4089-A144-981FF8E57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上传前打开本地文件，核对已保存的最终代码。保留本地副本与提交记录。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云盘源码提交要求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25</a:t>
            </a:r>
          </a:p>
        </p:txBody>
      </p:sp>
      <p:sp>
        <p:nvSpPr>
          <p:cNvPr id="10" name="submission-2">
            <a:extLst xmlns:a="http://schemas.openxmlformats.org/drawingml/2006/main">
              <a:ext uri="{FF2B5EF4-FFF2-40B4-BE49-F238E27FC236}">
                <a16:creationId xmlns:a16="http://schemas.microsoft.com/office/drawing/2014/main" id="{41E209A0-A5C8-459B-A580-C1C0B41A5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1：上传 bits.c，填写文件内的本人姓名和学号</a:t>
            </a:r>
          </a:p>
        </p:txBody>
      </p:sp>
      <p:sp>
        <p:nvSpPr>
          <p:cNvPr id="11" name="submission-3">
            <a:extLst xmlns:a="http://schemas.openxmlformats.org/drawingml/2006/main">
              <a:ext uri="{FF2B5EF4-FFF2-40B4-BE49-F238E27FC236}">
                <a16:creationId xmlns:a16="http://schemas.microsoft.com/office/drawing/2014/main" id="{42A89DEE-DF42-4946-91BC-6D625230A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14625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2：上传 mygemm.c，保留题目规定的函数接口</a:t>
            </a:r>
          </a:p>
        </p:txBody>
      </p:sp>
      <p:sp>
        <p:nvSpPr>
          <p:cNvPr id="12" name="submission-4">
            <a:extLst xmlns:a="http://schemas.openxmlformats.org/drawingml/2006/main">
              <a:ext uri="{FF2B5EF4-FFF2-40B4-BE49-F238E27FC236}">
                <a16:creationId xmlns:a16="http://schemas.microsoft.com/office/drawing/2014/main" id="{E1E99566-D968-43CD-BA1A-8F763AC2F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打开对应 Lab 的“源码提交”链接，填写学号与姓名</a:t>
            </a:r>
          </a:p>
        </p:txBody>
      </p:sp>
      <p:sp>
        <p:nvSpPr>
          <p:cNvPr id="13" name="submission-5">
            <a:extLst xmlns:a="http://schemas.openxmlformats.org/drawingml/2006/main">
              <a:ext uri="{FF2B5EF4-FFF2-40B4-BE49-F238E27FC236}">
                <a16:creationId xmlns:a16="http://schemas.microsoft.com/office/drawing/2014/main" id="{02CD9E1D-4D77-45B5-B8A9-FC906E6D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9625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>
                <a:solidFill>
                  <a:srgbClr val="B7EDDB"/>
                </a:solidFill>
                <a:latin typeface="Menlo"/>
                <a:ea typeface="Menlo"/>
                <a:cs typeface="Menlo"/>
              </a:rPr>
              <a:t>云盘统一命名，例如：0001_示例甲.c</a:t>
            </a:r>
          </a:p>
        </p:txBody>
      </p:sp>
      <p:sp>
        <p:nvSpPr>
          <p:cNvPr id="14" name="submission-6">
            <a:extLst xmlns:a="http://schemas.openxmlformats.org/drawingml/2006/main">
              <a:ext uri="{FF2B5EF4-FFF2-40B4-BE49-F238E27FC236}">
                <a16:creationId xmlns:a16="http://schemas.microsoft.com/office/drawing/2014/main" id="{0978764D-C50E-4EA7-BA0D-3C592E25B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19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每个 Lab 分开提交，报告与实验日志按通知另交</a:t>
            </a:r>
          </a:p>
        </p:txBody>
      </p:sp>
      <p:sp>
        <p:nvSpPr>
          <p:cNvPr id="15" name="submission-7">
            <a:extLst xmlns:a="http://schemas.openxmlformats.org/drawingml/2006/main">
              <a:ext uri="{FF2B5EF4-FFF2-40B4-BE49-F238E27FC236}">
                <a16:creationId xmlns:a16="http://schemas.microsoft.com/office/drawing/2014/main" id="{8C150200-50A3-4E14-87D0-3B3369573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源码收集接受单个 .c。多文件实验采用教师指定的 ZIP 结构。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云盘上传与重新提交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26</a:t>
            </a:r>
          </a:p>
        </p:txBody>
      </p:sp>
      <p:sp>
        <p:nvSpPr>
          <p:cNvPr id="10" name="submission-2">
            <a:extLst xmlns:a="http://schemas.openxmlformats.org/drawingml/2006/main">
              <a:ext uri="{FF2B5EF4-FFF2-40B4-BE49-F238E27FC236}">
                <a16:creationId xmlns:a16="http://schemas.microsoft.com/office/drawing/2014/main" id="{2032E798-D2F7-4C74-9308-C65AC98A1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1  打开教师发布的当前 Lab 源码收集链接并登录</a:t>
            </a:r>
          </a:p>
        </p:txBody>
      </p:sp>
      <p:sp>
        <p:nvSpPr>
          <p:cNvPr id="11" name="submission-3">
            <a:extLst xmlns:a="http://schemas.openxmlformats.org/drawingml/2006/main">
              <a:ext uri="{FF2B5EF4-FFF2-40B4-BE49-F238E27FC236}">
                <a16:creationId xmlns:a16="http://schemas.microsoft.com/office/drawing/2014/main" id="{31A9C603-AD76-4A02-87FC-D87FC3C0C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7177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2  填写本人学号、姓名，选择已经自测的本地源码</a:t>
            </a:r>
          </a:p>
        </p:txBody>
      </p:sp>
      <p:sp>
        <p:nvSpPr>
          <p:cNvPr id="12" name="submission-4">
            <a:extLst xmlns:a="http://schemas.openxmlformats.org/drawingml/2006/main">
              <a:ext uri="{FF2B5EF4-FFF2-40B4-BE49-F238E27FC236}">
                <a16:creationId xmlns:a16="http://schemas.microsoft.com/office/drawing/2014/main" id="{D026A457-5399-46C6-AB70-BE38F322A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8142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3  点击提交，等待上传完成，检查自己的提交记录</a:t>
            </a:r>
          </a:p>
        </p:txBody>
      </p:sp>
      <p:sp>
        <p:nvSpPr>
          <p:cNvPr id="13" name="submission-5">
            <a:extLst xmlns:a="http://schemas.openxmlformats.org/drawingml/2006/main">
              <a:ext uri="{FF2B5EF4-FFF2-40B4-BE49-F238E27FC236}">
                <a16:creationId xmlns:a16="http://schemas.microsoft.com/office/drawing/2014/main" id="{61637B50-329A-428C-ACBD-395C69E1A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9107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4  修改后在相同入口重新上传，选择替换旧文件</a:t>
            </a:r>
          </a:p>
        </p:txBody>
      </p:sp>
      <p:sp>
        <p:nvSpPr>
          <p:cNvPr id="14" name="submission-6">
            <a:extLst xmlns:a="http://schemas.openxmlformats.org/drawingml/2006/main">
              <a:ext uri="{FF2B5EF4-FFF2-40B4-BE49-F238E27FC236}">
                <a16:creationId xmlns:a16="http://schemas.microsoft.com/office/drawing/2014/main" id="{96B86450-0F7F-4011-99AE-E91A433ED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0072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5  在截止前确认最终版本，保留本地源码和提交记录</a:t>
            </a:r>
          </a:p>
        </p:txBody>
      </p:sp>
      <p:sp>
        <p:nvSpPr>
          <p:cNvPr id="15" name="submission-7">
            <a:extLst xmlns:a="http://schemas.openxmlformats.org/drawingml/2006/main">
              <a:ext uri="{FF2B5EF4-FFF2-40B4-BE49-F238E27FC236}">
                <a16:creationId xmlns:a16="http://schemas.microsoft.com/office/drawing/2014/main" id="{B755FA88-6259-4A2D-BBAC-0E03A668E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云盘上传负责交件。正确性测试需自行运行，助教下载后统一评分。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正确性反馈与复查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27</a:t>
            </a:r>
          </a:p>
        </p:txBody>
      </p:sp>
      <p:sp>
        <p:nvSpPr>
          <p:cNvPr id="10" name="submission-2">
            <a:extLst xmlns:a="http://schemas.openxmlformats.org/drawingml/2006/main">
              <a:ext uri="{FF2B5EF4-FFF2-40B4-BE49-F238E27FC236}">
                <a16:creationId xmlns:a16="http://schemas.microsoft.com/office/drawing/2014/main" id="{833FCE93-5FE9-41C8-A0C1-74D065874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助教使用收到的源码重新编译，按函数检查正确性</a:t>
            </a:r>
          </a:p>
        </p:txBody>
      </p:sp>
      <p:sp>
        <p:nvSpPr>
          <p:cNvPr id="11" name="submission-3">
            <a:extLst xmlns:a="http://schemas.openxmlformats.org/drawingml/2006/main">
              <a:ext uri="{FF2B5EF4-FFF2-40B4-BE49-F238E27FC236}">
                <a16:creationId xmlns:a16="http://schemas.microsoft.com/office/drawing/2014/main" id="{2DDED857-57DC-40FB-85E2-29ECEF812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622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编译失败：查看编译日志，检查语法、文件与函数接口</a:t>
            </a:r>
          </a:p>
        </p:txBody>
      </p:sp>
      <p:sp>
        <p:nvSpPr>
          <p:cNvPr id="12" name="submission-4">
            <a:extLst xmlns:a="http://schemas.openxmlformats.org/drawingml/2006/main">
              <a:ext uri="{FF2B5EF4-FFF2-40B4-BE49-F238E27FC236}">
                <a16:creationId xmlns:a16="http://schemas.microsoft.com/office/drawing/2014/main" id="{48F8858D-3042-4842-A11C-E8F68F86B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结果错误：根据失败函数与输入定位问题，再运行公开测试</a:t>
            </a:r>
          </a:p>
        </p:txBody>
      </p:sp>
      <p:sp>
        <p:nvSpPr>
          <p:cNvPr id="13" name="submission-5">
            <a:extLst xmlns:a="http://schemas.openxmlformats.org/drawingml/2006/main">
              <a:ext uri="{FF2B5EF4-FFF2-40B4-BE49-F238E27FC236}">
                <a16:creationId xmlns:a16="http://schemas.microsoft.com/office/drawing/2014/main" id="{ABFB9E32-64CB-4327-B2E8-23CE2C5F7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672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超时或崩溃：检查循环是否结束、数组访问是否越界</a:t>
            </a:r>
          </a:p>
        </p:txBody>
      </p:sp>
      <p:sp>
        <p:nvSpPr>
          <p:cNvPr id="14" name="submission-6">
            <a:extLst xmlns:a="http://schemas.openxmlformats.org/drawingml/2006/main">
              <a:ext uri="{FF2B5EF4-FFF2-40B4-BE49-F238E27FC236}">
                <a16:creationId xmlns:a16="http://schemas.microsoft.com/office/drawing/2014/main" id="{8F701B04-393D-4877-AD07-5BA31F2F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19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缺交、重复或身份不符：先核对云盘提交记录并联系助教</a:t>
            </a:r>
          </a:p>
        </p:txBody>
      </p:sp>
      <p:sp>
        <p:nvSpPr>
          <p:cNvPr id="15" name="submission-7">
            <a:extLst xmlns:a="http://schemas.openxmlformats.org/drawingml/2006/main">
              <a:ext uri="{FF2B5EF4-FFF2-40B4-BE49-F238E27FC236}">
                <a16:creationId xmlns:a16="http://schemas.microsoft.com/office/drawing/2014/main" id="{7D688176-BFF1-4371-9B7C-B494D97E8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自动分数只计算正确性。编码规则另行检查，复查使用已归档的源码。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3171DB-808B-4A18-9ACA-95A6DBF51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常见问题与处理顺序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40DB76-BAC7-4FD5-99D5-BF5765160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28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876300" y="1809750"/>
          <a:ext xmlns:a="http://schemas.openxmlformats.org/drawingml/2006/main" cx="13335000" cy="4972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4476750"/>
                <a:gridCol w="5619750"/>
              </a:tblGrid>
              <a:tr h="828675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现象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先检查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下一步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</a:tr>
              <a:tr h="828675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作业一直 PD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squeue 显示的原因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等待资源，或核对账户和队列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28675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找不到 cmake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module avail cmake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加载可用模块，确认版本 ≥ 3.16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828675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CMake 路径错误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是否复制过旧 build 目录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换新的构建目录重新配置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28675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实验输出 INVALID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对应函数与矩阵参数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小规模调试，修正后再测性能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828675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DataLab 无法评分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姓名学号是否填写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按题面填写并完成 bits.c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AAA11F-66AD-444C-93C4-06C79BEE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3247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本仓库的 submit.sh 不会提交 Slurm。批处理使用 sbatch lab1.slurm / lab2.slurm。</a:t>
            </a:r>
          </a:p>
        </p:txBody>
      </p:sp>
    </p:spTree>
    <p:extLst>
      <p:ext uri="{BB962C8B-B14F-4D97-AF65-F5344CB8AC3E}">
        <p14:creationId xmlns:p14="http://schemas.microsoft.com/office/powerpoint/2010/main" val="1077664036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F6722A-A459-4877-B5CF-BEDD709EC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第一次练习与参考资料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377480-1642-4A8D-83FC-1C9CC5056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29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FD56CD-76B5-4F6E-8714-F7AA4A7BF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9547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9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9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练习目标：完成远程测试，并通过云盘提交一次作业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41C933-B09A-47AC-BBC6-88DC43E68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9875"/>
            <a:ext cx="1333500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1. 配置 SSH，用 VS Code 打开远端源码</a:t>
            </a:r>
          </a:p>
          <a:p xmlns:a="http://schemas.openxmlformats.org/drawingml/2006/main">
            <a:pPr>
              <a:buNone/>
              <a:def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2. 申请计算节点，编译并检查当前 Lab</a:t>
            </a:r>
          </a:p>
          <a:p xmlns:a="http://schemas.openxmlformats.org/drawingml/2006/main">
            <a:pPr>
              <a:buNone/>
              <a:def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3. 下载已经保存并测试的最终源码</a:t>
            </a:r>
          </a:p>
          <a:p xmlns:a="http://schemas.openxmlformats.org/drawingml/2006/main">
            <a:pPr>
              <a:buNone/>
              <a:def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4. 上传对应的云盘源码任务，核对提交记录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CD8DAC-05D9-4A50-BC6F-5F4F6FD25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62575"/>
            <a:ext cx="1266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官方文档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F9CCE5-F9C2-4501-A882-CB8AAA2DC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00750"/>
            <a:ext cx="1276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92fff7d3cf094eb6"/>
              </a:rPr>
              <a:t>登录与账号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80C01E-7DFC-45C1-B0D2-2DDDAD0B5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25"/>
            <a:ext cx="1276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a8c61309f03c4527"/>
              </a:rPr>
              <a:t>Slurm 作业管理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53C6D5-E03E-43B4-AD6E-0E08D932A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048500"/>
            <a:ext cx="1276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202ab1f9ec454f52"/>
              </a:rPr>
              <a:t>文件传输</a:t>
            </a:r>
          </a:p>
        </p:txBody>
      </p:sp>
    </p:spTree>
    <p:extLst>
      <p:ext uri="{BB962C8B-B14F-4D97-AF65-F5344CB8AC3E}">
        <p14:creationId xmlns:p14="http://schemas.microsoft.com/office/powerpoint/2010/main" val="514314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2026-09-27T08:49:38.1460000Z</dcterms:created>
  <dcterms:modified xsi:type="dcterms:W3CDTF">2026-09-27T08:49:38.1460000Z</dcterms:modified>
</coreProperties>
</file>