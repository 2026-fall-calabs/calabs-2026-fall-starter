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10c340b1464d05" /><Relationship Type="http://schemas.openxmlformats.org/officeDocument/2006/relationships/extended-properties" Target="/docProps/app.xml" Id="Raa4f682f53cd479e" /><Relationship Type="http://schemas.openxmlformats.org/officeDocument/2006/relationships/officeDocument" Target="/ppt/presentation.xml" Id="R1014afa55e9949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0dc5bba935439d"/>
  </p:sldMasterIdLst>
  <p:notesMasterIdLst>
    <p:notesMasterId xmlns:r="http://schemas.openxmlformats.org/officeDocument/2006/relationships" r:id="R1d1d16f7f01d4504"/>
  </p:notesMasterIdLst>
  <p:sldIdLst>
    <p:sldId xmlns:r="http://schemas.openxmlformats.org/officeDocument/2006/relationships" id="256" r:id="Rd6c266e173cc446f"/>
    <p:sldId xmlns:r="http://schemas.openxmlformats.org/officeDocument/2006/relationships" id="257" r:id="R3bbd3a918f0b476a"/>
    <p:sldId xmlns:r="http://schemas.openxmlformats.org/officeDocument/2006/relationships" id="258" r:id="Rabe246a249f84b22"/>
    <p:sldId xmlns:r="http://schemas.openxmlformats.org/officeDocument/2006/relationships" id="259" r:id="Rd7ebbf294e934afb"/>
    <p:sldId xmlns:r="http://schemas.openxmlformats.org/officeDocument/2006/relationships" id="260" r:id="Ra2d915e8b6b04903"/>
    <p:sldId xmlns:r="http://schemas.openxmlformats.org/officeDocument/2006/relationships" id="261" r:id="Re83843099e554df8"/>
    <p:sldId xmlns:r="http://schemas.openxmlformats.org/officeDocument/2006/relationships" id="262" r:id="R0938464cbf6541ea"/>
    <p:sldId xmlns:r="http://schemas.openxmlformats.org/officeDocument/2006/relationships" id="263" r:id="Rd5a7a541f5bd4e85"/>
    <p:sldId xmlns:r="http://schemas.openxmlformats.org/officeDocument/2006/relationships" id="264" r:id="R4435c1a05ccc4ddb"/>
    <p:sldId xmlns:r="http://schemas.openxmlformats.org/officeDocument/2006/relationships" id="265" r:id="R3d8a23b19c7440f1"/>
    <p:sldId xmlns:r="http://schemas.openxmlformats.org/officeDocument/2006/relationships" id="266" r:id="Rdc7e9b6bb3054b5a"/>
    <p:sldId xmlns:r="http://schemas.openxmlformats.org/officeDocument/2006/relationships" id="267" r:id="R9048597ebcf942bb"/>
    <p:sldId xmlns:r="http://schemas.openxmlformats.org/officeDocument/2006/relationships" id="268" r:id="R6e46a834c0514ec9"/>
    <p:sldId xmlns:r="http://schemas.openxmlformats.org/officeDocument/2006/relationships" id="269" r:id="Rd29f426a1f814d6a"/>
    <p:sldId xmlns:r="http://schemas.openxmlformats.org/officeDocument/2006/relationships" id="270" r:id="Rb8fe0c33e1b049a0"/>
    <p:sldId xmlns:r="http://schemas.openxmlformats.org/officeDocument/2006/relationships" id="271" r:id="R411690cc35364e1c"/>
    <p:sldId xmlns:r="http://schemas.openxmlformats.org/officeDocument/2006/relationships" id="272" r:id="R1baada85fea04429"/>
    <p:sldId xmlns:r="http://schemas.openxmlformats.org/officeDocument/2006/relationships" id="273" r:id="Re0eba6297a844b40"/>
    <p:sldId xmlns:r="http://schemas.openxmlformats.org/officeDocument/2006/relationships" id="274" r:id="R5cae5579a372450a"/>
    <p:sldId xmlns:r="http://schemas.openxmlformats.org/officeDocument/2006/relationships" id="275" r:id="R2e326f212d534675"/>
    <p:sldId xmlns:r="http://schemas.openxmlformats.org/officeDocument/2006/relationships" id="276" r:id="R262f4ed772a740e0"/>
    <p:sldId xmlns:r="http://schemas.openxmlformats.org/officeDocument/2006/relationships" id="277" r:id="Rafe88f8ca4864beb"/>
    <p:sldId xmlns:r="http://schemas.openxmlformats.org/officeDocument/2006/relationships" id="278" r:id="R44bac2ccb4bc443b"/>
    <p:sldId xmlns:r="http://schemas.openxmlformats.org/officeDocument/2006/relationships" id="279" r:id="Rd2c410aad7a94625"/>
    <p:sldId xmlns:r="http://schemas.openxmlformats.org/officeDocument/2006/relationships" id="280" r:id="Re532d95e50a84ab5"/>
    <p:sldId xmlns:r="http://schemas.openxmlformats.org/officeDocument/2006/relationships" id="281" r:id="R586f2b6e7b36474e"/>
    <p:sldId xmlns:r="http://schemas.openxmlformats.org/officeDocument/2006/relationships" id="282" r:id="R6453057e21004c59"/>
    <p:sldId xmlns:r="http://schemas.openxmlformats.org/officeDocument/2006/relationships" id="283" r:id="R9fcf4577490d4c7c"/>
    <p:sldId xmlns:r="http://schemas.openxmlformats.org/officeDocument/2006/relationships" id="284" r:id="Ra4abc0a61d194acd"/>
    <p:sldId xmlns:r="http://schemas.openxmlformats.org/officeDocument/2006/relationships" id="285" r:id="Re72a63e31cba4d83"/>
    <p:sldId xmlns:r="http://schemas.openxmlformats.org/officeDocument/2006/relationships" id="286" r:id="R689aaa56846945c1"/>
    <p:sldId xmlns:r="http://schemas.openxmlformats.org/officeDocument/2006/relationships" id="287" r:id="Rd9e8e89254a742f0"/>
    <p:sldId xmlns:r="http://schemas.openxmlformats.org/officeDocument/2006/relationships" id="288" r:id="Rfc76eb1f0bd2410b"/>
    <p:sldId xmlns:r="http://schemas.openxmlformats.org/officeDocument/2006/relationships" id="289" r:id="R52ca133db8634e1b"/>
    <p:sldId xmlns:r="http://schemas.openxmlformats.org/officeDocument/2006/relationships" id="290" r:id="Rd3cf3cf8656c413d"/>
  </p:sldIdLst>
  <p:sldSz cx="15240000" cy="85725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2080609ee04206" /><Relationship Type="http://schemas.openxmlformats.org/officeDocument/2006/relationships/slideMaster" Target="/ppt/slideMasters/slideMaster1.xml" Id="R200dc5bba935439d" /><Relationship Type="http://schemas.openxmlformats.org/officeDocument/2006/relationships/notesMaster" Target="/ppt/notesMasters/notesMaster1.xml" Id="R1d1d16f7f01d4504" /><Relationship Type="http://schemas.openxmlformats.org/officeDocument/2006/relationships/presProps" Target="/ppt/presProps.xml" Id="Reeedf5662467493e" /><Relationship Type="http://schemas.openxmlformats.org/officeDocument/2006/relationships/viewProps" Target="/ppt/viewProps.xml" Id="R16a96899ded74e59" /><Relationship Type="http://schemas.openxmlformats.org/officeDocument/2006/relationships/tableStyles" Target="/ppt/tableStyles.xml" Id="R27f8d764fefb4a8c" /><Relationship Type="http://schemas.openxmlformats.org/officeDocument/2006/relationships/slide" Target="/ppt/slides/slide1.xml" Id="Rd6c266e173cc446f" /><Relationship Type="http://schemas.openxmlformats.org/officeDocument/2006/relationships/slide" Target="/ppt/slides/slide2.xml" Id="R3bbd3a918f0b476a" /><Relationship Type="http://schemas.openxmlformats.org/officeDocument/2006/relationships/slide" Target="/ppt/slides/slide3.xml" Id="Rabe246a249f84b22" /><Relationship Type="http://schemas.openxmlformats.org/officeDocument/2006/relationships/slide" Target="/ppt/slides/slide4.xml" Id="Rd7ebbf294e934afb" /><Relationship Type="http://schemas.openxmlformats.org/officeDocument/2006/relationships/slide" Target="/ppt/slides/slide5.xml" Id="Ra2d915e8b6b04903" /><Relationship Type="http://schemas.openxmlformats.org/officeDocument/2006/relationships/slide" Target="/ppt/slides/slide6.xml" Id="Re83843099e554df8" /><Relationship Type="http://schemas.openxmlformats.org/officeDocument/2006/relationships/slide" Target="/ppt/slides/slide7.xml" Id="R0938464cbf6541ea" /><Relationship Type="http://schemas.openxmlformats.org/officeDocument/2006/relationships/slide" Target="/ppt/slides/slide8.xml" Id="Rd5a7a541f5bd4e85" /><Relationship Type="http://schemas.openxmlformats.org/officeDocument/2006/relationships/slide" Target="/ppt/slides/slide9.xml" Id="R4435c1a05ccc4ddb" /><Relationship Type="http://schemas.openxmlformats.org/officeDocument/2006/relationships/slide" Target="/ppt/slides/slide10.xml" Id="R3d8a23b19c7440f1" /><Relationship Type="http://schemas.openxmlformats.org/officeDocument/2006/relationships/slide" Target="/ppt/slides/slide11.xml" Id="Rdc7e9b6bb3054b5a" /><Relationship Type="http://schemas.openxmlformats.org/officeDocument/2006/relationships/slide" Target="/ppt/slides/slide12.xml" Id="R9048597ebcf942bb" /><Relationship Type="http://schemas.openxmlformats.org/officeDocument/2006/relationships/slide" Target="/ppt/slides/slide13.xml" Id="R6e46a834c0514ec9" /><Relationship Type="http://schemas.openxmlformats.org/officeDocument/2006/relationships/slide" Target="/ppt/slides/slide14.xml" Id="Rd29f426a1f814d6a" /><Relationship Type="http://schemas.openxmlformats.org/officeDocument/2006/relationships/slide" Target="/ppt/slides/slide15.xml" Id="Rb8fe0c33e1b049a0" /><Relationship Type="http://schemas.openxmlformats.org/officeDocument/2006/relationships/slide" Target="/ppt/slides/slide16.xml" Id="R411690cc35364e1c" /><Relationship Type="http://schemas.openxmlformats.org/officeDocument/2006/relationships/slide" Target="/ppt/slides/slide17.xml" Id="R1baada85fea04429" /><Relationship Type="http://schemas.openxmlformats.org/officeDocument/2006/relationships/slide" Target="/ppt/slides/slide18.xml" Id="Re0eba6297a844b40" /><Relationship Type="http://schemas.openxmlformats.org/officeDocument/2006/relationships/slide" Target="/ppt/slides/slide19.xml" Id="R5cae5579a372450a" /><Relationship Type="http://schemas.openxmlformats.org/officeDocument/2006/relationships/slide" Target="/ppt/slides/slide20.xml" Id="R2e326f212d534675" /><Relationship Type="http://schemas.openxmlformats.org/officeDocument/2006/relationships/slide" Target="/ppt/slides/slide21.xml" Id="R262f4ed772a740e0" /><Relationship Type="http://schemas.openxmlformats.org/officeDocument/2006/relationships/slide" Target="/ppt/slides/slide22.xml" Id="Rafe88f8ca4864beb" /><Relationship Type="http://schemas.openxmlformats.org/officeDocument/2006/relationships/slide" Target="/ppt/slides/slide23.xml" Id="R44bac2ccb4bc443b" /><Relationship Type="http://schemas.openxmlformats.org/officeDocument/2006/relationships/slide" Target="/ppt/slides/slide24.xml" Id="Rd2c410aad7a94625" /><Relationship Type="http://schemas.openxmlformats.org/officeDocument/2006/relationships/slide" Target="/ppt/slides/slide25.xml" Id="Re532d95e50a84ab5" /><Relationship Type="http://schemas.openxmlformats.org/officeDocument/2006/relationships/slide" Target="/ppt/slides/slide26.xml" Id="R586f2b6e7b36474e" /><Relationship Type="http://schemas.openxmlformats.org/officeDocument/2006/relationships/slide" Target="/ppt/slides/slide27.xml" Id="R6453057e21004c59" /><Relationship Type="http://schemas.openxmlformats.org/officeDocument/2006/relationships/slide" Target="/ppt/slides/slide28.xml" Id="R9fcf4577490d4c7c" /><Relationship Type="http://schemas.openxmlformats.org/officeDocument/2006/relationships/slide" Target="/ppt/slides/slide29.xml" Id="Ra4abc0a61d194acd" /><Relationship Type="http://schemas.openxmlformats.org/officeDocument/2006/relationships/slide" Target="/ppt/slides/slide30.xml" Id="Re72a63e31cba4d83" /><Relationship Type="http://schemas.openxmlformats.org/officeDocument/2006/relationships/slide" Target="/ppt/slides/slide31.xml" Id="R689aaa56846945c1" /><Relationship Type="http://schemas.openxmlformats.org/officeDocument/2006/relationships/slide" Target="/ppt/slides/slide32.xml" Id="Rd9e8e89254a742f0" /><Relationship Type="http://schemas.openxmlformats.org/officeDocument/2006/relationships/slide" Target="/ppt/slides/slide33.xml" Id="Rfc76eb1f0bd2410b" /><Relationship Type="http://schemas.openxmlformats.org/officeDocument/2006/relationships/slide" Target="/ppt/slides/slide34.xml" Id="R52ca133db8634e1b" /><Relationship Type="http://schemas.openxmlformats.org/officeDocument/2006/relationships/slide" Target="/ppt/slides/slide35.xml" Id="Rd3cf3cf8656c41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51da50e110d4c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b9b945d1804d8e" /><Relationship Type="http://schemas.openxmlformats.org/officeDocument/2006/relationships/notesMaster" Target="/ppt/notesMasters/notesMaster1.xml" Id="R54f0887d44a446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584cf073784c81" /><Relationship Type="http://schemas.openxmlformats.org/officeDocument/2006/relationships/notesMaster" Target="/ppt/notesMasters/notesMaster1.xml" Id="R6b1efbcd0abb46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b1510002b274610" /><Relationship Type="http://schemas.openxmlformats.org/officeDocument/2006/relationships/notesMaster" Target="/ppt/notesMasters/notesMaster1.xml" Id="Redee44f7c7384d5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cf4cf97c79488c" /><Relationship Type="http://schemas.openxmlformats.org/officeDocument/2006/relationships/notesMaster" Target="/ppt/notesMasters/notesMaster1.xml" Id="Rd9e5e98dacf649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4e6ec1bc8b4087" /><Relationship Type="http://schemas.openxmlformats.org/officeDocument/2006/relationships/notesMaster" Target="/ppt/notesMasters/notesMaster1.xml" Id="R8c7438258e8147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37ab45812434016" /><Relationship Type="http://schemas.openxmlformats.org/officeDocument/2006/relationships/notesMaster" Target="/ppt/notesMasters/notesMaster1.xml" Id="R36f619dfe2d34a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eaa348c394942a0" /><Relationship Type="http://schemas.openxmlformats.org/officeDocument/2006/relationships/notesMaster" Target="/ppt/notesMasters/notesMaster1.xml" Id="R599d052175e74bc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ff89e0c98bf41dd" /><Relationship Type="http://schemas.openxmlformats.org/officeDocument/2006/relationships/notesMaster" Target="/ppt/notesMasters/notesMaster1.xml" Id="Rf340e485417f4f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ff84b899a994f27" /><Relationship Type="http://schemas.openxmlformats.org/officeDocument/2006/relationships/notesMaster" Target="/ppt/notesMasters/notesMaster1.xml" Id="Ra55c9f6c45814f1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58993fd8f124ed3" /><Relationship Type="http://schemas.openxmlformats.org/officeDocument/2006/relationships/notesMaster" Target="/ppt/notesMasters/notesMaster1.xml" Id="Rc284f44e272e46d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8a8d17b1fc645c8" /><Relationship Type="http://schemas.openxmlformats.org/officeDocument/2006/relationships/notesMaster" Target="/ppt/notesMasters/notesMaster1.xml" Id="Racbf380a346c438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6488ec3271845c0" /><Relationship Type="http://schemas.openxmlformats.org/officeDocument/2006/relationships/notesMaster" Target="/ppt/notesMasters/notesMaster1.xml" Id="R568848cbab81434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f0f799c3f5e4fc3" /><Relationship Type="http://schemas.openxmlformats.org/officeDocument/2006/relationships/notesMaster" Target="/ppt/notesMasters/notesMaster1.xml" Id="R1aba56763f9d4de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53bfdf91b7d4ec6" /><Relationship Type="http://schemas.openxmlformats.org/officeDocument/2006/relationships/notesMaster" Target="/ppt/notesMasters/notesMaster1.xml" Id="R0a37c8a54df040f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9757401423945dd" /><Relationship Type="http://schemas.openxmlformats.org/officeDocument/2006/relationships/notesMaster" Target="/ppt/notesMasters/notesMaster1.xml" Id="R3b3adae4fdf4438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9e175ce01464a16" /><Relationship Type="http://schemas.openxmlformats.org/officeDocument/2006/relationships/notesMaster" Target="/ppt/notesMasters/notesMaster1.xml" Id="R2ccce733b158403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287111ca3b64a57" /><Relationship Type="http://schemas.openxmlformats.org/officeDocument/2006/relationships/notesMaster" Target="/ppt/notesMasters/notesMaster1.xml" Id="R98ec562a056a46a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b6a71e8768f4a2c" /><Relationship Type="http://schemas.openxmlformats.org/officeDocument/2006/relationships/notesMaster" Target="/ppt/notesMasters/notesMaster1.xml" Id="R3a000e07100e4b4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bded30ca8004d75" /><Relationship Type="http://schemas.openxmlformats.org/officeDocument/2006/relationships/notesMaster" Target="/ppt/notesMasters/notesMaster1.xml" Id="Rfe4fad603a774c7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7fb728464fa4ecc" /><Relationship Type="http://schemas.openxmlformats.org/officeDocument/2006/relationships/notesMaster" Target="/ppt/notesMasters/notesMaster1.xml" Id="R8e7fa58a9a5548f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7a1ecdb36f242a1" /><Relationship Type="http://schemas.openxmlformats.org/officeDocument/2006/relationships/notesMaster" Target="/ppt/notesMasters/notesMaster1.xml" Id="R80317d45bb0844e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f53f0ae67b64720" /><Relationship Type="http://schemas.openxmlformats.org/officeDocument/2006/relationships/notesMaster" Target="/ppt/notesMasters/notesMaster1.xml" Id="R8a4624c3ebb34cf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817adc671864443" /><Relationship Type="http://schemas.openxmlformats.org/officeDocument/2006/relationships/notesMaster" Target="/ppt/notesMasters/notesMaster1.xml" Id="R547ae69259714c8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44ab2244c8946ca" /><Relationship Type="http://schemas.openxmlformats.org/officeDocument/2006/relationships/notesMaster" Target="/ppt/notesMasters/notesMaster1.xml" Id="Ra42f73a11c3d44b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c8b316dd21c4dd1" /><Relationship Type="http://schemas.openxmlformats.org/officeDocument/2006/relationships/notesMaster" Target="/ppt/notesMasters/notesMaster1.xml" Id="Rb7ad207e253d4ef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c125fc583cd4840" /><Relationship Type="http://schemas.openxmlformats.org/officeDocument/2006/relationships/notesMaster" Target="/ppt/notesMasters/notesMaster1.xml" Id="R3558580b53ee49b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26039a6eaf04056" /><Relationship Type="http://schemas.openxmlformats.org/officeDocument/2006/relationships/notesMaster" Target="/ppt/notesMasters/notesMaster1.xml" Id="R5fbde1a4bf8b4e7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6c9b75560bc41ba" /><Relationship Type="http://schemas.openxmlformats.org/officeDocument/2006/relationships/notesMaster" Target="/ppt/notesMasters/notesMaster1.xml" Id="R9cd906bc749148d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69eca7028fe47ae" /><Relationship Type="http://schemas.openxmlformats.org/officeDocument/2006/relationships/notesMaster" Target="/ppt/notesMasters/notesMaster1.xml" Id="R45a423dc021b474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0c1539eceb04630" /><Relationship Type="http://schemas.openxmlformats.org/officeDocument/2006/relationships/notesMaster" Target="/ppt/notesMasters/notesMaster1.xml" Id="R1d02ecd0937a45c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4645b82d7f145c1" /><Relationship Type="http://schemas.openxmlformats.org/officeDocument/2006/relationships/notesMaster" Target="/ppt/notesMasters/notesMaster1.xml" Id="R18f78c90d2ad40f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504fdea75b0436d" /><Relationship Type="http://schemas.openxmlformats.org/officeDocument/2006/relationships/notesMaster" Target="/ppt/notesMasters/notesMaster1.xml" Id="Re3a9f27f704d4dc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8988734589d429e" /><Relationship Type="http://schemas.openxmlformats.org/officeDocument/2006/relationships/notesMaster" Target="/ppt/notesMasters/notesMaster1.xml" Id="Rff828c4c412743c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daa1d43263d48ea" /><Relationship Type="http://schemas.openxmlformats.org/officeDocument/2006/relationships/notesMaster" Target="/ppt/notesMasters/notesMaster1.xml" Id="Rd5203855ed014b7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4654e10d7ed44a3" /><Relationship Type="http://schemas.openxmlformats.org/officeDocument/2006/relationships/notesMaster" Target="/ppt/notesMasters/notesMaster1.xml" Id="R2576e8fc3f5e45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本教程面向第一次使用超算的课程学生。所有命令示例均需学生自行执行。本教程未提交任何作业。命令以当前课程仓库和交我算官方文档为依据。用户名使用占位符，学生必须使用本人账号。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教师通过交大云盘分发学生包。学生下载后传入平台；编辑可用 VS Code，编译与测试须申请计算节点。结束后下载最终源码、报告和日志，再上传课程指定的云盘收件入口。GitHub 仓库用于维护课程材料。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HPC_USER 在本地终端设置。将 your_username 替换为本人的超算账号。jiaowosuan 是当前使用者电脑上已有的 SSH 别名，其他学生未配置时应使用完整域名。平台文档规定 2026-04-10 起教学账号禁止校外登录。不要展示或转发密码、证书私钥。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配置保存在本地用户目录。保留已有其他主机配置；同名 Host 修改原条目。nano 用 Ctrl-O、Enter 保存，Ctrl-X 退出。macOS/Linux 保存后可设 chmod 700 ~/.ssh 和 chmod 600 ~/.ssh/config。与仓库 .vscode 目录无关。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https://docs.hpc.sjtu.edu.cn/login/vscode.html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两个 Host 段都写入自己的本地 config。Host 是别名，HostName 是入口域名，User 是超算账号。ServerAlive 参数只帮助检测连接，不替代平台活跃会话要求。不要把密码写入配置。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本课程先确认教学账号已开放免密证书申请。登录管理平台后核对账号，并按提示完成身份绑定和授权。一键生成后，将下载目录里的私钥与证书两个文件移入本地 .ssh 目录，具体操作见随后两页。以下示例文件名为 id_ed25519 和 id_ed25519-cert.pub，学生应按实际下载文件名替换。已有密钥时可以提交对应公钥申请证书，继续使用原私钥。申请功能不可用时继续密码登录并联系助教。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这些命令全部在学生自己的电脑执行。mv 将两个文件从 Downloads 移到 .ssh，config 随后指向移动后的路径。-i 让同名覆盖前先询问，遇到已有密钥应回答 n 并先核对用途，可另建目录保存后调整 config。保留下载文件名，不批量移动 Downloads 中的其他文件。若实际是 id_rsa 与 id_rsa-cert.pub，替换命令中的对应名称。如果浏览器下载到其他目录，则替换 Downloads 路径。本步骤只需私钥与证书两个文件。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Set-Location 切换到用户自己的本地目录，所以后续 .ssh 和 Downloads 都是该用户目录下的子目录。Move-Item 不加 -Force，已有同名目标文件时先处理冲突。也可用文件资源管理器剪切下载的两个文件，在地址栏输入 C:/Users/你的用户名/.ssh/ 后粘贴。Windows 不运行上一页的 chmod 命令。若下载文件名为 id_rsa 与 id_rsa-cert.pub，替换命令中的对应名称。两个文件仅用于本人本地 SSH 登录，不上传作业。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把三行分别加到已有 Host jiaowosuan 与 Host jiaowosuan-data 配置段中，User 填对应超算账号。IdentityFile 和 CertificateFile 指向移动后保存在本地 .ssh 中的文件。Windows 也可以填写 C:/Users/your_name/.ssh/ 下的绝对路径；包含空格时加双引号。IdentitiesOnly yes 限制认证身份为配置中的密钥和证书，避免额外尝试 ssh-agent 提供的其他身份；它不会禁用密码或 keyboard-interactive 认证，也不免除私钥自身的 passphrase。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https://man.openbsd.org/ssh_config#IdentitiesOnly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日常使用 ssh jiaowosuan 即可，VS Code Remote-SSH 也使用同一 Host 配置。出现账号密码提示意味着这次没有完成证书免密，应检查路径、匹配关系、证书有效期和账号名。私钥 passphrase 是本地保护口令，不是超算账号密码。可选测试中的 -o 是 SSH 命令行临时配置参数；PreferredAuthentications=publickey 只允许本次用公钥或证书认证，防止回退到密码后误以为免密已成功。不需要把此选项写入日常配置。证书详情可先在本地终端进入 .ssh，再执行 ssh-keygen -L -f id_ed25519-cert.pub，检查 Valid 和 Principals。保留密码登录途径方便排错。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参考资料：</a:t>
            </a:r>
          </a:p>
          <a:p xmlns:a="http://schemas.openxmlformats.org/drawingml/2006/main">
            <a:r>
              <a:t>https://docs.hpc.sjtu.edu.cn/accounts/security.html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https://man.openbsd.org/ssh_config#PreferredAuthentications</a:t>
            </a:r>
          </a:p>
          <a:p xmlns:a="http://schemas.openxmlformats.org/drawingml/2006/main">
            <a:r>
              <a:t>https://man.openbsd.org/ssh-keygen</a:t>
            </a:r>
          </a:p>
          <a:p xmlns:a="http://schemas.openxmlformats.org/drawingml/2006/main">
            <a:r>
              <a:t>PreferredAuthentications=publickey 限制为公钥认证方法，该方法包含证书与普通公钥；在交我算平台使用已签发的证书。重新一键生成会生成新密钥，必须同时更新私钥与证书。来源：https://man.openbsd.org/ssh_config 和 https://docs.hpc.sjtu.edu.cn/accounts/security.html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首次上传流程适用于 macOS、Linux 及具备 OpenSSH 客户端的 Windows。课程根目录应包含 labs/。不要传入本地构建产物。macOS/Linux 的 rsync 过滤示例见讲义。云盘分享链接可能需要登录或提取码，不一定是 wget 可用的文件直链。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先在独立终端测试 SSH，再打开 VS Code 远程连接。打开文件夹时若 ~ 未展开，使用普通 SSH 会话 pwd 确认的绝对路径。保存改变的是服务器上的文件，提交云盘前要下载最终源码。集成终端初始通常在登录节点。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已有用户设置时合并字段，不覆盖其他配置。别名找不到检查本地 config 路径和文件后缀。SSH 失败先检查校内网络、账号认证和证书。终端正常但 VS Code 不稳定时检查普通 SSH 活跃会话，以及负载均衡入口导致不同连接落到不同节点的问题。扩展的依赖下载可能仍需另行处理。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  <a:p xmlns:a="http://schemas.openxmlformats.org/drawingml/2006/main">
            <a:r>
              <a:t>https://code.visualstudio.com/docs/remote/troubleshooting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在登录节点执行 srun。成功分配后才执行下方编译器检查，hostname 应显示计算节点。若排队，等待分配，不要退回登录节点直接运行实验。1 task、1 CPU 足以运行当前串行框架。最长运行 3 小时，不含排队时间；编译、测试与交互终端空闲均计入时限。退出 bash 会释放交互式资源。登录节点于 2026-09-27 实测有 GCC 8.5.0、CMake 3.20.2，但计算节点仍需现场确认。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srun 分配后启动登录 shell，初始化计算节点的软件模块环境。module load cmake 加载默认版本；若不可用或版本低于 3.16，从 module avail cmake 选择实际存在的版本。官方 KOS 页面示例为 cmake/3.26.3-gcc-8.5.0，账号权限和模块版本以现场查询为准。来源：https://docs.hpc.sjtu.edu.cn/job/kos.html 和 https://docs.hpc.sjtu.edu.cn/app/module.html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labs/lab1-datalab/README.md 第 3、10、11、13 节和 Makefile（2026-09-27）。 make selftest 是框架自检，不替代学生答案测试。dlc 是 x86-64 Linux 程序，先 chmod u+x 添加执行位。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使用新下载且无旧 CMake 缓存的源码目录；build 不跨本地与集群复用。BUILD_TESTING 默认开启、LAB_USE_SYSTEM_BLAS 默认关闭。CMake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与 README 第 7.2 节的六条程序命令完全一致。ctest 不覆盖这些学生函数。</a:t>
            </a:r>
          </a:p>
          <a:p xmlns:a="http://schemas.openxmlformats.org/drawingml/2006/main">
            <a:r>
              <a:t>完整批处理脚本已提供：从课程根目录执行 mkdir -p results，再 sbatch slurm/lab2-7.2.slurm。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Slurm 的 ntasks 是进程数，cpus-per-task 是每个进程分配的 CPU 数。当前课程框架没有 MPI/OpenMP 并行，增加分配核数不会自动使单个实验加速。cpu 队列现场查询为每核默认 4096 MiB，上限也为 4096 MiB。任务时限是最大允许值，不是预计耗时。避免默认选择独占整节点。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本教程的交互式申请和批处理脚本统一使用 03:00:00，即最长运行 3 小时。时限不含排队时间。提前结束会释放资源。正式实验按实测耗时分批或调整时限。</a:t>
            </a:r>
          </a:p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labs/lab1-datalab/README.md 第 3、10、11、13 节和 Makefile（2026-09-27）。 脚本从仓库根目录提交。先在登录节点 mkdir -p results，Slurm 日志为根目录 results/lab1-%j.log。姓名学号未填或答案错误时返回非零。set -euo pipefail 在失败时停止。</a:t>
            </a:r>
          </a:p>
          <a:p xmlns:a="http://schemas.openxmlformats.org/drawingml/2006/main">
            <a:r>
              <a:t>课程已提供 slurm/lab1-10.slurm；页面展示默认评分的主要步骤，完整脚本还检查 Slurm 环境、参数数量，并支持 sbatch slurm/lab1-10.slurm bitCount。</a:t>
            </a:r>
          </a:p>
          <a:p xmlns:a="http://schemas.openxmlformats.org/drawingml/2006/main">
            <a:r>
              <a:t>完整脚本：</a:t>
            </a:r>
          </a:p>
          <a:p xmlns:a="http://schemas.openxmlformats.org/drawingml/2006/main">
            <a:r>
              <a:t>#!/bin/bash -l</a:t>
            </a:r>
          </a:p>
          <a:p xmlns:a="http://schemas.openxmlformats.org/drawingml/2006/main">
            <a:r>
              <a:t>#SBATCH -J datalab</a:t>
            </a:r>
          </a:p>
          <a:p xmlns:a="http://schemas.openxmlformats.org/drawingml/2006/main">
            <a:r>
              <a:t>#SBATCH -p cpu -N 1 -n 1 -c 1</a:t>
            </a:r>
          </a:p>
          <a:p xmlns:a="http://schemas.openxmlformats.org/drawingml/2006/main">
            <a:r>
              <a:t>#SBATCH -t 03:00:00</a:t>
            </a:r>
          </a:p>
          <a:p xmlns:a="http://schemas.openxmlformats.org/drawingml/2006/main">
            <a:r>
              <a:t>#SBATCH -o results/lab1-%j.log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set -euo pipefail</a:t>
            </a:r>
          </a:p>
          <a:p xmlns:a="http://schemas.openxmlformats.org/drawingml/2006/main">
            <a:r>
              <a:t>: "${SLURM_JOB_ID:?请使用 sbatch 提交作业，不要在登录节点直接运行}"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(( $# &gt; 1 )); then</a:t>
            </a:r>
          </a:p>
          <a:p xmlns:a="http://schemas.openxmlformats.org/drawingml/2006/main">
            <a:r>
              <a:t>  echo "用法：sbatch slurm/lab1-10.slurm [函数名]" &gt;&amp;2</a:t>
            </a:r>
          </a:p>
          <a:p xmlns:a="http://schemas.openxmlformats.org/drawingml/2006/main">
            <a:r>
              <a:t>  exit 2</a:t>
            </a:r>
          </a:p>
          <a:p xmlns:a="http://schemas.openxmlformats.org/drawingml/2006/main">
            <a:r>
              <a:t>fi</a:t>
            </a:r>
          </a:p>
          <a:p xmlns:a="http://schemas.openxmlformats.org/drawingml/2006/main">
            <a:r>
              <a:t>cd "${SLURM_SUBMIT_DIR:?请从课程根目录提交}/labs/lab1-datalab"</a:t>
            </a:r>
          </a:p>
          <a:p xmlns:a="http://schemas.openxmlformats.org/drawingml/2006/main">
            <a:r>
              <a:t>make -j1</a:t>
            </a:r>
          </a:p>
          <a:p xmlns:a="http://schemas.openxmlformats.org/drawingml/2006/main">
            <a:r>
              <a:t>if (( $# == 1 )); then</a:t>
            </a:r>
          </a:p>
          <a:p xmlns:a="http://schemas.openxmlformats.org/drawingml/2006/main">
            <a:r>
              <a:t>  srun --cpu-bind=cores ./btest -f "$1"</a:t>
            </a:r>
          </a:p>
          <a:p xmlns:a="http://schemas.openxmlformats.org/drawingml/2006/main">
            <a:r>
              <a:t>else</a:t>
            </a:r>
          </a:p>
          <a:p xmlns:a="http://schemas.openxmlformats.org/drawingml/2006/main">
            <a:r>
              <a:t>  srun --cpu-bind=cores ./btest -g</a:t>
            </a:r>
          </a:p>
          <a:p xmlns:a="http://schemas.openxmlformats.org/drawingml/2006/main">
            <a:r>
              <a:t>fi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节及 slurm/lab2-8.3.slurm（2026-09-27）。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目录。下方代码展示实验命令。同一源码目录一次只运行一个作业。页面展示核心步骤，完整脚本还检查 Slurm 环境并自动记录环境。CTest 写法兼容 CMake 3.16 及以上版本。模块实际名称可由 CMAKE_MODULE 指定。</a:t>
            </a:r>
          </a:p>
          <a:p xmlns:a="http://schemas.openxmlformats.org/drawingml/2006/main">
            <a:r>
              <a:t>完整脚本：</a:t>
            </a:r>
          </a:p>
          <a:p xmlns:a="http://schemas.openxmlformats.org/drawingml/2006/main">
            <a:r>
              <a:t>#!/bin/bash -l</a:t>
            </a:r>
          </a:p>
          <a:p xmlns:a="http://schemas.openxmlformats.org/drawingml/2006/main">
            <a:r>
              <a:t>#SBATCH -J matrixlab</a:t>
            </a:r>
          </a:p>
          <a:p xmlns:a="http://schemas.openxmlformats.org/drawingml/2006/main">
            <a:r>
              <a:t>#SBATCH -p cpu -N 1 -n 1 -c 1</a:t>
            </a:r>
          </a:p>
          <a:p xmlns:a="http://schemas.openxmlformats.org/drawingml/2006/main">
            <a:r>
              <a:t>#SBATCH -t 03:00:00</a:t>
            </a:r>
          </a:p>
          <a:p xmlns:a="http://schemas.openxmlformats.org/drawingml/2006/main">
            <a:r>
              <a:t>#SBATCH -o results/lab2-%j.log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set -euo pipefail</a:t>
            </a:r>
          </a:p>
          <a:p xmlns:a="http://schemas.openxmlformats.org/drawingml/2006/main">
            <a:r>
              <a:t>: "${SLURM_JOB_ID:?请使用 sbatch 提交作业，不要在登录节点直接运行}"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cd "${SLURM_SUBMIT_DIR:?请从课程根目录提交}/labs/lab2-matrix"</a:t>
            </a:r>
          </a:p>
          <a:p xmlns:a="http://schemas.openxmlformats.org/drawingml/2006/main">
            <a:r>
              <a:t>module load "${CMAKE_MODULE:-cmake}"</a:t>
            </a:r>
          </a:p>
          <a:p xmlns:a="http://schemas.openxmlformats.org/drawingml/2006/main">
            <a:r>
              <a:t>cmake -S . -B build</a:t>
            </a:r>
          </a:p>
          <a:p xmlns:a="http://schemas.openxmlformats.org/drawingml/2006/main">
            <a:r>
              <a:t>cmake --build build -j1</a:t>
            </a:r>
          </a:p>
          <a:p xmlns:a="http://schemas.openxmlformats.org/drawingml/2006/main">
            <a:r>
              <a:t>(cd build &amp;&amp; ctest --output-on-failure)</a:t>
            </a:r>
          </a:p>
          <a:p xmlns:a="http://schemas.openxmlformats.org/drawingml/2006/main">
            <a:r>
              <a:t>mkdir -p results</a:t>
            </a:r>
            <a:endParaRPr/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printf 'JobID: %s\n' "$SLURM_JOB_ID"</a:t>
            </a:r>
          </a:p>
          <a:p xmlns:a="http://schemas.openxmlformats.org/drawingml/2006/main">
            <a:r>
              <a:t>  hostname</a:t>
            </a:r>
          </a:p>
          <a:p xmlns:a="http://schemas.openxmlformats.org/drawingml/2006/main">
            <a:r>
              <a:t>  lscpu</a:t>
            </a:r>
            <a:endParaRPr/>
          </a:p>
          <a:p xmlns:a="http://schemas.openxmlformats.org/drawingml/2006/main">
            <a:r>
              <a:t>  gcc --version</a:t>
            </a:r>
            <a:endParaRPr/>
          </a:p>
          <a:p xmlns:a="http://schemas.openxmlformats.org/drawingml/2006/main">
            <a:r>
              <a:t>  cmake --version</a:t>
            </a:r>
            <a:endParaRPr/>
          </a:p>
          <a:p xmlns:a="http://schemas.openxmlformats.org/drawingml/2006/main">
            <a:r>
              <a:t>  uname -a</a:t>
            </a:r>
            <a:endParaRPr/>
          </a:p>
          <a:p xmlns:a="http://schemas.openxmlformats.org/drawingml/2006/main">
            <a:r>
              <a:t>} | tee results/environment.txt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# README §8.3：正式循环次序实验。</a:t>
            </a:r>
            <a:endParaRPr/>
          </a:p>
          <a:p xmlns:a="http://schemas.openxmlformats.org/drawingml/2006/main">
            <a:r>
              <a:t>srun --cpu-bind=cores ./build/cache_part3 2048 64 \</a:t>
            </a:r>
            <a:endParaRPr/>
          </a:p>
          <a:p xmlns:a="http://schemas.openxmlformats.org/drawingml/2006/main">
            <a:r>
              <a:t>  2&gt;&amp;1 | tee results/loop_orders.txt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Slurm 参数依据：https://slurm.schedmd.com/sbatch.html</a:t>
            </a:r>
            <a:endParaRPr/>
          </a:p>
          <a:p xmlns:a="http://schemas.openxmlformats.org/drawingml/2006/main">
            <a:r>
              <a:t>https://slurm.schedmd.com/srun.html</a:t>
            </a:r>
            <a:endParaRPr/>
          </a:p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</a:p>
          <a:p xmlns:a="http://schemas.openxmlformats.org/drawingml/2006/main">
            <a:r>
              <a:t>README §6.4 要求寄存器实验的 n 能被 6 整除。第 8.2 节正式命令与第 9.2 节报告表格统一使用 66、126、258、510、1026、2046，与 benchmarks/reg_reuse.c 的默认规模一致。循环次序实验按第 8.3 节使用 n=2048、b=64。</a:t>
            </a:r>
          </a:p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: &gt; 和 tee 会覆盖同名日志，重跑前保存上一批结果。cache_part3 每次都会运行全部 12 个算法。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候选值来自 n=1024 的实际结果，最大规模确认后选择最终 b。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四个优化级别必须保持同一 n、b 和源码。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课程已提供各阶段独立 Slurm 脚本，列表见 slurm/README.md。从课程根目录先 mkdir -p results，再用 sbatch 提交；脚本会完成编译、CTest 和环境记录，并进入 Lab 2 目录。下方代码展示实验命令。每次只运行一个阶段，同一源码目录一次只运行一个作业。程序前增加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 对其他正式配置也建议重复 3 次。保存同名文件旧版本，防止覆盖。记录正确性结果，INVALID 数据不作为有效性能数据。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各 Lab 2 Slurm 脚本自动记录环境信息和作业编号，保存在 results/environment.txt，并同时打印到作业总日志。本页代码用于交互式实验。每次只运行一个阶段，同一源码目录一次只运行一个作业。程序前增加 srun --cpu-bind=cores，参数与 README 一致。在 srun --pty 打开的交互式计算终端，直接使用 README 不带 srun 前缀的程序命令，已有终端会话已绑定 CPU。</a:t>
            </a:r>
          </a:p>
          <a:p xmlns:a="http://schemas.openxmlformats.org/drawingml/2006/main">
            <a:r>
              <a:t>{</a:t>
            </a:r>
          </a:p>
          <a:p xmlns:a="http://schemas.openxmlformats.org/drawingml/2006/main">
            <a:r>
              <a:t>  echo "===== CPU ====="</a:t>
            </a:r>
          </a:p>
          <a:p xmlns:a="http://schemas.openxmlformats.org/drawingml/2006/main">
            <a:r>
              <a:t>  lscpu</a:t>
            </a:r>
          </a:p>
          <a:p xmlns:a="http://schemas.openxmlformats.org/drawingml/2006/main">
            <a:r>
              <a:t>  echo "===== Compiler ====="</a:t>
            </a:r>
          </a:p>
          <a:p xmlns:a="http://schemas.openxmlformats.org/drawingml/2006/main">
            <a:r>
              <a:t>  gcc --version</a:t>
            </a:r>
          </a:p>
          <a:p xmlns:a="http://schemas.openxmlformats.org/drawingml/2006/main">
            <a:r>
              <a:t>  echo "===== CMake ====="</a:t>
            </a:r>
          </a:p>
          <a:p xmlns:a="http://schemas.openxmlformats.org/drawingml/2006/main">
            <a:r>
              <a:t>  cmake --version</a:t>
            </a:r>
          </a:p>
          <a:p xmlns:a="http://schemas.openxmlformats.org/drawingml/2006/main">
            <a:r>
              <a:t>  echo "===== System ====="</a:t>
            </a:r>
          </a:p>
          <a:p xmlns:a="http://schemas.openxmlformats.org/drawingml/2006/main">
            <a:r>
              <a:t>  uname -a</a:t>
            </a:r>
          </a:p>
          <a:p xmlns:a="http://schemas.openxmlformats.org/drawingml/2006/main">
            <a:r>
              <a:t>} &gt; results/environment.txt</a:t>
            </a:r>
          </a:p>
          <a:p xmlns:a="http://schemas.openxmlformats.org/drawingml/2006/main">
            <a:r>
              <a:t>使用 Clang 时将 gcc --version 改为 clang --version。报告表格字段、曲线和候选块最大规模确认结果以 README 第 9 节为准。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</a:t>
            </a:r>
          </a:p>
          <a:p xmlns:a="http://schemas.openxmlformats.org/drawingml/2006/main">
            <a:r>
              <a:t>该脚本只做额外默认批量检查，不替代正式流程。它不会调用 sbatch，必须在计算节点运行。寄存器默认规模与 README 第 8.2 节相同；Part 3 和 Part 4 的默认 n、b 与正式实验参数不同。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课程提供 slurm/lab2-8.7.slurm，在登录节点从课程根目录先 mkdir -p results，再 sbatch slurm/lab2-8.7.slurm。作业内完成编译、CTest 和默认批量检查。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这些命令在登录节点运行。必须先创建 results/ 再 sbatch。sbatch 返回的数字是 job ID，把 123456 替换为实际编号。PD 表示等待调度，R 表示运行中。squeue 中消失后，使用 sacct 看最终状态和退出码。只有 COMPLETED 且 ExitCode=0:0，结合程序检查结果，才确认该次作业成功。tail -f 用 Ctrl-C 结束查看，它不会取消作业。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将 123456 替换为本次 Lab2 的作业 ID。排队时日志可能尚未创建，tail -F 会等待文件出现；退出查看只中断 tail，不会取消作业。作业完成后 sacct 可查看状态与退出码。来源：https://www.gnu.org/software/coreutils/manual/html_node/tail-invocation.html 和 https://slurm.schedmd.com/sacct.html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来源：课程仓库 labs/lab2-matrix/README.md 第 5、7、8、9 节，CMakeLists.txt、scripts/run_all.sh（2026-09-27）。 https://docs.hpc.sjtu.edu.cn/transport/transportsolution.html 使用不存在的 slurm、lab2 目标目录，将两个远程 results 分别保存。已有结果先归档，重新下载时使用新的本地父目录。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按当前 Lab 选择下载命令。学生在云盘源码收集任务中上传单个 .c 文件；云盘可按学号和姓名重命名。报告与日志按教师指定的其他入口提交。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示例学号与姓名为虚构。课程收集任务设置学号和姓名命名字段，学生按字段填写。当前 Lab 1/2 的源码各为一个文件。教师给出具体链接、报告入口与截止时间。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云盘支持多次提交，同名文件可选择替换旧文件或保存两份。本课程建议替换，避免多版本无法确定。截止时间由收集任务有效期和课程通知确定。</a:t>
            </a:r>
          </a:p>
          <a:p xmlns:a="http://schemas.openxmlformats.org/drawingml/2006/main">
            <a:r>
              <a:t>来源：https://pan.sjtu.edu.cn/pandoc/file-collection.html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当前流水线自动评分只覆盖数值/位级正确性。Lab 1 保留 50 分制及单个错误半分规则；Lab 2 保留 100 分制。未决收件与环境问题保留空分待处理。教师统一处理反馈，不在学生共享目录发布全班成绩。依据课程 grader/README.md 与 docs/作业提交说明.md。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 cmake 不存在或版本过旧，在分配的计算节点上 module avail cmake，再 module load 实际存在的完整模块名，随后验证 cmake --version。旧 CMake 缓存必须使用新的构建目录，不能跨本地和集群复用。在已申请的计算节点运行 scripts/run_all.sh；批处理作业在登录节点通过 sbatch 提交。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CMake 3.20 开始支持 ctest --test-dir；3.16～3.19 使用 (cd build &amp;&amp; ctest --output-on-failure)。来源：https://cmake.org/cmake/help/v3.20/release/3.20.html#ctest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课堂练习只运行小规模测试。学生尚未实现的函数允许输出失败，但必须能定位日志中的具体函数。下载结果后让学生说明本地、登录节点、计算节点的职责。官方文档和实际配置可能变化，软件版本与队列状态以当前 module avail、sinfo 和 scontrol 输出为准。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6ede94e58e4e6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c82a97bbee4eb9" /><Relationship Type="http://schemas.openxmlformats.org/officeDocument/2006/relationships/slideLayout" Target="/ppt/slideLayouts/slideLayout1.xml" Id="Rcc60eebd370040d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c60eebd370040d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2795b0fd364560" /><Relationship Type="http://schemas.openxmlformats.org/officeDocument/2006/relationships/notesSlide" Target="/ppt/notesSlides/notesSlide1.xml" Id="Ra80f3ca81c8f4fd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895a18af584c82" /><Relationship Type="http://schemas.openxmlformats.org/officeDocument/2006/relationships/notesSlide" Target="/ppt/notesSlides/notesSlide2.xml" Id="R0bb6a43cd89a4f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4bb7d30e754cd1" /><Relationship Type="http://schemas.openxmlformats.org/officeDocument/2006/relationships/notesSlide" Target="/ppt/notesSlides/notesSlide3.xml" Id="Ra75e08130d0c474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1154d9699d4ea2" /><Relationship Type="http://schemas.openxmlformats.org/officeDocument/2006/relationships/notesSlide" Target="/ppt/notesSlides/notesSlide4.xml" Id="R8d1c53b0a1ae44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4dff8857e94173" /><Relationship Type="http://schemas.openxmlformats.org/officeDocument/2006/relationships/notesSlide" Target="/ppt/notesSlides/notesSlide5.xml" Id="R9c3b30ee534641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7ded81fe1b45cc" /><Relationship Type="http://schemas.openxmlformats.org/officeDocument/2006/relationships/notesSlide" Target="/ppt/notesSlides/notesSlide6.xml" Id="Rf050e64ad64749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e00acbe7ef4d66" /><Relationship Type="http://schemas.openxmlformats.org/officeDocument/2006/relationships/notesSlide" Target="/ppt/notesSlides/notesSlide7.xml" Id="R3bd159fcb18f4ea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e4bec860ba40c7" /><Relationship Type="http://schemas.openxmlformats.org/officeDocument/2006/relationships/notesSlide" Target="/ppt/notesSlides/notesSlide8.xml" Id="R11e356e126324b0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4e816fc48406c" /><Relationship Type="http://schemas.openxmlformats.org/officeDocument/2006/relationships/notesSlide" Target="/ppt/notesSlides/notesSlide9.xml" Id="Rb1cc3df9845d46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dcc9323ea14198" /><Relationship Type="http://schemas.openxmlformats.org/officeDocument/2006/relationships/notesSlide" Target="/ppt/notesSlides/notesSlide10.xml" Id="R6b90e94afd814b5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5a5f09f6624f13" /><Relationship Type="http://schemas.openxmlformats.org/officeDocument/2006/relationships/notesSlide" Target="/ppt/notesSlides/notesSlide11.xml" Id="Rd559fe8fd85b479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fb4abb94524f95" /><Relationship Type="http://schemas.openxmlformats.org/officeDocument/2006/relationships/notesSlide" Target="/ppt/notesSlides/notesSlide12.xml" Id="Rd5d0ffb28af54f9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c1ebdd0a60420e" /><Relationship Type="http://schemas.openxmlformats.org/officeDocument/2006/relationships/notesSlide" Target="/ppt/notesSlides/notesSlide13.xml" Id="R704257f8bb544ef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4304d95d5a4164" /><Relationship Type="http://schemas.openxmlformats.org/officeDocument/2006/relationships/notesSlide" Target="/ppt/notesSlides/notesSlide14.xml" Id="Rf48f13ec54784df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b915c3717b4bad" /><Relationship Type="http://schemas.openxmlformats.org/officeDocument/2006/relationships/notesSlide" Target="/ppt/notesSlides/notesSlide15.xml" Id="Rff5ef7f33b5f4e4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5dad7338304e82" /><Relationship Type="http://schemas.openxmlformats.org/officeDocument/2006/relationships/notesSlide" Target="/ppt/notesSlides/notesSlide16.xml" Id="R607b2ddcee0c470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b52c2e00ba44e3" /><Relationship Type="http://schemas.openxmlformats.org/officeDocument/2006/relationships/notesSlide" Target="/ppt/notesSlides/notesSlide17.xml" Id="Rf07f3454dcae402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2c1f5898c6447d" /><Relationship Type="http://schemas.openxmlformats.org/officeDocument/2006/relationships/notesSlide" Target="/ppt/notesSlides/notesSlide18.xml" Id="R452376ad53ce42b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42695e8a64e6e" /><Relationship Type="http://schemas.openxmlformats.org/officeDocument/2006/relationships/notesSlide" Target="/ppt/notesSlides/notesSlide19.xml" Id="Rd8886bd417d7401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c7eefd35b24cfa" /><Relationship Type="http://schemas.openxmlformats.org/officeDocument/2006/relationships/notesSlide" Target="/ppt/notesSlides/notesSlide20.xml" Id="R002735e166ff463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8f0e71dced42dd" /><Relationship Type="http://schemas.openxmlformats.org/officeDocument/2006/relationships/notesSlide" Target="/ppt/notesSlides/notesSlide21.xml" Id="Rb18d6e20447d41e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96ebe541240ef" /><Relationship Type="http://schemas.openxmlformats.org/officeDocument/2006/relationships/notesSlide" Target="/ppt/notesSlides/notesSlide22.xml" Id="R01b6260fcc7e43e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3840ff159439c" /><Relationship Type="http://schemas.openxmlformats.org/officeDocument/2006/relationships/notesSlide" Target="/ppt/notesSlides/notesSlide23.xml" Id="R199b39d90ca44b4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386c1c806846c9" /><Relationship Type="http://schemas.openxmlformats.org/officeDocument/2006/relationships/notesSlide" Target="/ppt/notesSlides/notesSlide24.xml" Id="Rc0a47156add5466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2a5e159d0448dd" /><Relationship Type="http://schemas.openxmlformats.org/officeDocument/2006/relationships/notesSlide" Target="/ppt/notesSlides/notesSlide25.xml" Id="Rf3a8d078782940da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28bbd22bb540a5" /><Relationship Type="http://schemas.openxmlformats.org/officeDocument/2006/relationships/notesSlide" Target="/ppt/notesSlides/notesSlide26.xml" Id="R9f7f3a29073540d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193eeef157406f" /><Relationship Type="http://schemas.openxmlformats.org/officeDocument/2006/relationships/notesSlide" Target="/ppt/notesSlides/notesSlide27.xml" Id="R41689ebd37cb4eaa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66c490d754859" /><Relationship Type="http://schemas.openxmlformats.org/officeDocument/2006/relationships/notesSlide" Target="/ppt/notesSlides/notesSlide28.xml" Id="Rb2c1e3c08cd14c8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87e95ae3d4e36" /><Relationship Type="http://schemas.openxmlformats.org/officeDocument/2006/relationships/notesSlide" Target="/ppt/notesSlides/notesSlide29.xml" Id="R96bf6b533ea54cb5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391e4b80274d8b" /><Relationship Type="http://schemas.openxmlformats.org/officeDocument/2006/relationships/notesSlide" Target="/ppt/notesSlides/notesSlide30.xml" Id="R73c7831e81e94eb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67e005e8043fe" /><Relationship Type="http://schemas.openxmlformats.org/officeDocument/2006/relationships/notesSlide" Target="/ppt/notesSlides/notesSlide31.xml" Id="Ra8fb22c89e83426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658da0f7264c93" /><Relationship Type="http://schemas.openxmlformats.org/officeDocument/2006/relationships/notesSlide" Target="/ppt/notesSlides/notesSlide32.xml" Id="Rfea3d715b12845af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b343eb55824e03" /><Relationship Type="http://schemas.openxmlformats.org/officeDocument/2006/relationships/notesSlide" Target="/ppt/notesSlides/notesSlide33.xml" Id="R9bbb00157b30458b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f016897f548af" /><Relationship Type="http://schemas.openxmlformats.org/officeDocument/2006/relationships/notesSlide" Target="/ppt/notesSlides/notesSlide34.xml" Id="Rc0e50b0eb7644a7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dd6b7da96340c2" /><Relationship Type="http://schemas.openxmlformats.org/officeDocument/2006/relationships/hyperlink" Target="https://docs.hpc.sjtu.edu.cn/login/sshlogin.html" TargetMode="External" Id="R0bbc72e69a044184" /><Relationship Type="http://schemas.openxmlformats.org/officeDocument/2006/relationships/hyperlink" Target="https://docs.hpc.sjtu.edu.cn/job/slurm.html" TargetMode="External" Id="R3ea5ce5390f642a9" /><Relationship Type="http://schemas.openxmlformats.org/officeDocument/2006/relationships/hyperlink" Target="https://docs.hpc.sjtu.edu.cn/transport/transportsolution.html" TargetMode="External" Id="R57a00844a1644d93" /><Relationship Type="http://schemas.openxmlformats.org/officeDocument/2006/relationships/notesSlide" Target="/ppt/notesSlides/notesSlide35.xml" Id="R3eba9ba2c2cb45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57E11AA-16BF-4B07-9424-186276CC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1295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交我算平台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58EB3C5-E753-4E42-AC5F-492EA4FF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运行指南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4509EDD-CF67-4208-A430-22EBBD89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rPr>
              <a:t>π 2.0 集群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2657BED-9824-420F-9E9E-7F38E208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DataLab 与 MatrixLab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9800642-7ED1-4C7E-AB7A-90167418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86650"/>
            <a:ext cx="1285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rPr>
              <a:t>学生上手教程　2026 年 9 月 · 云盘提交版</a:t>
            </a:r>
          </a:p>
        </p:txBody>
      </p:sp>
    </p:spTree>
    <p:extLst>
      <p:ext uri="{BB962C8B-B14F-4D97-AF65-F5344CB8AC3E}">
        <p14:creationId xmlns:p14="http://schemas.microsoft.com/office/powerpoint/2010/main" val="14866681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F864DFF-97F5-4DC2-9259-17655D5F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一次实验的完整流程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8157980-2E95-4A25-BFA1-50A82769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6000750"/>
                <a:gridCol w="4857750"/>
              </a:tblGrid>
              <a:tr h="97155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执行的操作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常用命令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本地电脑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云盘下载与提交、源码传输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浏览器、ssh、scp / rsync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登录节点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查询队列、申请资源、提交作业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sinfo、srun、sbatch、squeue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计算节点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编译、正确性检查、性能测量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make、cmake、实验程序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97155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通过本地客户端传输文件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data.hpc.sjtu.edu.cn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846B664-C546-491C-A7DA-8C0EDE7E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登录节点禁止运行计算密集任务。编译与实验统一放入 Slurm 分配的计算节点。</a:t>
            </a:r>
          </a:p>
        </p:txBody>
      </p:sp>
    </p:spTree>
    <p:extLst>
      <p:ext uri="{BB962C8B-B14F-4D97-AF65-F5344CB8AC3E}">
        <p14:creationId xmlns:p14="http://schemas.microsoft.com/office/powerpoint/2010/main" val="20118855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 π 2.0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7B9B1E8-0A26-4E7E-9FBD-B0E2555C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在本地终端执行，your_username 替换为本人超算用户名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FCFEF93-934B-4D01-9AC2-2312D5D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-V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C2BEB3C-1B69-4AD7-8964-2838E6DA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your_username@pilogin.hpc.sjtu.edu.cn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6EB50A4-4CA3-4266-9F3F-5910109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完成后面的本地 SSH 配置后，可以简写为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0E3D5CA9-B242-4F6B-9A39-5ABB485F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D2E6DC5-2158-444A-8B32-E35DBB42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教学账号须在校内网络登录；jiaowosuan 不是平台统一提供的命令。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 SSH 配置文件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EE83DAE-2A95-48B3-B33B-42D13BF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macOS / Linux：在自己的电脑上编辑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E7EE85EA-6FC9-4DEA-99A6-CE2BB0F1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~/.ssh/config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F8F9D9D-939D-4E85-B927-4277AC20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A5DB860A-F3D0-4315-B5D2-977D6EC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touch ~/.ssh/config &amp;&amp; nano ~/.ssh/config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2A8CF849-5ECA-4830-8F2F-24E04F18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Windows：在 PowerShell 中打开记事本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FF3CAC-BD1B-4755-8305-6FA628DA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"$env:USERPROFILE\.ssh"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2F2AA3E-847A-47F2-9C32-79C7AF55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7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notepad "$env:USERPROFILE\.ssh\config"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7352598-E4D0-4F1F-8A5B-4C610E4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追加或修改自己的 Host 条目；文件名为 config，无 .txt 后缀。完整步骤见讲义。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登录与文件传输的 SSH 别名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96AB81F-76E9-4789-8542-C7A5F6FA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登录：编辑文件、提交作业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847FF308-C205-4617-8165-3AED7915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传输：上传源码、下载结果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48CAC5A1-6C4C-40BA-8406-3E886E70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DFB9BFD2-9BAB-440C-920C-DE5F0227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pilogin.hpc.sjtu.edu.cn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9802413B-0533-4ABB-823F-CA84010A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2F10397-91F6-4E8F-BC61-3B2803F5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FE4086A-1F70-484B-9C52-D0CA91A7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E188AABB-FC94-4BFA-9441-148220DD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7E495652-DAAB-46D3-B128-E25C55AE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jiaowosuan-data</a:t>
            </a:r>
          </a:p>
        </p:txBody>
      </p:sp>
      <p:sp>
        <p:nvSpPr>
          <p:cNvPr id="19" name="content-11">
            <a:extLst xmlns:a="http://schemas.openxmlformats.org/drawingml/2006/main">
              <a:ext uri="{FF2B5EF4-FFF2-40B4-BE49-F238E27FC236}">
                <a16:creationId xmlns:a16="http://schemas.microsoft.com/office/drawing/2014/main" id="{D2BA50A0-4924-43CB-A2F5-C01E0F33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data.hpc.sjtu.edu.cn</a:t>
            </a:r>
          </a:p>
        </p:txBody>
      </p:sp>
      <p:sp>
        <p:nvSpPr>
          <p:cNvPr id="20" name="content-12">
            <a:extLst xmlns:a="http://schemas.openxmlformats.org/drawingml/2006/main">
              <a:ext uri="{FF2B5EF4-FFF2-40B4-BE49-F238E27FC236}">
                <a16:creationId xmlns:a16="http://schemas.microsoft.com/office/drawing/2014/main" id="{2D8B9A71-D1ED-4BAC-BB33-2346D14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21" name="content-13">
            <a:extLst xmlns:a="http://schemas.openxmlformats.org/drawingml/2006/main">
              <a:ext uri="{FF2B5EF4-FFF2-40B4-BE49-F238E27FC236}">
                <a16:creationId xmlns:a16="http://schemas.microsoft.com/office/drawing/2014/main" id="{622D84D2-73DC-4A95-84C3-BCC6C60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29577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22" name="content-14">
            <a:extLst xmlns:a="http://schemas.openxmlformats.org/drawingml/2006/main">
              <a:ext uri="{FF2B5EF4-FFF2-40B4-BE49-F238E27FC236}">
                <a16:creationId xmlns:a16="http://schemas.microsoft.com/office/drawing/2014/main" id="{E75D4AEC-CD9F-46F6-9789-B849C349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387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23" name="content-15">
            <a:extLst xmlns:a="http://schemas.openxmlformats.org/drawingml/2006/main">
              <a:ext uri="{FF2B5EF4-FFF2-40B4-BE49-F238E27FC236}">
                <a16:creationId xmlns:a16="http://schemas.microsoft.com/office/drawing/2014/main" id="{3435BA7E-A1BE-4741-BBB0-392B3DCF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3816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24" name="content-16">
            <a:extLst xmlns:a="http://schemas.openxmlformats.org/drawingml/2006/main">
              <a:ext uri="{FF2B5EF4-FFF2-40B4-BE49-F238E27FC236}">
                <a16:creationId xmlns:a16="http://schemas.microsoft.com/office/drawing/2014/main" id="{09CBA0C5-90E9-42D9-BC82-DF52FC6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两处 your_username 都替换为本人超算用户名</a:t>
            </a:r>
          </a:p>
        </p:txBody>
      </p:sp>
      <p:sp>
        <p:nvSpPr>
          <p:cNvPr id="25" name="content-17">
            <a:extLst xmlns:a="http://schemas.openxmlformats.org/drawingml/2006/main">
              <a:ext uri="{FF2B5EF4-FFF2-40B4-BE49-F238E27FC236}">
                <a16:creationId xmlns:a16="http://schemas.microsoft.com/office/drawing/2014/main" id="{4A1D4BB2-2275-426A-93F6-4CD55CD7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保存后在本地运行 ssh jiaowosuan。别名简化命令，认证仍按平台要求完成。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学生免密登录：申请证书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8A01086-6CB9-40E6-803E-55C25685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适用：账号已开放证书申请，并能正常使用密码登录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7E2E5067-8024-4B71-861B-417A8CF6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在本地浏览器打开超算管理系统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F81AABA0-2008-4ADA-80CC-B50C19AE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https://my.hpc.sjtu.edu.cn/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E43AD0A-EDA9-4924-B597-FD0E705BD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核对登录账号，按提示完成 jAccount / 邮箱绑定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51689C4C-F8EF-42AC-9A41-0238D9BF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在证书申请中选择“一键生成”或提交已有公钥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6A6BF024-7340-42F7-9657-3EC677A5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按页面提示完成授权，一键生成后下载私钥与证书两个文件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7D0A37E-CA0E-455F-A292-6537AC80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使用已有密钥时，只提交公钥（.pub），保留原私钥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6A1678C-44DC-4AA3-A04E-95E70875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申请权限以实际账号为准。若无入口或申请失败，继续使用密码登录并联系助教。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.ssh：macOS / Linux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6F5F777-E3D7-4B0F-BC54-04DA3958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66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一键生成的两个文件保存在本地 Downloads 下载目录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5EA82D8-1A88-4930-A98C-205BCE66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id_ed25519 是私钥，id_ed25519-cert.pub 是证书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3F0414F7-D087-4054-96A0-E7983532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90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9F89B84E-A135-434B-A2AC-9A35F4F7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 ~/.ssh/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FA96A641-E2F0-41E5-A9B9-3FE93681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mv -i ~/Downloads/id_ed25519-cert.pub ~/.ssh/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0E3DE64D-31DE-4FE1-B856-C2F2812F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700 ~/.ssh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9C913EE7-8565-4E25-9A0C-BF8DF4C5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600 ~/.ssh/id_ed25519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FAEC08BF-6313-4138-A75D-BD3E9316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完成后，两个文件都位于自己电脑的 ~/.ssh/ 目录下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D47DFAD2-0822-4915-AA8D-D5317A609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按实际文件名和下载路径替换。若提示覆盖同名文件，输入 n，先核对原文件用途。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下载文件移入 .ssh：Windows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1AC2062-B236-49D8-811A-25ED0D66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在自己电脑的 PowerShell 中执行，先切换到本地用户目录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49E43EB5-1D64-454B-8A86-B3015A04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Set-Location "$env:USERPROFILE"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AFD1D581-9EFA-4259-8B8A-6B950D3FE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CAC085F3-2F9D-475B-A8C6-5BA6296D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 .\.ssh\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012A7A3-5798-4B99-AC02-992A05BC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Move-Item .\Downloads\id_ed25519-cert.pub .\.ssh\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BF0CB122-FEF4-46C1-9CDB-56ABD55A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91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完成后，私钥和证书位于 C:/Users/你的用户名/.ssh/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DD802BF-3496-44BA-AF75-EFD81802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按实际文件名和下载路径替换。移动报同名冲突时先核对，保留已有文件。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免密登录的 SSH config 配置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A414BE7-06C2-45D8-947D-869D7ABC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两个文件移入 .ssh 后，编辑自己电脑上的 SSH config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BC5C7C3C-7A72-4554-8648-E5BB3C89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2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 jiaowosuan 和 jiaowosuan-data 的 Host 段内分别追加：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9BDE3B06-5EFC-4F1F-8660-D903800F7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IdentityFile ~/.ssh/id_ed25519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39FD90ED-F0F7-4972-84C6-71CC5666C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CertificateFile ~/.ssh/id_ed25519-cert.pub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4C6ADBE-7C1E-481B-A3CE-C5CB3EE8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IdentitiesOnly yes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9A0683C-0BA2-4DFC-8A9C-21A2C75E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IdentityFile 指向私钥，CertificateFile 指向匹配的证书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B7DBC82C-CCBC-4298-8729-ED208C58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IdentitiesOnly 避免额外尝试 ssh-agent 中的其他密钥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CB0ADB5B-8BD3-4172-AB9B-CB65941A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保留原有 HostName 和 User，使用实际文件名。Windows 的 config 同样可用 ~/.ssh/ 路径。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日常登录与可选验证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DEEA27B-BDCA-439A-8577-5F67A9968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配置完成后，在本地终端直接登录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6E919AFB-A4D5-4F3C-8854-5072876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322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24387E3A-46AF-48B4-8BF5-6E2C79752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也选择同一别名。私钥若设有 passphrase，仍需解锁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89767EFE-2518-401C-85B1-AB14C6D4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可选：仅允许公钥类认证（含证书），避免回退到账号密码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08CB2A09-519C-487E-8775-28CD67D7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00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-o PreferredAuthentications=publickey jiaowosuan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5677D6-184E-41AF-93B9-9AFA31C2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6262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-o 临时传入选项，只影响本次连接，日常登录无需添加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D599FE5-5D8A-455F-BC9B-DD4A2D02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29375"/>
            <a:ext cx="1333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续签时更新证书；若重新一键生成，私钥与证书都要更新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1E708BCC-609F-4176-BE5E-F537EA338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若普通登录仍要求账号密码，检查路径、账号和证书有效期。教学账号仍需校内网络登录。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72D8CD2-C378-452E-BD65-A32051B5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从云盘获取并上传源码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465AA1C-7538-452B-A075-B36D60CD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14" name="content-2">
            <a:extLst xmlns:a="http://schemas.openxmlformats.org/drawingml/2006/main">
              <a:ext uri="{FF2B5EF4-FFF2-40B4-BE49-F238E27FC236}">
                <a16:creationId xmlns:a16="http://schemas.microsoft.com/office/drawing/2014/main" id="{3CD37B2F-FD3B-43C0-AF11-E2F282B2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浏览器下载教师发布的学生包，解压后将根目录命名为 course-labs</a:t>
            </a:r>
          </a:p>
        </p:txBody>
      </p:sp>
      <p:sp>
        <p:nvSpPr>
          <p:cNvPr id="15" name="content-3">
            <a:extLst xmlns:a="http://schemas.openxmlformats.org/drawingml/2006/main">
              <a:ext uri="{FF2B5EF4-FFF2-40B4-BE49-F238E27FC236}">
                <a16:creationId xmlns:a16="http://schemas.microsoft.com/office/drawing/2014/main" id="{D62A69DB-A711-41DD-99E3-FB2F155C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本地终端：在 course-labs 的上一级目录执行</a:t>
            </a:r>
          </a:p>
        </p:txBody>
      </p:sp>
      <p:sp>
        <p:nvSpPr>
          <p:cNvPr id="16" name="content-4">
            <a:extLst xmlns:a="http://schemas.openxmlformats.org/drawingml/2006/main">
              <a:ext uri="{FF2B5EF4-FFF2-40B4-BE49-F238E27FC236}">
                <a16:creationId xmlns:a16="http://schemas.microsoft.com/office/drawing/2014/main" id="{0D69CE6B-B379-4948-A86D-27F98550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./course-labs jiaowosuan-data:</a:t>
            </a:r>
          </a:p>
        </p:txBody>
      </p:sp>
      <p:sp>
        <p:nvSpPr>
          <p:cNvPr id="17" name="content-5">
            <a:extLst xmlns:a="http://schemas.openxmlformats.org/drawingml/2006/main">
              <a:ext uri="{FF2B5EF4-FFF2-40B4-BE49-F238E27FC236}">
                <a16:creationId xmlns:a16="http://schemas.microsoft.com/office/drawing/2014/main" id="{EAA7F502-16FD-4D2E-8D0C-602787B1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8" name="content-6">
            <a:extLst xmlns:a="http://schemas.openxmlformats.org/drawingml/2006/main">
              <a:ext uri="{FF2B5EF4-FFF2-40B4-BE49-F238E27FC236}">
                <a16:creationId xmlns:a16="http://schemas.microsoft.com/office/drawing/2014/main" id="{1A2AD3A8-95AB-4F39-8AE6-9E8ECE9C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19" name="content-7">
            <a:extLst xmlns:a="http://schemas.openxmlformats.org/drawingml/2006/main">
              <a:ext uri="{FF2B5EF4-FFF2-40B4-BE49-F238E27FC236}">
                <a16:creationId xmlns:a16="http://schemas.microsoft.com/office/drawing/2014/main" id="{E3011C2E-F30F-4713-A05E-1E742796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ls labs</a:t>
            </a:r>
          </a:p>
        </p:txBody>
      </p:sp>
      <p:sp>
        <p:nvSpPr>
          <p:cNvPr id="20" name="content-8">
            <a:extLst xmlns:a="http://schemas.openxmlformats.org/drawingml/2006/main">
              <a:ext uri="{FF2B5EF4-FFF2-40B4-BE49-F238E27FC236}">
                <a16:creationId xmlns:a16="http://schemas.microsoft.com/office/drawing/2014/main" id="{17AB631B-C4A0-4DD9-BAB1-9AF59624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后续更新先保存远端修改，再合并新版本。分享页面下载到本地后，通过数据节点上传。</a:t>
            </a:r>
          </a:p>
        </p:txBody>
      </p:sp>
    </p:spTree>
    <p:extLst>
      <p:ext uri="{BB962C8B-B14F-4D97-AF65-F5344CB8AC3E}">
        <p14:creationId xmlns:p14="http://schemas.microsoft.com/office/powerpoint/2010/main" val="15234254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连接与编辑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09A6770-9ABC-4A99-908D-A58F5C35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在本地安装 Microsoft Remote - SSH 扩展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F6AC5F6B-C396-4397-AC0E-98B406E1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289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按 F1，搜索 Remote-SSH: Connect to Host...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EA8E908-6F4A-451C-99F3-EAD1E96F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选择 jiaowosuan，远端系统选择 Linux，完成认证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4B232E0-1C31-447C-9365-51793F34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打开远端 ~/course-labs，确认左下角的 SSH 主机名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3C73381-BF7D-462B-A43C-BB822C08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435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保存源码后，在集成终端先申请计算资源，再编译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7BF07F11-E49B-460E-98AA-7ECD07BD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使用期间保持一个普通 ssh jiaowosuan 会话打开，满足平台的活跃会话要求。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首次连接与排错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CCE61FE-A847-416B-9481-60FAAB30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连接卡住时，查看“输出”中的 Remote - SSH 日志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137CDE4-D6A2-49AC-BC00-0A189740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可在本地“用户设置(JSON)”中合并以下字段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8B010679-3E7B-438D-B6F0-6C7495E2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5703089-D1CE-4E4B-B6D2-9455DFE5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"remote.SSH.showLoginTerminal": true,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AFF8F4D-C17D-436D-AEEA-5FBF852D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"remote.SSH.localServerDownload": "always"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4824C8D1-448A-4D18-A24C-4E4879B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4F7B3432-35A0-40A7-A3D6-D83F099A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显示登录提示；远端下载失败时，由本地下载 Server 再传入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D169129-2695-4378-85CA-25A48C8A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本地需要能访问微软下载服务。SSH config 与 VS Code 用户设置均独立于仓库。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5F8E6EC2-21DA-414B-AF6E-2782ACA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申请一个计算核心(在登陆终端等待分配后直接进入计算终端)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799D959-7B71-430B-BCF8-02A54041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5FE5EA2E-692B-4837-A4E3-AE2A677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9088F77-E9A0-4DE3-8BCB-D7878E65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-p cpu -N 1 -n 1 -c 1 -t 03:00:00 \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70A2566-3C56-4F19-AC4C-D066E5A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--cpu-bind=cores --pty /bin/bash -l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9C9D7A4-D17D-4381-A1E8-8356CADB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19F30DC-12EB-4A76-8418-ECAEF0FF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671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hostname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31BFAE1-8FB9-4E50-AB14-10F440F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gcc --version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1414224-07BF-41F8-BB55-F196F21F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864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--version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32040BB-3DB9-464D-8B2B-57338843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分配后仅当前终端进入计算节点；新终端先核对 hostname。结束时输入 exit。</a:t>
            </a:r>
          </a:p>
        </p:txBody>
      </p:sp>
      <p:sp>
        <p:nvSpPr>
          <p:cNvPr id="12" name="audit-10">
            <a:extLst xmlns:a="http://schemas.openxmlformats.org/drawingml/2006/main">
              <a:ext uri="{FF2B5EF4-FFF2-40B4-BE49-F238E27FC236}">
                <a16:creationId xmlns:a16="http://schemas.microsoft.com/office/drawing/2014/main" id="{912E15DB-3987-4923-BA98-C7A06A2B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767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avail cmake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FAE76524-301C-468D-BF1E-C00B2176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17AE4FE9-BD97-443A-B9D8-AC3F09B9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770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本教程建议 CMake/CTest ≥ 3.20；3.16～3.19 的兼容命令见编译页</a:t>
            </a:r>
          </a:p>
        </p:txBody>
      </p:sp>
    </p:spTree>
    <p:extLst>
      <p:ext uri="{BB962C8B-B14F-4D97-AF65-F5344CB8AC3E}">
        <p14:creationId xmlns:p14="http://schemas.microsoft.com/office/powerpoint/2010/main" val="17451656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8D724B1-87ED-4A13-A3F4-C120F475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1：编译、测试与规则检查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D2D2784-7D4D-4795-BB5B-E9DE9E97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E66E0311-BF57-4471-9FE3-9B6F2C29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71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~/course-labs/labs/lab1-datalab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5217C14A-7421-4B98-9DB0-F93A804E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B42B1C3F-E682-4D02-B33A-2200FA7B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57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-f bitCount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19119A56-A07D-454B-B0D1-C2F0222E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463928D3-78B3-47BC-822F-C45A6776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-g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C680D74B-5E4D-4D90-AF37-66EF4762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chmod u+x ./dlc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DC5A1B7D-E108-496F-BE13-2F822DAE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./dlc bits.c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B9B3357F-44C1-4D63-8610-36CF648F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先填写姓名学号；./btest -g 的正确性满分为 50，make grade 等价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3AE28854-853F-4DF4-A1F7-530BA3EF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24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提交前：make clean &amp;&amp; make，再运行 ./btest -g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62DB9166-36A5-4343-AEC0-55BA55C63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dlc 只检查其支持的规则；新增 FP8 题的编码限制需另行核对</a:t>
            </a:r>
          </a:p>
        </p:txBody>
      </p:sp>
    </p:spTree>
    <p:extLst>
      <p:ext uri="{BB962C8B-B14F-4D97-AF65-F5344CB8AC3E}">
        <p14:creationId xmlns:p14="http://schemas.microsoft.com/office/powerpoint/2010/main" val="1634202534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840FD5F-39E6-4985-8D14-D992FD4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2：按 README 编译框架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CE26C0E-36C8-4374-80D8-2A76944B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sp>
        <p:nvSpPr>
          <p:cNvPr id="11" name="readme-2">
            <a:extLst xmlns:a="http://schemas.openxmlformats.org/drawingml/2006/main">
              <a:ext uri="{FF2B5EF4-FFF2-40B4-BE49-F238E27FC236}">
                <a16:creationId xmlns:a16="http://schemas.microsoft.com/office/drawing/2014/main" id="{84B8DD48-5391-4DBC-A1C7-32C0ACE4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~/course-labs/labs/lab2-matrix</a:t>
            </a:r>
          </a:p>
        </p:txBody>
      </p:sp>
      <p:sp>
        <p:nvSpPr>
          <p:cNvPr id="12" name="readme-3">
            <a:extLst xmlns:a="http://schemas.openxmlformats.org/drawingml/2006/main">
              <a:ext uri="{FF2B5EF4-FFF2-40B4-BE49-F238E27FC236}">
                <a16:creationId xmlns:a16="http://schemas.microsoft.com/office/drawing/2014/main" id="{5DC03C7B-35A6-4B7C-BFE4-422ABEC3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527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</a:t>
            </a:r>
          </a:p>
        </p:txBody>
      </p:sp>
      <p:sp>
        <p:nvSpPr>
          <p:cNvPr id="13" name="readme-4">
            <a:extLst xmlns:a="http://schemas.openxmlformats.org/drawingml/2006/main">
              <a:ext uri="{FF2B5EF4-FFF2-40B4-BE49-F238E27FC236}">
                <a16:creationId xmlns:a16="http://schemas.microsoft.com/office/drawing/2014/main" id="{61360670-76D1-4CC8-A599-6E385AB6F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14" name="readme-5">
            <a:extLst xmlns:a="http://schemas.openxmlformats.org/drawingml/2006/main">
              <a:ext uri="{FF2B5EF4-FFF2-40B4-BE49-F238E27FC236}">
                <a16:creationId xmlns:a16="http://schemas.microsoft.com/office/drawing/2014/main" id="{43449991-35CF-4453-BB79-BAB0F8E2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528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ctest --test-dir build --output-on-failure</a:t>
            </a:r>
          </a:p>
        </p:txBody>
      </p:sp>
      <p:sp>
        <p:nvSpPr>
          <p:cNvPr id="15" name="readme-6">
            <a:extLst xmlns:a="http://schemas.openxmlformats.org/drawingml/2006/main">
              <a:ext uri="{FF2B5EF4-FFF2-40B4-BE49-F238E27FC236}">
                <a16:creationId xmlns:a16="http://schemas.microsoft.com/office/drawing/2014/main" id="{055FB82C-A2E0-4D1E-AB19-A1A84C42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README 第 5 节使用 build/；单核申请将 -j 限制为 -j1</a:t>
            </a:r>
          </a:p>
        </p:txBody>
      </p:sp>
      <p:sp>
        <p:nvSpPr>
          <p:cNvPr id="16" name="readme-7">
            <a:extLst xmlns:a="http://schemas.openxmlformats.org/drawingml/2006/main">
              <a:ext uri="{FF2B5EF4-FFF2-40B4-BE49-F238E27FC236}">
                <a16:creationId xmlns:a16="http://schemas.microsoft.com/office/drawing/2014/main" id="{7EEE52E3-0FF0-44E6-B21E-6C52E255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默认启用框架测试和内置 BLAS，不需要额外数学库</a:t>
            </a:r>
          </a:p>
        </p:txBody>
      </p:sp>
      <p:sp>
        <p:nvSpPr>
          <p:cNvPr id="17" name="readme-8">
            <a:extLst xmlns:a="http://schemas.openxmlformats.org/drawingml/2006/main">
              <a:ext uri="{FF2B5EF4-FFF2-40B4-BE49-F238E27FC236}">
                <a16:creationId xmlns:a16="http://schemas.microsoft.com/office/drawing/2014/main" id="{21C0692F-8B93-410F-BF9B-E3528893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769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CMake 3.16～3.19 的 CTest 兼容写法：</a:t>
            </a:r>
          </a:p>
        </p:txBody>
      </p:sp>
      <p:sp>
        <p:nvSpPr>
          <p:cNvPr id="18" name="readme-9">
            <a:extLst xmlns:a="http://schemas.openxmlformats.org/drawingml/2006/main">
              <a:ext uri="{FF2B5EF4-FFF2-40B4-BE49-F238E27FC236}">
                <a16:creationId xmlns:a16="http://schemas.microsoft.com/office/drawing/2014/main" id="{FBA5E1E4-395A-4BF4-8238-ECBF1A96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86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 &amp;&amp; ctest --output-on-failure)</a:t>
            </a:r>
          </a:p>
        </p:txBody>
      </p:sp>
      <p:sp>
        <p:nvSpPr>
          <p:cNvPr id="19" name="readme-10">
            <a:extLst xmlns:a="http://schemas.openxmlformats.org/drawingml/2006/main">
              <a:ext uri="{FF2B5EF4-FFF2-40B4-BE49-F238E27FC236}">
                <a16:creationId xmlns:a16="http://schemas.microsoft.com/office/drawing/2014/main" id="{39EFE69D-70EA-4203-8CFC-4A9DF280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两个 CTest 测试只检查框架与参考 BLAS，学生函数还需做下一页测试</a:t>
            </a:r>
          </a:p>
        </p:txBody>
      </p:sp>
    </p:spTree>
    <p:extLst>
      <p:ext uri="{BB962C8B-B14F-4D97-AF65-F5344CB8AC3E}">
        <p14:creationId xmlns:p14="http://schemas.microsoft.com/office/powerpoint/2010/main" val="213918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586E408-4221-4D15-90EE-41ABC83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2：小规模正确性检查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A5BF6B0-2386-463E-A36F-5588CDE8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292CE0A5-BFEF-4207-850E-92FFDD7B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第 7.2 节；在 ~/course-labs/labs/lab2-matrix 执行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C2278D6E-38A4-41B1-BA5B-9A59F92E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02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0376ABA3-E789-46C0-AC55-91769609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./build/reg_reuse 6 12 24 48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06868AA-3A3F-4EEF-AB80-5DD508C4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./build/cache_part3 48 6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CB28A3AD-974E-4A28-8111-E94C6486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71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./build/cache_part4_o0 48 6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79D9760D-A371-46F0-9FE6-26537DC7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./build/cache_part4_o1 48 6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8DFD810F-C000-46BC-87CA-6DBBB44B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./build/cache_part4_o2 48 6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E2528D2C-395F-4144-82A2-ACA4C6C9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43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./build/cache_part4_o3 48 6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840C1D25-EC76-4A6E-B84C-9D2BC8682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05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批处理：sbatch slurm/lab2-7.2.slurm（从课程根目录提交）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5BA9F854-3DA7-4F52-9604-B8454964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空模板输出 INVALID 是预期行为；实现并通过检查后再进行正式测量</a:t>
            </a:r>
          </a:p>
        </p:txBody>
      </p:sp>
    </p:spTree>
    <p:extLst>
      <p:ext uri="{BB962C8B-B14F-4D97-AF65-F5344CB8AC3E}">
        <p14:creationId xmlns:p14="http://schemas.microsoft.com/office/powerpoint/2010/main" val="106893996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AED6441-C350-47FB-B161-F73F251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批处理作业的资源参数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F5B9B74-C802-425C-8CCC-F267D57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914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143250"/>
                <a:gridCol w="5572125"/>
              </a:tblGrid>
              <a:tr h="8191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本教程取值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-p / --partition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cpu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明确指定 π 2.0 CPU 队列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--nodes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一个计算节点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--ntasks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一个进程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-c / --cpus-per-task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分配一个 CPU 核心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-t / --time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03:00:00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最多运行 </a:t>
                      </a:r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 小时</a:t>
                      </a:r>
                      <a:r>
                        <a:rPr sz="2100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，不含排队时间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4C8EA9F-FB44-43A8-A20C-972A36D3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当前 lab 使用串行 CPU 程序。正式实验按实测耗时调整时限。</a:t>
            </a:r>
          </a:p>
        </p:txBody>
      </p:sp>
    </p:spTree>
    <p:extLst>
      <p:ext uri="{BB962C8B-B14F-4D97-AF65-F5344CB8AC3E}">
        <p14:creationId xmlns:p14="http://schemas.microsoft.com/office/powerpoint/2010/main" val="11561446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825D593-FF83-4A87-9AE7-3DD0D962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1：批处理评分脚本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3653FC4-AC56-4EDD-BAC4-B45B508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sp>
        <p:nvSpPr>
          <p:cNvPr id="17" name="readme-2">
            <a:extLst xmlns:a="http://schemas.openxmlformats.org/drawingml/2006/main">
              <a:ext uri="{FF2B5EF4-FFF2-40B4-BE49-F238E27FC236}">
                <a16:creationId xmlns:a16="http://schemas.microsoft.com/office/drawing/2014/main" id="{8CDAF397-DC72-4318-8C66-F0A7BD75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90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已提供 slurm/lab1-10.slurm；下方展示默认评分的主要步骤</a:t>
            </a:r>
          </a:p>
        </p:txBody>
      </p:sp>
      <p:sp>
        <p:nvSpPr>
          <p:cNvPr id="18" name="readme-3">
            <a:extLst xmlns:a="http://schemas.openxmlformats.org/drawingml/2006/main">
              <a:ext uri="{FF2B5EF4-FFF2-40B4-BE49-F238E27FC236}">
                <a16:creationId xmlns:a16="http://schemas.microsoft.com/office/drawing/2014/main" id="{3072981D-9DFD-4A8F-9669-DFD8F485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 -l</a:t>
            </a:r>
          </a:p>
        </p:txBody>
      </p:sp>
      <p:sp>
        <p:nvSpPr>
          <p:cNvPr id="19" name="readme-4">
            <a:extLst xmlns:a="http://schemas.openxmlformats.org/drawingml/2006/main">
              <a:ext uri="{FF2B5EF4-FFF2-40B4-BE49-F238E27FC236}">
                <a16:creationId xmlns:a16="http://schemas.microsoft.com/office/drawing/2014/main" id="{9DC7C394-A8EE-499D-B51D-81AE95EF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76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datalab</a:t>
            </a:r>
          </a:p>
        </p:txBody>
      </p:sp>
      <p:sp>
        <p:nvSpPr>
          <p:cNvPr id="20" name="readme-5">
            <a:extLst xmlns:a="http://schemas.openxmlformats.org/drawingml/2006/main">
              <a:ext uri="{FF2B5EF4-FFF2-40B4-BE49-F238E27FC236}">
                <a16:creationId xmlns:a16="http://schemas.microsoft.com/office/drawing/2014/main" id="{BA586735-F004-4409-89D6-3B6E5B7E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21" name="readme-6">
            <a:extLst xmlns:a="http://schemas.openxmlformats.org/drawingml/2006/main">
              <a:ext uri="{FF2B5EF4-FFF2-40B4-BE49-F238E27FC236}">
                <a16:creationId xmlns:a16="http://schemas.microsoft.com/office/drawing/2014/main" id="{03363D86-9555-4B66-BAFE-11369A67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33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03:00:00</a:t>
            </a:r>
          </a:p>
        </p:txBody>
      </p:sp>
      <p:sp>
        <p:nvSpPr>
          <p:cNvPr id="22" name="readme-7">
            <a:extLst xmlns:a="http://schemas.openxmlformats.org/drawingml/2006/main">
              <a:ext uri="{FF2B5EF4-FFF2-40B4-BE49-F238E27FC236}">
                <a16:creationId xmlns:a16="http://schemas.microsoft.com/office/drawing/2014/main" id="{994B53BD-30FD-44AD-9CB3-6503E8B4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results/lab1-%j.log</a:t>
            </a:r>
          </a:p>
        </p:txBody>
      </p:sp>
      <p:sp>
        <p:nvSpPr>
          <p:cNvPr id="23" name="readme-8">
            <a:extLst xmlns:a="http://schemas.openxmlformats.org/drawingml/2006/main">
              <a:ext uri="{FF2B5EF4-FFF2-40B4-BE49-F238E27FC236}">
                <a16:creationId xmlns:a16="http://schemas.microsoft.com/office/drawing/2014/main" id="{8FD6E343-0B6E-452D-8E9D-C4A7696F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24" name="readme-9">
            <a:extLst xmlns:a="http://schemas.openxmlformats.org/drawingml/2006/main">
              <a:ext uri="{FF2B5EF4-FFF2-40B4-BE49-F238E27FC236}">
                <a16:creationId xmlns:a16="http://schemas.microsoft.com/office/drawing/2014/main" id="{65790737-97AF-4C09-AD19-74BD54D8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482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"$SLURM_SUBMIT_DIR/labs/lab1-datalab"</a:t>
            </a:r>
          </a:p>
        </p:txBody>
      </p:sp>
      <p:sp>
        <p:nvSpPr>
          <p:cNvPr id="25" name="readme-10">
            <a:extLst xmlns:a="http://schemas.openxmlformats.org/drawingml/2006/main">
              <a:ext uri="{FF2B5EF4-FFF2-40B4-BE49-F238E27FC236}">
                <a16:creationId xmlns:a16="http://schemas.microsoft.com/office/drawing/2014/main" id="{14858FE7-9E73-45BF-B567-0444425C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769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-j1</a:t>
            </a:r>
          </a:p>
        </p:txBody>
      </p:sp>
      <p:sp>
        <p:nvSpPr>
          <p:cNvPr id="26" name="readme-11">
            <a:extLst xmlns:a="http://schemas.openxmlformats.org/drawingml/2006/main">
              <a:ext uri="{FF2B5EF4-FFF2-40B4-BE49-F238E27FC236}">
                <a16:creationId xmlns:a16="http://schemas.microsoft.com/office/drawing/2014/main" id="{31AE0E23-8D9D-4DC0-8D2C-47B79831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05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./btest -g</a:t>
            </a:r>
          </a:p>
        </p:txBody>
      </p:sp>
      <p:sp>
        <p:nvSpPr>
          <p:cNvPr id="27" name="readme-12">
            <a:extLst xmlns:a="http://schemas.openxmlformats.org/drawingml/2006/main">
              <a:ext uri="{FF2B5EF4-FFF2-40B4-BE49-F238E27FC236}">
                <a16:creationId xmlns:a16="http://schemas.microsoft.com/office/drawing/2014/main" id="{5E0DE355-FB12-4E18-84D7-8B35FE9A9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单题示例：sbatch slurm/lab1-10.slurm bitCount；编码规则仍需另行检查</a:t>
            </a:r>
          </a:p>
        </p:txBody>
      </p:sp>
    </p:spTree>
    <p:extLst>
      <p:ext uri="{BB962C8B-B14F-4D97-AF65-F5344CB8AC3E}">
        <p14:creationId xmlns:p14="http://schemas.microsoft.com/office/powerpoint/2010/main" val="210641230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6A64C19-1774-4F49-B25C-5CC322AB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2：正式实验批处理脚本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7CF88A7-F97A-40C0-9E0D-FC882091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20</a:t>
            </a:r>
          </a:p>
        </p:txBody>
      </p:sp>
      <p:sp>
        <p:nvSpPr>
          <p:cNvPr id="25" name="readme-2">
            <a:extLst xmlns:a="http://schemas.openxmlformats.org/drawingml/2006/main">
              <a:ext uri="{FF2B5EF4-FFF2-40B4-BE49-F238E27FC236}">
                <a16:creationId xmlns:a16="http://schemas.microsoft.com/office/drawing/2014/main" id="{090254F1-9DBB-42C2-A628-44724D6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已提供 slurm/lab2-8.3.slurm；左列接右列展示核心步骤，运行 README §8.3</a:t>
            </a:r>
          </a:p>
        </p:txBody>
      </p:sp>
      <p:sp>
        <p:nvSpPr>
          <p:cNvPr id="26" name="readme-3">
            <a:extLst xmlns:a="http://schemas.openxmlformats.org/drawingml/2006/main">
              <a:ext uri="{FF2B5EF4-FFF2-40B4-BE49-F238E27FC236}">
                <a16:creationId xmlns:a16="http://schemas.microsoft.com/office/drawing/2014/main" id="{80DA9D79-AE87-4634-AE1D-D7AA6ACF7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 -l</a:t>
            </a:r>
          </a:p>
        </p:txBody>
      </p:sp>
      <p:sp>
        <p:nvSpPr>
          <p:cNvPr id="27" name="readme-4">
            <a:extLst xmlns:a="http://schemas.openxmlformats.org/drawingml/2006/main">
              <a:ext uri="{FF2B5EF4-FFF2-40B4-BE49-F238E27FC236}">
                <a16:creationId xmlns:a16="http://schemas.microsoft.com/office/drawing/2014/main" id="{D2D43A07-120E-4D79-B7EF-D65B5832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matrixlab</a:t>
            </a:r>
          </a:p>
        </p:txBody>
      </p:sp>
      <p:sp>
        <p:nvSpPr>
          <p:cNvPr id="28" name="readme-5">
            <a:extLst xmlns:a="http://schemas.openxmlformats.org/drawingml/2006/main">
              <a:ext uri="{FF2B5EF4-FFF2-40B4-BE49-F238E27FC236}">
                <a16:creationId xmlns:a16="http://schemas.microsoft.com/office/drawing/2014/main" id="{C96E7740-F741-4D04-8AB2-B611ACC1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29" name="readme-6">
            <a:extLst xmlns:a="http://schemas.openxmlformats.org/drawingml/2006/main">
              <a:ext uri="{FF2B5EF4-FFF2-40B4-BE49-F238E27FC236}">
                <a16:creationId xmlns:a16="http://schemas.microsoft.com/office/drawing/2014/main" id="{268B548D-CC27-47E1-9E71-5793B85F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03:00:00</a:t>
            </a:r>
          </a:p>
        </p:txBody>
      </p:sp>
      <p:sp>
        <p:nvSpPr>
          <p:cNvPr id="30" name="readme-7">
            <a:extLst xmlns:a="http://schemas.openxmlformats.org/drawingml/2006/main">
              <a:ext uri="{FF2B5EF4-FFF2-40B4-BE49-F238E27FC236}">
                <a16:creationId xmlns:a16="http://schemas.microsoft.com/office/drawing/2014/main" id="{EFEF9CBE-2323-4EEC-9A30-2FE92728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results/lab2-%j.log</a:t>
            </a:r>
          </a:p>
        </p:txBody>
      </p:sp>
      <p:sp>
        <p:nvSpPr>
          <p:cNvPr id="31" name="readme-8">
            <a:extLst xmlns:a="http://schemas.openxmlformats.org/drawingml/2006/main">
              <a:ext uri="{FF2B5EF4-FFF2-40B4-BE49-F238E27FC236}">
                <a16:creationId xmlns:a16="http://schemas.microsoft.com/office/drawing/2014/main" id="{8FEDB931-E506-4F7A-8D22-9A15AB7D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577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32" name="readme-9">
            <a:extLst xmlns:a="http://schemas.openxmlformats.org/drawingml/2006/main">
              <a:ext uri="{FF2B5EF4-FFF2-40B4-BE49-F238E27FC236}">
                <a16:creationId xmlns:a16="http://schemas.microsoft.com/office/drawing/2014/main" id="{5BB030D0-AD18-446C-8171-094ED7D2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33" name="readme-10">
            <a:extLst xmlns:a="http://schemas.openxmlformats.org/drawingml/2006/main">
              <a:ext uri="{FF2B5EF4-FFF2-40B4-BE49-F238E27FC236}">
                <a16:creationId xmlns:a16="http://schemas.microsoft.com/office/drawing/2014/main" id="{7356FBD8-723E-4A48-983C-C0360D44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959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labs/lab2-matrix</a:t>
            </a:r>
          </a:p>
        </p:txBody>
      </p:sp>
      <p:sp>
        <p:nvSpPr>
          <p:cNvPr id="34" name="readme-11">
            <a:extLst xmlns:a="http://schemas.openxmlformats.org/drawingml/2006/main">
              <a:ext uri="{FF2B5EF4-FFF2-40B4-BE49-F238E27FC236}">
                <a16:creationId xmlns:a16="http://schemas.microsoft.com/office/drawing/2014/main" id="{6D69BB35-FED4-4867-9ECD-38F77EB0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module load cmake</a:t>
            </a:r>
          </a:p>
        </p:txBody>
      </p:sp>
      <p:sp>
        <p:nvSpPr>
          <p:cNvPr id="35" name="readme-12">
            <a:extLst xmlns:a="http://schemas.openxmlformats.org/drawingml/2006/main">
              <a:ext uri="{FF2B5EF4-FFF2-40B4-BE49-F238E27FC236}">
                <a16:creationId xmlns:a16="http://schemas.microsoft.com/office/drawing/2014/main" id="{84CA3D62-08BE-417B-95FB-C1D0A5D1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622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</a:t>
            </a:r>
          </a:p>
        </p:txBody>
      </p:sp>
      <p:sp>
        <p:nvSpPr>
          <p:cNvPr id="36" name="readme-13">
            <a:extLst xmlns:a="http://schemas.openxmlformats.org/drawingml/2006/main">
              <a:ext uri="{FF2B5EF4-FFF2-40B4-BE49-F238E27FC236}">
                <a16:creationId xmlns:a16="http://schemas.microsoft.com/office/drawing/2014/main" id="{B597F34F-0856-4261-9B1C-0B97A17F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 -j1</a:t>
            </a:r>
          </a:p>
        </p:txBody>
      </p:sp>
      <p:sp>
        <p:nvSpPr>
          <p:cNvPr id="37" name="readme-14">
            <a:extLst xmlns:a="http://schemas.openxmlformats.org/drawingml/2006/main">
              <a:ext uri="{FF2B5EF4-FFF2-40B4-BE49-F238E27FC236}">
                <a16:creationId xmlns:a16="http://schemas.microsoft.com/office/drawing/2014/main" id="{4A4DEEE8-0EF6-4A6F-8745-B88D1CCC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004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 &amp;&amp; ctest --output-on-failure)</a:t>
            </a:r>
          </a:p>
        </p:txBody>
      </p:sp>
      <p:sp>
        <p:nvSpPr>
          <p:cNvPr id="38" name="readme-15">
            <a:extLst xmlns:a="http://schemas.openxmlformats.org/drawingml/2006/main">
              <a:ext uri="{FF2B5EF4-FFF2-40B4-BE49-F238E27FC236}">
                <a16:creationId xmlns:a16="http://schemas.microsoft.com/office/drawing/2014/main" id="{3EBA9C52-3C80-4A05-95B9-4BBA45B4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19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39" name="readme-16">
            <a:extLst xmlns:a="http://schemas.openxmlformats.org/drawingml/2006/main">
              <a:ext uri="{FF2B5EF4-FFF2-40B4-BE49-F238E27FC236}">
                <a16:creationId xmlns:a16="http://schemas.microsoft.com/office/drawing/2014/main" id="{E65BF0C9-0487-4920-8CF1-7320AF3D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386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\</a:t>
            </a:r>
          </a:p>
        </p:txBody>
      </p:sp>
      <p:sp>
        <p:nvSpPr>
          <p:cNvPr id="40" name="readme-17">
            <a:extLst xmlns:a="http://schemas.openxmlformats.org/drawingml/2006/main">
              <a:ext uri="{FF2B5EF4-FFF2-40B4-BE49-F238E27FC236}">
                <a16:creationId xmlns:a16="http://schemas.microsoft.com/office/drawing/2014/main" id="{58F0E3CB-A00D-4508-9180-11AE5FF0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4577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./build/cache_part3 2048 64 \</a:t>
            </a:r>
          </a:p>
        </p:txBody>
      </p:sp>
      <p:sp>
        <p:nvSpPr>
          <p:cNvPr id="41" name="readme-18">
            <a:extLst xmlns:a="http://schemas.openxmlformats.org/drawingml/2006/main">
              <a:ext uri="{FF2B5EF4-FFF2-40B4-BE49-F238E27FC236}">
                <a16:creationId xmlns:a16="http://schemas.microsoft.com/office/drawing/2014/main" id="{823B27D4-5A41-4131-91E4-6C7DB1A4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876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results/loop_orders.txt</a:t>
            </a:r>
          </a:p>
        </p:txBody>
      </p:sp>
      <p:sp>
        <p:nvSpPr>
          <p:cNvPr id="42" name="readme-19">
            <a:extLst xmlns:a="http://schemas.openxmlformats.org/drawingml/2006/main">
              <a:ext uri="{FF2B5EF4-FFF2-40B4-BE49-F238E27FC236}">
                <a16:creationId xmlns:a16="http://schemas.microsoft.com/office/drawing/2014/main" id="{E94B75E4-07CC-458E-9BB8-B4231408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0485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各阶段脚本与提交命令见 slurm/README.md；同一 Lab 目录一次只跑一个作业</a:t>
            </a:r>
          </a:p>
        </p:txBody>
      </p:sp>
      <p:sp>
        <p:nvSpPr>
          <p:cNvPr id="43" name="readme-20">
            <a:extLst xmlns:a="http://schemas.openxmlformats.org/drawingml/2006/main">
              <a:ext uri="{FF2B5EF4-FFF2-40B4-BE49-F238E27FC236}">
                <a16:creationId xmlns:a16="http://schemas.microsoft.com/office/drawing/2014/main" id="{440F6217-27ED-443E-B9AE-C0C10FFA2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505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提交前在仓库根目录 mkdir -p results；实验数据另存于 Lab 2 的 results/</a:t>
            </a:r>
          </a:p>
        </p:txBody>
      </p:sp>
    </p:spTree>
    <p:extLst>
      <p:ext uri="{BB962C8B-B14F-4D97-AF65-F5344CB8AC3E}">
        <p14:creationId xmlns:p14="http://schemas.microsoft.com/office/powerpoint/2010/main" val="93854646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正式实验：寄存器复用与循环次序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21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92B961C4-6BB3-405D-8443-3B6BF7B5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§8.2 / §8.3；各阶段脚本已提供，下方展示实验命令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D785511A-0C38-44B9-96ED-B1C7E8A6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050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9B7D91D2-F392-4938-8F20-9274B24A8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./build/reg_reuse 66 126 258 510 1026 2046 \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1250969-7C1A-4434-9C83-81B87337D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results/register_reuse.txt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19EFAA0E-29CE-4513-8B86-6D55BF4EB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71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./build/cache_part3 2048 64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DFA1CFE6-C299-48FC-B6A2-194716D9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291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2&gt;&amp;1 | tee results/loop_orders.txt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B71B0160-B393-40BB-9E16-89D498F1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19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记录四个 dgemm 与六种非分块循环次序的正确性、时间和 GFLOP/s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BD32AF88-B1CC-4F8A-AC24-816FC0AE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81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寄存器实验：n 必须能被 6 整除，使用上方指定的六个规模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B86F8EA0-49EA-4F88-8A01-1420E884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151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分别提交：sbatch slurm/lab2-8.2.slurm 和 sbatch slurm/lab2-8.3.slurm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正式实验：缓存块大小筛选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22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6D2D0955-60BC-4861-BF6A-41B408D5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§8.4；n=1024；提交 sbatch slurm/lab2-8.4-block-sweep.slurm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8FEB95B5-4269-4E32-9D25-5A882DE8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results/cache_block_sweep.txt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D8F4103C-7ACB-4F63-BC67-6B00A8F16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b in 16 32 64 128 256;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080D5BD2-393A-40B8-914D-14BF911A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block_size=${b} =====" | tee -a results/cache_block_sweep.txt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2790F1D2-B365-49C1-BCD6-06E1D998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./build/cache_part3 1024 "$b"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8DB55794-3ED1-4460-BDE4-BD0837CC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results/cache_block_sweep.txt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9370E458-F48A-4A41-8D2C-A1386B54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17F54D9A-C9CD-4856-92CD-ED1B570A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29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记录六个分块函数在每个 b 下的 GFLOP/s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4DD13C00-2F1D-4A65-8C5E-9DB161C5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非分块算法与 b 无关，按 README 只记录第一次；选出两个最佳候选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正式实验：在最大规模确认候选块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23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F8DA5DA7-4E59-4CD3-88E0-0A07F10C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§8.4；固定 n=2048，比较筛选出的两个候选值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490D112F-7F18-414B-8E93-5D97F046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results/cache_block_2048.txt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684605A-73CB-43FA-B01C-4997D0EE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b in 64 128;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24BDECDD-801A-43AE-9338-C394106BE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81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n=2048, block_size=${b} =====" \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61F374CD-5A5E-46AB-B621-FFD3626ED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| tee -a results/cache_block_2048.txt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50225E35-0485-49D8-AC73-33921CDCD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005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./build/cache_part3 2048 "$b" \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76691292-AB9C-4007-AEC0-F02278F8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results/cache_block_2048.txt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99B0CBF-9643-44F4-B75F-764CDB55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19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64E1B624-FE41-467B-BE77-93736188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29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64 与 128 是示例，必须替换成上一阶段选出的实际候选值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8C5783FB-6BEF-430E-A67A-B916F982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提交示例：sbatch slurm/lab2-8.4-block-confirm.slurm 64 128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正式实验：编译优化级别比较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24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4096FAB4-F1C2-4439-A505-DB1FA48B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§8.5；固定 n=2048，各优化级别使用相同的 b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60B67D26-767B-41EF-A202-7B054652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38C02F1-A1BF-44A8-A90E-B48B5D7E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337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./build/cache_part4_o${opt} 2048 64 \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D592BABF-9E78-4B1D-9FAC-6F4E8DF3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76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"results/optimal_O${opt}.txt"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5F35A67-468C-444B-A928-DD600A7D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9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AC710728-A69B-478E-94C2-59DA59510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提交示例：sbatch slurm/lab2-8.5.slurm 64；传入实际最佳 b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66828D91-CDAC-407B-9359-90A1B542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055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构建目标 o0、o1、o2、o3 已分别设置 -O0、-O1、-O2、-O3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15ECE234-0D6D-468D-8847-2D48F886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使用同一份 src/mygemm.c；不要另加全局编译优化选项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正式实验：重复测量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25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CCD05431-7D38-4C9B-B846-0AE5E689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§8.6；每种正式配置建议运行 3 次并取中位数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96B82829-EA67-47CB-B3AD-C9B5F9F9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: &gt; results/optimal_O3_repeated.txt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E9E8C0B7-6469-4AAA-8423-D6745264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run in 1 2 3; do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AAE41D56-632A-40EE-9CFE-9A6DADFC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480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run=${run} =====" | tee -a results/optimal_O3_repeated.txt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1ECE1E8F-E7BD-46B0-9DFC-A23B165D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767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./build/cache_part4_o3 2048 64 \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08CE9FE3-A9A9-43D9-8427-CEFFECB3F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053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2&gt;&amp;1 | tee -a results/optimal_O3_repeated.txt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4CD47B9D-8659-418E-9801-72B081E1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91F0140-3AD6-424C-8191-E62E341B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515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提交示例：sbatch slurm/lab2-8.6.slurm 64；传入实际最佳 b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CB841344-26AE-48C2-9F01-6A42CB20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67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重复期间保持源码、编译选项、CPU 型号、n 和 b 一致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环境记录与实验报告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26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953D7A38-5DA6-4829-A774-48D01DF1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§9；各 Lab 2 脚本自动记录环境，下方为交互式记录方法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79F2BE3A-41C3-47C7-9D68-952E4316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007025D1-D810-4F3B-9764-F5D835F3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CPU ====="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00D2E7A7-5503-47F2-B7E1-F0EA0608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lscpu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CEC9302-ABB2-4BAF-B329-7692523B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909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Compiler ====="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4B9B2376-DD1C-4602-A0EE-689487FB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005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gcc --version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9F28633C-045E-4D0C-B5AC-8ED088972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CMake ====="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5574BB60-443A-4B5D-B9C8-9BEC9D17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cmake --version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C4E41357-11E9-4495-AC1F-9D6B68AE8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2922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echo "===== System ====="</a:t>
            </a:r>
          </a:p>
        </p:txBody>
      </p:sp>
      <p:sp>
        <p:nvSpPr>
          <p:cNvPr id="21" name="readme-11">
            <a:extLst xmlns:a="http://schemas.openxmlformats.org/drawingml/2006/main">
              <a:ext uri="{FF2B5EF4-FFF2-40B4-BE49-F238E27FC236}">
                <a16:creationId xmlns:a16="http://schemas.microsoft.com/office/drawing/2014/main" id="{E8FC7A92-AC92-4122-BDC8-F1EF6FE6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uname -a</a:t>
            </a:r>
          </a:p>
        </p:txBody>
      </p:sp>
      <p:sp>
        <p:nvSpPr>
          <p:cNvPr id="22" name="readme-12">
            <a:extLst xmlns:a="http://schemas.openxmlformats.org/drawingml/2006/main">
              <a:ext uri="{FF2B5EF4-FFF2-40B4-BE49-F238E27FC236}">
                <a16:creationId xmlns:a16="http://schemas.microsoft.com/office/drawing/2014/main" id="{3A3BDC74-E8CF-429F-BC29-9BEBDCAC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48375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 &gt; results/environment.txt</a:t>
            </a:r>
          </a:p>
        </p:txBody>
      </p:sp>
      <p:sp>
        <p:nvSpPr>
          <p:cNvPr id="23" name="readme-13">
            <a:extLst xmlns:a="http://schemas.openxmlformats.org/drawingml/2006/main">
              <a:ext uri="{FF2B5EF4-FFF2-40B4-BE49-F238E27FC236}">
                <a16:creationId xmlns:a16="http://schemas.microsoft.com/office/drawing/2014/main" id="{951FC17C-2C37-421F-AB4B-5EB76B47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146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报告四张表与四类图</a:t>
            </a:r>
          </a:p>
        </p:txBody>
      </p:sp>
      <p:sp>
        <p:nvSpPr>
          <p:cNvPr id="24" name="readme-14">
            <a:extLst xmlns:a="http://schemas.openxmlformats.org/drawingml/2006/main">
              <a:ext uri="{FF2B5EF4-FFF2-40B4-BE49-F238E27FC236}">
                <a16:creationId xmlns:a16="http://schemas.microsoft.com/office/drawing/2014/main" id="{C774AE41-8E73-45B9-9FAF-0265E6F8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9565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寄存器复用：GFLOP/s 随 n 变化</a:t>
            </a:r>
          </a:p>
        </p:txBody>
      </p:sp>
      <p:sp>
        <p:nvSpPr>
          <p:cNvPr id="25" name="readme-15">
            <a:extLst xmlns:a="http://schemas.openxmlformats.org/drawingml/2006/main">
              <a:ext uri="{FF2B5EF4-FFF2-40B4-BE49-F238E27FC236}">
                <a16:creationId xmlns:a16="http://schemas.microsoft.com/office/drawing/2014/main" id="{4098CE94-3C94-4BEA-872A-86AB5A73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29075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六种循环次序：性能对比</a:t>
            </a:r>
          </a:p>
        </p:txBody>
      </p:sp>
      <p:sp>
        <p:nvSpPr>
          <p:cNvPr id="26" name="readme-16">
            <a:extLst xmlns:a="http://schemas.openxmlformats.org/drawingml/2006/main">
              <a:ext uri="{FF2B5EF4-FFF2-40B4-BE49-F238E27FC236}">
                <a16:creationId xmlns:a16="http://schemas.microsoft.com/office/drawing/2014/main" id="{A806DEF9-C9BE-4AA5-A1FA-F0F42905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76250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缓存分块：性能随 b 变化</a:t>
            </a:r>
          </a:p>
        </p:txBody>
      </p:sp>
      <p:sp>
        <p:nvSpPr>
          <p:cNvPr id="27" name="readme-17">
            <a:extLst xmlns:a="http://schemas.openxmlformats.org/drawingml/2006/main">
              <a:ext uri="{FF2B5EF4-FFF2-40B4-BE49-F238E27FC236}">
                <a16:creationId xmlns:a16="http://schemas.microsoft.com/office/drawing/2014/main" id="{87B0D418-CD95-4D2E-AA22-CCBD3D37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495925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综合优化：O0～O3 对比</a:t>
            </a:r>
          </a:p>
        </p:txBody>
      </p:sp>
      <p:sp>
        <p:nvSpPr>
          <p:cNvPr id="28" name="readme-18">
            <a:extLst xmlns:a="http://schemas.openxmlformats.org/drawingml/2006/main">
              <a:ext uri="{FF2B5EF4-FFF2-40B4-BE49-F238E27FC236}">
                <a16:creationId xmlns:a16="http://schemas.microsoft.com/office/drawing/2014/main" id="{A9F3F933-948E-4B0F-B74A-427BDB83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另记 hostname、作业编号、编译选项与正确性；图中标明坐标轴、单位、n、b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可选的默认批量检查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27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36441078-4EA8-4DD2-A580-67F36BE4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README §8.7；全部函数正确后，在已申请的计算节点运行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B4E138A3-25D4-48D9-A177-1A3609F1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bash scripts/run_all.sh mydata.txt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815B7EA7-0B65-4E73-BF55-AB58D0F0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输出：labs/lab2-matrix/results/mydata.txt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EDB511C3-8247-4680-B647-9042B5ED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814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脚本使用 build/，并读取程序默认参数：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EF032745-3CF2-4554-B197-6F139513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寄存器：66、126、258、510、1026、2046（与正式实验相同）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4C861EAC-AEBA-477B-943E-365AAEA7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Part 3：n=2000 / b=10；Part 4：n=2040 / b=60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13750734-1DEB-466C-8A72-982D7A5D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4198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正式报告仍按前面第 8.2～8.6 节的指定参数收集数据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E23D5083-361F-47CD-B5E6-637FDEC8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771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批处理：sbatch slurm/lab2-8.7.slurm（从课程根目录提交）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612394CC-8575-4464-AFFB-B6076536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提交、排队与查看结果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158A11F-D6F6-48EE-ADBB-EDFD897B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28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8B9CC70-AE56-4592-A003-4568EB0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335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14F1CBD-B84F-49C4-8470-7E62BD26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860441D-2A63-4E32-AE12-9D90B1AF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slurm/lab1-10.slurm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525BE3C-2016-4364-B632-4CB47B82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slurm/lab2-8.3.slurm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F4A74E6-1059-4592-A886-07DE475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766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squeue -u "$USER"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89C195E-CADB-4978-ADF6-AB906E52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B0E0F2F9-C2D3-4E6E-BD74-17FCB90A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482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tail -F results/lab2-123456.log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B6AF41C-1C31-41F9-8CAF-A7DD965E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sacct -j 123456 --format=JobID,State,ExitCode,Elapsed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F9932E0-745F-4F79-9C99-BBD79304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009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PD 表示排队，R 表示运行。123456 需要替换成 sbatch 返回的作业编号。</a:t>
            </a:r>
          </a:p>
        </p:txBody>
      </p:sp>
      <p:sp>
        <p:nvSpPr>
          <p:cNvPr id="13" name="audit-11">
            <a:extLst xmlns:a="http://schemas.openxmlformats.org/drawingml/2006/main">
              <a:ext uri="{FF2B5EF4-FFF2-40B4-BE49-F238E27FC236}">
                <a16:creationId xmlns:a16="http://schemas.microsoft.com/office/drawing/2014/main" id="{BB4B1ED5-F9C5-485E-B02E-63C51E19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76375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在登录节点执行；若仍在交互计算节点，先 exit 返回</a:t>
            </a:r>
          </a:p>
        </p:txBody>
      </p:sp>
      <p:sp>
        <p:nvSpPr>
          <p:cNvPr id="14" name="audit-12">
            <a:extLst xmlns:a="http://schemas.openxmlformats.org/drawingml/2006/main">
              <a:ext uri="{FF2B5EF4-FFF2-40B4-BE49-F238E27FC236}">
                <a16:creationId xmlns:a16="http://schemas.microsoft.com/office/drawing/2014/main" id="{EC7173EC-7CAF-4009-9AED-C0E20586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24500"/>
            <a:ext cx="1343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按 Ctrl-C 结束日志查看，再执行下面的 sacct</a:t>
            </a:r>
          </a:p>
        </p:txBody>
      </p:sp>
    </p:spTree>
    <p:extLst>
      <p:ext uri="{BB962C8B-B14F-4D97-AF65-F5344CB8AC3E}">
        <p14:creationId xmlns:p14="http://schemas.microsoft.com/office/powerpoint/2010/main" val="3225986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7871AF5-F767-424E-8B08-4F54E40B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下载日志与正式实验数据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6CA767A-97FF-49CD-B2D8-DA59CD7A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29</a:t>
            </a:r>
          </a:p>
        </p:txBody>
      </p:sp>
      <p:sp>
        <p:nvSpPr>
          <p:cNvPr id="12" name="readme-2">
            <a:extLst xmlns:a="http://schemas.openxmlformats.org/drawingml/2006/main">
              <a:ext uri="{FF2B5EF4-FFF2-40B4-BE49-F238E27FC236}">
                <a16:creationId xmlns:a16="http://schemas.microsoft.com/office/drawing/2014/main" id="{E1CA5922-317E-46DB-AAD6-87A7AE19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71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在本地终端执行：macOS / Linux / Windows PowerShell</a:t>
            </a:r>
          </a:p>
        </p:txBody>
      </p:sp>
      <p:sp>
        <p:nvSpPr>
          <p:cNvPr id="13" name="readme-3">
            <a:extLst xmlns:a="http://schemas.openxmlformats.org/drawingml/2006/main">
              <a:ext uri="{FF2B5EF4-FFF2-40B4-BE49-F238E27FC236}">
                <a16:creationId xmlns:a16="http://schemas.microsoft.com/office/drawing/2014/main" id="{45289BA1-0B67-4041-8BB6-31F2E574B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907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pi2-results</a:t>
            </a:r>
          </a:p>
        </p:txBody>
      </p:sp>
      <p:sp>
        <p:nvSpPr>
          <p:cNvPr id="14" name="readme-4">
            <a:extLst xmlns:a="http://schemas.openxmlformats.org/drawingml/2006/main">
              <a:ext uri="{FF2B5EF4-FFF2-40B4-BE49-F238E27FC236}">
                <a16:creationId xmlns:a16="http://schemas.microsoft.com/office/drawing/2014/main" id="{FB5D2DEC-43C4-4216-BA04-B83A74A7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956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jiaowosuan-data:course-labs/results ./pi2-results/slurm</a:t>
            </a:r>
          </a:p>
        </p:txBody>
      </p:sp>
      <p:sp>
        <p:nvSpPr>
          <p:cNvPr id="15" name="readme-5">
            <a:extLst xmlns:a="http://schemas.openxmlformats.org/drawingml/2006/main">
              <a:ext uri="{FF2B5EF4-FFF2-40B4-BE49-F238E27FC236}">
                <a16:creationId xmlns:a16="http://schemas.microsoft.com/office/drawing/2014/main" id="{140DE48F-B4E4-4478-BB61-E364BB7C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jiaowosuan-data:course-labs/labs/lab2-matrix/results ./pi2-results/lab2</a:t>
            </a:r>
          </a:p>
        </p:txBody>
      </p:sp>
      <p:sp>
        <p:nvSpPr>
          <p:cNvPr id="16" name="readme-6">
            <a:extLst xmlns:a="http://schemas.openxmlformats.org/drawingml/2006/main">
              <a:ext uri="{FF2B5EF4-FFF2-40B4-BE49-F238E27FC236}">
                <a16:creationId xmlns:a16="http://schemas.microsoft.com/office/drawing/2014/main" id="{86F13CCF-DD6F-41DE-8DD0-18A05E28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pi2-results/slurm/：作业总日志；pi2-results/lab2/：实验数据与环境</a:t>
            </a:r>
          </a:p>
        </p:txBody>
      </p:sp>
      <p:sp>
        <p:nvSpPr>
          <p:cNvPr id="17" name="readme-7">
            <a:extLst xmlns:a="http://schemas.openxmlformats.org/drawingml/2006/main">
              <a:ext uri="{FF2B5EF4-FFF2-40B4-BE49-F238E27FC236}">
                <a16:creationId xmlns:a16="http://schemas.microsoft.com/office/drawing/2014/main" id="{812128CF-AA7B-4962-940D-56D76841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34025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使用新的本地目录；只做 Lab 1 时下载 Slurm 日志即可</a:t>
            </a:r>
          </a:p>
        </p:txBody>
      </p:sp>
      <p:sp>
        <p:nvSpPr>
          <p:cNvPr id="18" name="readme-8">
            <a:extLst xmlns:a="http://schemas.openxmlformats.org/drawingml/2006/main">
              <a:ext uri="{FF2B5EF4-FFF2-40B4-BE49-F238E27FC236}">
                <a16:creationId xmlns:a16="http://schemas.microsoft.com/office/drawing/2014/main" id="{17EFE179-DFBF-4F01-81A1-F3D0AAD2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722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需要主动取消时，在登录节点执行：</a:t>
            </a:r>
          </a:p>
        </p:txBody>
      </p:sp>
      <p:sp>
        <p:nvSpPr>
          <p:cNvPr id="19" name="readme-9">
            <a:extLst xmlns:a="http://schemas.openxmlformats.org/drawingml/2006/main">
              <a:ext uri="{FF2B5EF4-FFF2-40B4-BE49-F238E27FC236}">
                <a16:creationId xmlns:a16="http://schemas.microsoft.com/office/drawing/2014/main" id="{F35224AD-33CB-42D7-8560-8054FFF6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scancel 123456</a:t>
            </a:r>
          </a:p>
        </p:txBody>
      </p:sp>
      <p:sp>
        <p:nvSpPr>
          <p:cNvPr id="20" name="readme-10">
            <a:extLst xmlns:a="http://schemas.openxmlformats.org/drawingml/2006/main">
              <a:ext uri="{FF2B5EF4-FFF2-40B4-BE49-F238E27FC236}">
                <a16:creationId xmlns:a16="http://schemas.microsoft.com/office/drawing/2014/main" id="{2CE75B29-175D-4980-97CB-2B871CF1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486650"/>
            <a:ext cx="1343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将 123456 替换为实际作业编号；交互作业结束时输入 exit</a:t>
            </a:r>
          </a:p>
        </p:txBody>
      </p:sp>
    </p:spTree>
    <p:extLst>
      <p:ext uri="{BB962C8B-B14F-4D97-AF65-F5344CB8AC3E}">
        <p14:creationId xmlns:p14="http://schemas.microsoft.com/office/powerpoint/2010/main" val="140297928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下载最终源码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4C733361-F679-4EC8-937A-B9E0A8CE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先保存远端源码并完成测试，再在本地终端下载最终版本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D8064D9C-D658-402C-90B7-11932A8D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pi2-submission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6F891123-724C-4FC4-BE1E-03DC67EA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pi2-submission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F946EB0-9F8E-4AAB-AF5A-2FBA0EF7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957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jiaowosuan-data:course-labs/labs/lab1-datalab/bits.c ./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C427AC3-0DFE-4869-95C5-6DEE7966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jiaowosuan-data:course-labs/labs/lab2-matrix/src/mygemm.c ./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ECF3154C-1714-4F83-97C1-974A6B53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两条下载命令按当前 Lab 选择，分别上传对应的源码收集任务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1577B6F-BCA0-4CFA-9E18-695B363F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43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源码单独提交 .c 文件，报告与日志按课程指定入口另交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A8F144F0-F8FC-4089-A144-981FF8E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上传前打开本地文件，核对已保存的最终代码。保留本地副本与提交记录。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云盘源码提交要求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31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41E209A0-A5C8-459B-A580-C1C0B41A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1：上传 bits.c，填写文件内的本人姓名和学号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42A89DEE-DF42-4946-91BC-6D625230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14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2：上传 mygemm.c，保留题目规定的函数接口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E1E99566-D968-43CD-BA1A-8F763AC2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打开对应 Lab 的“源码提交”链接，填写学号与姓名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02CD9E1D-4D77-45B5-B8A9-FC906E6D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>
                <a:solidFill>
                  <a:srgbClr val="B7EDDB"/>
                </a:solidFill>
                <a:latin typeface="Menlo"/>
                <a:ea typeface="Menlo"/>
                <a:cs typeface="Menlo"/>
              </a:rPr>
              <a:t>云盘统一命名，例如：0001_示例甲.c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0978764D-C50E-4EA7-BA0D-3C592E25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每个 Lab 分开提交，报告与实验日志按通知另交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8C150200-50A3-4E14-87D0-3B336957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源码收集接受单个 .c。多文件实验采用教师指定的 ZIP 结构。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云盘上传与重新提交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32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2032E798-D2F7-4C74-9308-C65AC98A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打开教师发布的当前 Lab 源码收集链接并登录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31A9C603-AD76-4A02-87FC-D87FC3C0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填写本人学号、姓名，选择已经自测的本地源码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D026A457-5399-46C6-AB70-BE38F322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814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点击提交，等待上传完成，检查自己的提交记录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61637B50-329A-428C-ACBD-395C69E1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9107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修改后在相同入口重新上传，选择替换旧文件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96B86450-0F7F-4011-99AE-E91A433ED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00725"/>
            <a:ext cx="1333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在截止前确认最终版本，保留本地源码和提交记录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B755FA88-6259-4A2D-BBAC-0E03A668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云盘上传负责交件。正确性测试需自行运行，助教下载后统一评分。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正确性反馈与复查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33</a:t>
            </a:r>
          </a:p>
        </p:txBody>
      </p:sp>
      <p:sp>
        <p:nvSpPr>
          <p:cNvPr id="10" name="submission-2">
            <a:extLst xmlns:a="http://schemas.openxmlformats.org/drawingml/2006/main">
              <a:ext uri="{FF2B5EF4-FFF2-40B4-BE49-F238E27FC236}">
                <a16:creationId xmlns:a16="http://schemas.microsoft.com/office/drawing/2014/main" id="{833FCE93-5FE9-41C8-A0C1-74D06587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助教使用收到的源码重新编译，按函数检查正确性</a:t>
            </a:r>
          </a:p>
        </p:txBody>
      </p:sp>
      <p:sp>
        <p:nvSpPr>
          <p:cNvPr id="11" name="submission-3">
            <a:extLst xmlns:a="http://schemas.openxmlformats.org/drawingml/2006/main">
              <a:ext uri="{FF2B5EF4-FFF2-40B4-BE49-F238E27FC236}">
                <a16:creationId xmlns:a16="http://schemas.microsoft.com/office/drawing/2014/main" id="{2DDED857-57DC-40FB-85E2-29ECEF81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编译失败：查看编译日志，检查语法、文件与函数接口</a:t>
            </a:r>
          </a:p>
        </p:txBody>
      </p:sp>
      <p:sp>
        <p:nvSpPr>
          <p:cNvPr id="12" name="submission-4">
            <a:extLst xmlns:a="http://schemas.openxmlformats.org/drawingml/2006/main">
              <a:ext uri="{FF2B5EF4-FFF2-40B4-BE49-F238E27FC236}">
                <a16:creationId xmlns:a16="http://schemas.microsoft.com/office/drawing/2014/main" id="{48F8858D-3042-4842-A11C-E8F68F86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14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结果错误：根据失败函数与输入定位问题，再运行公开测试</a:t>
            </a:r>
          </a:p>
        </p:txBody>
      </p:sp>
      <p:sp>
        <p:nvSpPr>
          <p:cNvPr id="13" name="submission-5">
            <a:extLst xmlns:a="http://schemas.openxmlformats.org/drawingml/2006/main">
              <a:ext uri="{FF2B5EF4-FFF2-40B4-BE49-F238E27FC236}">
                <a16:creationId xmlns:a16="http://schemas.microsoft.com/office/drawing/2014/main" id="{ABFB9E32-64CB-4327-B2E8-23CE2C5F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672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超时或崩溃：检查循环是否结束、数组访问是否越界</a:t>
            </a:r>
          </a:p>
        </p:txBody>
      </p:sp>
      <p:sp>
        <p:nvSpPr>
          <p:cNvPr id="14" name="submission-6">
            <a:extLst xmlns:a="http://schemas.openxmlformats.org/drawingml/2006/main">
              <a:ext uri="{FF2B5EF4-FFF2-40B4-BE49-F238E27FC236}">
                <a16:creationId xmlns:a16="http://schemas.microsoft.com/office/drawing/2014/main" id="{8F701B04-393D-4877-AD07-5BA31F2F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1975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缺交、重复或身份不符：先核对云盘提交记录并联系助教</a:t>
            </a:r>
          </a:p>
        </p:txBody>
      </p:sp>
      <p:sp>
        <p:nvSpPr>
          <p:cNvPr id="15" name="submission-7">
            <a:extLst xmlns:a="http://schemas.openxmlformats.org/drawingml/2006/main">
              <a:ext uri="{FF2B5EF4-FFF2-40B4-BE49-F238E27FC236}">
                <a16:creationId xmlns:a16="http://schemas.microsoft.com/office/drawing/2014/main" id="{7D688176-BFF1-4371-9B7C-B494D97E8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自动分数只计算正确性。编码规则另行检查，复查使用已归档的源码。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A3171DB-808B-4A18-9ACA-95A6DBF5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常见问题与处理顺序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040DB76-BAC7-4FD5-99D5-BF576516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34</a:t>
            </a:r>
          </a:p>
        </p:txBody>
      </p:sp>
      <p:graphicFrame>
        <p:nvGraphicFramePr>
          <p:cNvPr id="9" name="表格 8"/>
          <p:cNvGraphicFramePr/>
          <p:nvPr/>
        </p:nvGraphicFramePr>
        <p:xfrm>
          <a:off xmlns:a="http://schemas.openxmlformats.org/drawingml/2006/main" x="876300" y="1809750"/>
          <a:ext xmlns:a="http://schemas.openxmlformats.org/drawingml/2006/main" cx="13335000" cy="4972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5619750"/>
              </a:tblGrid>
              <a:tr h="82867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现象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先检查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下一步</a:t>
                      </a:r>
                    </a:p>
                  </a:txBody>
                  <a:tcPr marL="91440" marR="91440" marT="45720" marB="45720" anchor="ctr">
                    <a:solidFill>
                      <a:srgbClr val="16665F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作业一直 PD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squeue 显示的原因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等待资源，或核对账户和队列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找不到 cmake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module avail cmake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加载模块；CTest 建议 ≥ 3.20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CMake 路径错误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是否复制过旧 build 目录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换新的构建目录重新配置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实验输出 INVALID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对应函数与矩阵参数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小规模调试，修正后再测性能</a:t>
                      </a:r>
                    </a:p>
                  </a:txBody>
                  <a:tcPr marL="91440" marR="91440" marT="45720" marB="45720" anchor="ctr">
                    <a:solidFill>
                      <a:srgbClr val="1D4650"/>
                    </a:solidFill>
                  </a:tcPr>
                </a:tc>
              </a:tr>
              <a:tr h="828675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DataLab 无法评分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姓名学号是否填写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EAF1E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按题面填写并完成 bits.c</a:t>
                      </a:r>
                    </a:p>
                  </a:txBody>
                  <a:tcPr marL="91440" marR="91440" marT="45720" marB="45720" anchor="ctr">
                    <a:solidFill>
                      <a:srgbClr val="173A44"/>
                    </a:solidFill>
                  </a:tcPr>
                </a:tc>
              </a:tr>
            </a:tbl>
          </a:graphicData>
        </a:graphic>
      </p:graphicFrame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0AAA11F-66AD-444C-93C4-06C79BEE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批处理作业在登录节点提交：sbatch slurm/lab1-10.slurm 或 sbatch slurm/lab2-8.3.slurm。</a:t>
            </a:r>
          </a:p>
        </p:txBody>
      </p:sp>
    </p:spTree>
    <p:extLst>
      <p:ext uri="{BB962C8B-B14F-4D97-AF65-F5344CB8AC3E}">
        <p14:creationId xmlns:p14="http://schemas.microsoft.com/office/powerpoint/2010/main" val="107766403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AF6722A-A459-4877-B5CF-BEDD709E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第一次练习与参考资料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5377480-1642-4A8D-83FC-1C9CC505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35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9FD56CD-76B5-4F6E-8714-F7AA4A7B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54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练习目标：完成远程测试，并通过云盘提交一次作业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D41C933-B09A-47AC-BBC6-88DC43E6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133350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1. 配置 SSH，用 VS Code 打开远端源码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2. 申请计算节点，编译并检查当前 Lab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3. 下载已经保存并测试的最终源码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4. 上传对应的云盘源码任务，核对提交记录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5CD8DAC-05D9-4A50-BC6F-5F4F6FD2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62575"/>
            <a:ext cx="1266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官方文档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7F9CCE5-F9C2-4501-A882-CB8AAA2D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0bbc72e69a044184"/>
              </a:rPr>
              <a:t>登录与账号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E80C01E-7DFC-45C1-B0D2-2DDDAD0B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25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3ea5ce5390f642a9"/>
              </a:rPr>
              <a:t>Slurm 作业管理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6A53C6D5-E03E-43B4-AD6E-0E08D932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4850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57a00844a1644d93"/>
              </a:rPr>
              <a:t>文件传输</a:t>
            </a:r>
          </a:p>
        </p:txBody>
      </p:sp>
    </p:spTree>
    <p:extLst>
      <p:ext uri="{BB962C8B-B14F-4D97-AF65-F5344CB8AC3E}">
        <p14:creationId xmlns:p14="http://schemas.microsoft.com/office/powerpoint/2010/main" val="51431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2026-09-27T11:25:28.9590000Z</dcterms:created>
  <dcterms:modified xsi:type="dcterms:W3CDTF">2026-09-27T11:25:28.9590000Z</dcterms:modified>
</coreProperties>
</file>