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d89414e63894b2b" /><Relationship Type="http://schemas.openxmlformats.org/officeDocument/2006/relationships/extended-properties" Target="/docProps/app.xml" Id="Re53bec7bd91c4c95" /><Relationship Type="http://schemas.openxmlformats.org/officeDocument/2006/relationships/officeDocument" Target="/ppt/presentation.xml" Id="Rfe4d21e13fce4fa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c1f774aeebc4d02"/>
  </p:sldMasterIdLst>
  <p:notesMasterIdLst>
    <p:notesMasterId xmlns:r="http://schemas.openxmlformats.org/officeDocument/2006/relationships" r:id="Rb8408fbe46a84e1f"/>
  </p:notesMasterIdLst>
  <p:sldIdLst>
    <p:sldId xmlns:r="http://schemas.openxmlformats.org/officeDocument/2006/relationships" id="256" r:id="R555878d5e0784c5b"/>
    <p:sldId xmlns:r="http://schemas.openxmlformats.org/officeDocument/2006/relationships" id="257" r:id="R77f0f6362cdf4f09"/>
    <p:sldId xmlns:r="http://schemas.openxmlformats.org/officeDocument/2006/relationships" id="258" r:id="R3a8165a7fd4a4ca2"/>
    <p:sldId xmlns:r="http://schemas.openxmlformats.org/officeDocument/2006/relationships" id="259" r:id="R6bf8769e62ac431b"/>
    <p:sldId xmlns:r="http://schemas.openxmlformats.org/officeDocument/2006/relationships" id="260" r:id="Ra8cade9e10164fb3"/>
    <p:sldId xmlns:r="http://schemas.openxmlformats.org/officeDocument/2006/relationships" id="261" r:id="R975134669c154e58"/>
    <p:sldId xmlns:r="http://schemas.openxmlformats.org/officeDocument/2006/relationships" id="262" r:id="Raddde8e89de840f3"/>
    <p:sldId xmlns:r="http://schemas.openxmlformats.org/officeDocument/2006/relationships" id="263" r:id="Rbb6c78651d564af3"/>
    <p:sldId xmlns:r="http://schemas.openxmlformats.org/officeDocument/2006/relationships" id="264" r:id="Rd744a87268934f8d"/>
    <p:sldId xmlns:r="http://schemas.openxmlformats.org/officeDocument/2006/relationships" id="265" r:id="R8017aea5794047db"/>
    <p:sldId xmlns:r="http://schemas.openxmlformats.org/officeDocument/2006/relationships" id="266" r:id="Redc8b26ca57d494f"/>
    <p:sldId xmlns:r="http://schemas.openxmlformats.org/officeDocument/2006/relationships" id="267" r:id="R1126d0432f8b46a3"/>
    <p:sldId xmlns:r="http://schemas.openxmlformats.org/officeDocument/2006/relationships" id="268" r:id="R7e6bcaf9cd3c4448"/>
    <p:sldId xmlns:r="http://schemas.openxmlformats.org/officeDocument/2006/relationships" id="269" r:id="Rf787fc7780ac4a9a"/>
    <p:sldId xmlns:r="http://schemas.openxmlformats.org/officeDocument/2006/relationships" id="270" r:id="Rce18e390debc4836"/>
    <p:sldId xmlns:r="http://schemas.openxmlformats.org/officeDocument/2006/relationships" id="271" r:id="R5231b4c83ff0475f"/>
    <p:sldId xmlns:r="http://schemas.openxmlformats.org/officeDocument/2006/relationships" id="272" r:id="R52548e1bb64b402e"/>
    <p:sldId xmlns:r="http://schemas.openxmlformats.org/officeDocument/2006/relationships" id="273" r:id="R0f0a0fbbee804d5b"/>
    <p:sldId xmlns:r="http://schemas.openxmlformats.org/officeDocument/2006/relationships" id="274" r:id="Rd922a418f2584d4f"/>
    <p:sldId xmlns:r="http://schemas.openxmlformats.org/officeDocument/2006/relationships" id="275" r:id="Rbdb52942971c4292"/>
    <p:sldId xmlns:r="http://schemas.openxmlformats.org/officeDocument/2006/relationships" id="276" r:id="R65a8c12c6f744430"/>
    <p:sldId xmlns:r="http://schemas.openxmlformats.org/officeDocument/2006/relationships" id="277" r:id="R2123c1447bae4e14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67caf5830848c0" /><Relationship Type="http://schemas.openxmlformats.org/officeDocument/2006/relationships/slideMaster" Target="/ppt/slideMasters/slideMaster1.xml" Id="R2c1f774aeebc4d02" /><Relationship Type="http://schemas.openxmlformats.org/officeDocument/2006/relationships/notesMaster" Target="/ppt/notesMasters/notesMaster1.xml" Id="Rb8408fbe46a84e1f" /><Relationship Type="http://schemas.openxmlformats.org/officeDocument/2006/relationships/presProps" Target="/ppt/presProps.xml" Id="R0833eac70c074ada" /><Relationship Type="http://schemas.openxmlformats.org/officeDocument/2006/relationships/tableStyles" Target="/ppt/tableStyles.xml" Id="R035e6513de724f33" /><Relationship Type="http://schemas.openxmlformats.org/officeDocument/2006/relationships/slide" Target="/ppt/slides/slide1.xml" Id="R555878d5e0784c5b" /><Relationship Type="http://schemas.openxmlformats.org/officeDocument/2006/relationships/slide" Target="/ppt/slides/slide2.xml" Id="R77f0f6362cdf4f09" /><Relationship Type="http://schemas.openxmlformats.org/officeDocument/2006/relationships/slide" Target="/ppt/slides/slide3.xml" Id="R3a8165a7fd4a4ca2" /><Relationship Type="http://schemas.openxmlformats.org/officeDocument/2006/relationships/slide" Target="/ppt/slides/slide4.xml" Id="R6bf8769e62ac431b" /><Relationship Type="http://schemas.openxmlformats.org/officeDocument/2006/relationships/slide" Target="/ppt/slides/slide5.xml" Id="Ra8cade9e10164fb3" /><Relationship Type="http://schemas.openxmlformats.org/officeDocument/2006/relationships/slide" Target="/ppt/slides/slide6.xml" Id="R975134669c154e58" /><Relationship Type="http://schemas.openxmlformats.org/officeDocument/2006/relationships/slide" Target="/ppt/slides/slide7.xml" Id="Raddde8e89de840f3" /><Relationship Type="http://schemas.openxmlformats.org/officeDocument/2006/relationships/slide" Target="/ppt/slides/slide8.xml" Id="Rbb6c78651d564af3" /><Relationship Type="http://schemas.openxmlformats.org/officeDocument/2006/relationships/slide" Target="/ppt/slides/slide9.xml" Id="Rd744a87268934f8d" /><Relationship Type="http://schemas.openxmlformats.org/officeDocument/2006/relationships/slide" Target="/ppt/slides/slide10.xml" Id="R8017aea5794047db" /><Relationship Type="http://schemas.openxmlformats.org/officeDocument/2006/relationships/slide" Target="/ppt/slides/slide11.xml" Id="Redc8b26ca57d494f" /><Relationship Type="http://schemas.openxmlformats.org/officeDocument/2006/relationships/slide" Target="/ppt/slides/slide12.xml" Id="R1126d0432f8b46a3" /><Relationship Type="http://schemas.openxmlformats.org/officeDocument/2006/relationships/slide" Target="/ppt/slides/slide13.xml" Id="R7e6bcaf9cd3c4448" /><Relationship Type="http://schemas.openxmlformats.org/officeDocument/2006/relationships/slide" Target="/ppt/slides/slide14.xml" Id="Rf787fc7780ac4a9a" /><Relationship Type="http://schemas.openxmlformats.org/officeDocument/2006/relationships/slide" Target="/ppt/slides/slide15.xml" Id="Rce18e390debc4836" /><Relationship Type="http://schemas.openxmlformats.org/officeDocument/2006/relationships/slide" Target="/ppt/slides/slide16.xml" Id="R5231b4c83ff0475f" /><Relationship Type="http://schemas.openxmlformats.org/officeDocument/2006/relationships/slide" Target="/ppt/slides/slide17.xml" Id="R52548e1bb64b402e" /><Relationship Type="http://schemas.openxmlformats.org/officeDocument/2006/relationships/slide" Target="/ppt/slides/slide18.xml" Id="R0f0a0fbbee804d5b" /><Relationship Type="http://schemas.openxmlformats.org/officeDocument/2006/relationships/slide" Target="/ppt/slides/slide19.xml" Id="Rd922a418f2584d4f" /><Relationship Type="http://schemas.openxmlformats.org/officeDocument/2006/relationships/slide" Target="/ppt/slides/slide20.xml" Id="Rbdb52942971c4292" /><Relationship Type="http://schemas.openxmlformats.org/officeDocument/2006/relationships/slide" Target="/ppt/slides/slide21.xml" Id="R65a8c12c6f744430" /><Relationship Type="http://schemas.openxmlformats.org/officeDocument/2006/relationships/slide" Target="/ppt/slides/slide22.xml" Id="R2123c1447bae4e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838bf4ca8740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2f95ea4744f4cdb" /><Relationship Type="http://schemas.openxmlformats.org/officeDocument/2006/relationships/notesMaster" Target="/ppt/notesMasters/notesMaster1.xml" Id="Rf68a68c24de1400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15bc1dfacd498d" /><Relationship Type="http://schemas.openxmlformats.org/officeDocument/2006/relationships/notesMaster" Target="/ppt/notesMasters/notesMaster1.xml" Id="R18533d600db0469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939b4a9eb94402e" /><Relationship Type="http://schemas.openxmlformats.org/officeDocument/2006/relationships/notesMaster" Target="/ppt/notesMasters/notesMaster1.xml" Id="R64e529139a2b42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9716c5cc3c4a66" /><Relationship Type="http://schemas.openxmlformats.org/officeDocument/2006/relationships/notesMaster" Target="/ppt/notesMasters/notesMaster1.xml" Id="R88885b4453ae4a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a50c46d9db4034" /><Relationship Type="http://schemas.openxmlformats.org/officeDocument/2006/relationships/notesMaster" Target="/ppt/notesMasters/notesMaster1.xml" Id="R58822cde838045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e73f510f774ab3" /><Relationship Type="http://schemas.openxmlformats.org/officeDocument/2006/relationships/notesMaster" Target="/ppt/notesMasters/notesMaster1.xml" Id="Rdaa2b2058f0849a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52b2237fd2e4f32" /><Relationship Type="http://schemas.openxmlformats.org/officeDocument/2006/relationships/notesMaster" Target="/ppt/notesMasters/notesMaster1.xml" Id="R1ad0d2ba4754454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5f6f88cb1e0484a" /><Relationship Type="http://schemas.openxmlformats.org/officeDocument/2006/relationships/notesMaster" Target="/ppt/notesMasters/notesMaster1.xml" Id="R71ed31a1cbfb4c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9ee3e81917f4ecc" /><Relationship Type="http://schemas.openxmlformats.org/officeDocument/2006/relationships/notesMaster" Target="/ppt/notesMasters/notesMaster1.xml" Id="R08459c8b4a1040a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eb7e44990b4193" /><Relationship Type="http://schemas.openxmlformats.org/officeDocument/2006/relationships/notesMaster" Target="/ppt/notesMasters/notesMaster1.xml" Id="R06c9855fa20148e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09c4d014c024593" /><Relationship Type="http://schemas.openxmlformats.org/officeDocument/2006/relationships/notesMaster" Target="/ppt/notesMasters/notesMaster1.xml" Id="R45300fadfb25426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eab5c57946d4c60" /><Relationship Type="http://schemas.openxmlformats.org/officeDocument/2006/relationships/notesMaster" Target="/ppt/notesMasters/notesMaster1.xml" Id="R82920ebe1ee142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388b88ac7fd46ef" /><Relationship Type="http://schemas.openxmlformats.org/officeDocument/2006/relationships/notesMaster" Target="/ppt/notesMasters/notesMaster1.xml" Id="Re17953fd80e04fa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c3351ff9735454d" /><Relationship Type="http://schemas.openxmlformats.org/officeDocument/2006/relationships/notesMaster" Target="/ppt/notesMasters/notesMaster1.xml" Id="R0365d473199544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eedc43d042145a4" /><Relationship Type="http://schemas.openxmlformats.org/officeDocument/2006/relationships/notesMaster" Target="/ppt/notesMasters/notesMaster1.xml" Id="R47ac149838404cb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fc23a67fc5498a" /><Relationship Type="http://schemas.openxmlformats.org/officeDocument/2006/relationships/notesMaster" Target="/ppt/notesMasters/notesMaster1.xml" Id="R5cc60133776f475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900b8a2b0274ef9" /><Relationship Type="http://schemas.openxmlformats.org/officeDocument/2006/relationships/notesMaster" Target="/ppt/notesMasters/notesMaster1.xml" Id="Raf41999faa3540a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10af3a58b184ee0" /><Relationship Type="http://schemas.openxmlformats.org/officeDocument/2006/relationships/notesMaster" Target="/ppt/notesMasters/notesMaster1.xml" Id="R08ac004c77fe459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3ff2cfd4d824dc7" /><Relationship Type="http://schemas.openxmlformats.org/officeDocument/2006/relationships/notesMaster" Target="/ppt/notesMasters/notesMaster1.xml" Id="R454253c8705242a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2750019612a4c05" /><Relationship Type="http://schemas.openxmlformats.org/officeDocument/2006/relationships/notesMaster" Target="/ppt/notesMasters/notesMaster1.xml" Id="R216716385bb045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937d93b1a2b4257" /><Relationship Type="http://schemas.openxmlformats.org/officeDocument/2006/relationships/notesMaster" Target="/ppt/notesMasters/notesMaster1.xml" Id="R427b850b9e994bd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7d5d73c5536493a" /><Relationship Type="http://schemas.openxmlformats.org/officeDocument/2006/relationships/notesMaster" Target="/ppt/notesMasters/notesMaster1.xml" Id="R33229ad9f56d4a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本教程面向第一次使用超算的课程学生。所有命令示例均需学生自行执行。本教程未提交任何作业。命令以当前课程仓库和交我算官方文档为依据。用户名使用占位符，学生必须使用本人账号。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教师通过交大云盘分发学生包。学生下载后传入平台；编辑可用 VS Code，编译与测试须申请计算节点。结束后下载最终源码、报告和日志，再上传课程指定的云盘收件入口。GitHub 仓库用于维护课程材料。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HPC_USER 在本地终端设置。将 your_username 替换为本人的超算账号。jiaowosuan 是当前使用者电脑上已有的 SSH 别名，其他学生未配置时应使用完整域名。平台文档规定 2026-04-10 起教学账号禁止校外登录。不要展示或转发密码、证书私钥。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配置保存在本地用户目录。保留已有其他主机配置；同名 Host 修改原条目。nano 用 Ctrl-O、Enter 保存，Ctrl-X 退出。macOS/Linux 保存后可设 chmod 700 ~/.ssh 和 chmod 600 ~/.ssh/config。与仓库 .vscode 目录无关。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https://docs.hpc.sjtu.edu.cn/login/vscode.html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两个 Host 段都写入自己的本地 config。Host 是别名，HostName 是入口域名，User 是超算账号。ServerAlive 参数只帮助检测连接，不替代平台活跃会话要求。不要把密码写入配置。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管理平台：https://my.hpc.sjtu.edu.cn/。Windows 可使用 C:/Users/your_name/.ssh/ 下的真实文件路径。不要删除现有密钥，也不要把密钥和证书加入学生作业包。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https://docs.hpc.sjtu.edu.cn/accounts/security.html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先在独立终端测试 SSH，再打开 VS Code 远程连接。打开文件夹时若 ~ 未展开，使用普通 SSH 会话 pwd 确认的绝对路径。保存改变的是服务器上的文件，提交云盘前要下载最终源码。集成终端初始通常在登录节点。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已有用户设置时合并字段，不覆盖其他配置。别名找不到检查本地 config 路径和文件后缀。SSH 失败先检查校内网络、账号认证和证书。终端正常但 VS Code 不稳定时检查普通 SSH 活跃会话，以及负载均衡入口导致不同连接落到不同节点的问题。扩展的依赖下载可能仍需另行处理。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https://docs.hpc.sjtu.edu.cn/login/vscode.html</a:t>
            </a:r>
          </a:p>
          <a:p xmlns:a="http://schemas.openxmlformats.org/drawingml/2006/main">
            <a:r>
              <a:t>https://code.visualstudio.com/docs/remote/ssh</a:t>
            </a:r>
          </a:p>
          <a:p xmlns:a="http://schemas.openxmlformats.org/drawingml/2006/main">
            <a:r>
              <a:t>https://code.visualstudio.com/docs/remote/troubleshooting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首次上传流程适用于 macOS、Linux 及具备 OpenSSH 客户端的 Windows。课程根目录应包含 labs/。不要传入本地构建产物。macOS/Linux 的 rsync 过滤示例见讲义。云盘分享链接可能需要登录或提取码，不一定是 wget 可用的文件直链。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在登录节点执行 srun。成功分配后才执行下方编译器检查，hostname 应显示计算节点。若排队，等待分配，不要退回登录节点直接运行实验。1 task、1 CPU 足以运行当前串行框架。20 分钟仅用于小规模调试。退出 bash 会释放交互式资源。登录节点于 2026-09-27 实测有 GCC 8.5.0、CMake 3.20.2，但计算节点仍需现场确认。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selftest 检查测试器、参考函数、签名和评分流程，不能证明 bits.c 已完成。make grade 检查学生答案。当前本地 bits.c 是姓名学号为空的学生模板，正式评分会拒绝运行；学生需要按题面自行填写并完成作答。dlc 是 x86-64 Linux 可执行文件，适合 Pi CPU 节点；当前版本不能识别新增 FP8 题的全部规则。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 CMake &gt;= 3.16。默认使用随框架提供的参考 BLAS，不需要安装 MKL 或 OpenBLAS。build-pi2 是独立构建目录，不上传本地的 CMakeCache.txt。当前 CMakeLists 已为 reg_reuse 和 cache_part3 指定 -O0，为 cache_part4_o0..o3 分别指定优化级别；不添加额外全局优化选项。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这些命令覆盖寄存器复用、六种循环次序、六种缓存分块和 optimal 的四个优化级别。48、6 可满足当前框架的整除条件。只把不含 INVALID、退出状态为 0 的测试视为通过。学生空白实现会失败，这是预期行为。小矩阵测试是快速检查，不能证明所有输入均正确。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Slurm 的 ntasks 是进程数，cpus-per-task 是每个进程分配的 CPU 数。当前课程框架没有 MPI/OpenMP 并行，增加分配核数不会自动使单个实验加速。cpu 队列现场查询为每核默认 4096 MiB，上限也为 4096 MiB。任务时限是最大允许值，不是预计耗时。避免默认选择独占整节点。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把本页内容保存为 course-labs/lab1.slurm。从仓库根目录提交，提交前先 mkdir -p results，因为 Slurm 在启动脚本前就会打开日志文件。脚本直接在所分配的计算节点执行。set -euo pipefail 使检查失败时作业返回非零。%j 由 Slurm 替换为作业编号。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保存为 course-labs/lab2.slurm。左列接右列构成同一脚本，文字讲义提供完整可复制版本。每个作业使用包含 job ID 的独立构建目录，避免不同作业争用构建文件。这里执行小规模检查。正式实验应保留编译和正确性检查，再按课程题面添加运行命令并增加时限。若计算节点缺少工具，先 module avail，再加载实际存在的模块。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当前驱动默认值：reg_reuse 为 66,126,258,510,1026,2046；cache_part3 为 n=2000,b=10；cache_part4 为 n=2040,b=60。当前 README 部分正式规模与 dgemm3 的整除约定不一致，课程发布前应由教师统一。这里的命令仅演示重复运行，不定义新的课程测量规模。2040 和 60 满足 2、3、6 及缓存块的整除条件。CPU 绑核限制进程迁移，不能消除共享节点上的缓存、带宽、频率干扰。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这些命令在登录节点运行。必须先创建 results/ 再 sbatch。sbatch 返回的数字是 job ID，把 123456 替换为实际编号。PD 表示等待调度，R 表示运行中。squeue 中消失后，使用 sacct 看最终状态和退出码。只有 COMPLETED 且 ExitCode=0:0，结合程序检查结果，才确认该次作业成功。tail -f 用 Ctrl-C 结束查看，它不会取消作业。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在本地终端下载日志。Windows 或没有 rsync 时，在新建的本地收集目录执行 scp -r jiaowosuan-data:course-labs/results ./。源码需另外下载，参见下一页。关闭 SSH 不会自动结束已提交的 sbatch 作业。取消只针对明确的作业编号。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https://docs.hpc.sjtu.edu.cn/transport/transportsolution.html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下载示例同时收集两个 Lab，正式按每个 Lab 题面分别打包。pi2-submission 若已存在，应核对版本或换新目录，避免混淆。不要上传构建目录、可执行文件或个人 SSH 配置。教师维护课程仓库，学生通过指定的云盘收件入口交作业，无需 PR。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若 cmake 不存在或版本过旧，在分配的计算节点上 module avail cmake，再 module load 实际存在的完整模块名，随后验证 cmake --version。旧 CMake 缓存必须使用新的构建目录，不能跨本地和集群复用。当前 labs/lab2-matrix/scripts/submit.sh 仅是 run_all.sh 的包装，不调用 sbatch，因此不能直接在登录节点使用。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议课堂练习只运行小规模测试。学生尚未实现的函数允许输出失败，但必须能定位日志中的具体函数。下载结果后让学生说明本地、登录节点、计算节点的职责。官方文档和实际配置可能变化，软件版本与队列状态以当前 module avail、sinfo 和 scontrol 输出为准。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来源：</a:t>
            </a:r>
          </a:p>
          <a:p xmlns:a="http://schemas.openxmlformats.org/drawingml/2006/main">
            <a:r>
              <a:t>https://docs.hpc.sjtu.edu.cn/login/sshlogin.html</a:t>
            </a:r>
          </a:p>
          <a:p xmlns:a="http://schemas.openxmlformats.org/drawingml/2006/main">
            <a:r>
              <a:t>https://docs.hpc.sjtu.edu.cn/transport/transportsolution.html</a:t>
            </a:r>
          </a:p>
          <a:p xmlns:a="http://schemas.openxmlformats.org/drawingml/2006/main">
            <a:r>
              <a:t>https://docs.hpc.sjtu.edu.cn/job/slurm.html</a:t>
            </a:r>
          </a:p>
          <a:p xmlns:a="http://schemas.openxmlformats.org/drawingml/2006/main">
            <a:r>
              <a:t>https://docs.hpc.sjtu.edu.cn/job/partition.html</a:t>
            </a:r>
          </a:p>
          <a:p xmlns:a="http://schemas.openxmlformats.org/drawingml/2006/main">
            <a:r>
              <a:t>https://docs.hpc.sjtu.edu.cn/job/kos.html</a:t>
            </a:r>
          </a:p>
          <a:p xmlns:a="http://schemas.openxmlformats.org/drawingml/2006/main">
            <a:r>
              <a:t>课程仓库 labs/lab1-datalab/README.md、Makefile、bits.c（2026-09-27）</a:t>
            </a:r>
          </a:p>
          <a:p xmlns:a="http://schemas.openxmlformats.org/drawingml/2006/main">
            <a:r>
              <a:t>课程仓库 labs/lab2-matrix/CMakeLists.txt、README.md、benchmarks/*.c、scripts/*.sh（2026-09-27）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e99aabe7234c2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1abda62ce144d58" /><Relationship Type="http://schemas.openxmlformats.org/officeDocument/2006/relationships/slideLayout" Target="/ppt/slideLayouts/slideLayout1.xml" Id="R7408eafddc2044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08eafddc2044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63c13fdcee4c92" /><Relationship Type="http://schemas.openxmlformats.org/officeDocument/2006/relationships/notesSlide" Target="/ppt/notesSlides/notesSlide1.xml" Id="R393334bc786e45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34038c4af644ca" /><Relationship Type="http://schemas.openxmlformats.org/officeDocument/2006/relationships/notesSlide" Target="/ppt/notesSlides/notesSlide2.xml" Id="R7a86f91e726541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0c0f86428a4737" /><Relationship Type="http://schemas.openxmlformats.org/officeDocument/2006/relationships/notesSlide" Target="/ppt/notesSlides/notesSlide3.xml" Id="Rfd25fa2bffae4d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46ebf92b824039" /><Relationship Type="http://schemas.openxmlformats.org/officeDocument/2006/relationships/notesSlide" Target="/ppt/notesSlides/notesSlide4.xml" Id="Rf8cb0b4c28e244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76a44a5e64096" /><Relationship Type="http://schemas.openxmlformats.org/officeDocument/2006/relationships/notesSlide" Target="/ppt/notesSlides/notesSlide5.xml" Id="R2268f53a8bf84c7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89f287a204f21" /><Relationship Type="http://schemas.openxmlformats.org/officeDocument/2006/relationships/notesSlide" Target="/ppt/notesSlides/notesSlide6.xml" Id="R88cf5b36663d4d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c47972bac482a" /><Relationship Type="http://schemas.openxmlformats.org/officeDocument/2006/relationships/notesSlide" Target="/ppt/notesSlides/notesSlide7.xml" Id="Rb5bf5f9032c44d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8f646379e34d29" /><Relationship Type="http://schemas.openxmlformats.org/officeDocument/2006/relationships/notesSlide" Target="/ppt/notesSlides/notesSlide8.xml" Id="Raab4f363195c4e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43d7c0e401413f" /><Relationship Type="http://schemas.openxmlformats.org/officeDocument/2006/relationships/notesSlide" Target="/ppt/notesSlides/notesSlide9.xml" Id="R1dcb2e0d858c4fb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1874e52db4394" /><Relationship Type="http://schemas.openxmlformats.org/officeDocument/2006/relationships/notesSlide" Target="/ppt/notesSlides/notesSlide10.xml" Id="R94f8f103da8946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2cd97bd244cd6" /><Relationship Type="http://schemas.openxmlformats.org/officeDocument/2006/relationships/notesSlide" Target="/ppt/notesSlides/notesSlide11.xml" Id="Rce9753acc748480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40b4fd3fba45ad" /><Relationship Type="http://schemas.openxmlformats.org/officeDocument/2006/relationships/notesSlide" Target="/ppt/notesSlides/notesSlide12.xml" Id="R161d805337464b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b81913c3b045f6" /><Relationship Type="http://schemas.openxmlformats.org/officeDocument/2006/relationships/notesSlide" Target="/ppt/notesSlides/notesSlide13.xml" Id="Recfb6460471f4bd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fb5e674bc64865" /><Relationship Type="http://schemas.openxmlformats.org/officeDocument/2006/relationships/notesSlide" Target="/ppt/notesSlides/notesSlide14.xml" Id="R7043dce87b5d445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f7babd6ed24882" /><Relationship Type="http://schemas.openxmlformats.org/officeDocument/2006/relationships/notesSlide" Target="/ppt/notesSlides/notesSlide15.xml" Id="Rbe78de70ca994ae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fc05a0bf204372" /><Relationship Type="http://schemas.openxmlformats.org/officeDocument/2006/relationships/notesSlide" Target="/ppt/notesSlides/notesSlide16.xml" Id="Rfed2f6c87a854e8d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90cdd28f324910" /><Relationship Type="http://schemas.openxmlformats.org/officeDocument/2006/relationships/notesSlide" Target="/ppt/notesSlides/notesSlide17.xml" Id="Rd4cbc2d86fd3468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2b49790c2e44dd" /><Relationship Type="http://schemas.openxmlformats.org/officeDocument/2006/relationships/notesSlide" Target="/ppt/notesSlides/notesSlide18.xml" Id="Raeab4a1687044bb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1982f11fa74518" /><Relationship Type="http://schemas.openxmlformats.org/officeDocument/2006/relationships/notesSlide" Target="/ppt/notesSlides/notesSlide19.xml" Id="Rc59741c1dc8746c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96c5e1a76e4d59" /><Relationship Type="http://schemas.openxmlformats.org/officeDocument/2006/relationships/notesSlide" Target="/ppt/notesSlides/notesSlide20.xml" Id="R9589e1a086894d0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1acaf9bb4f450a" /><Relationship Type="http://schemas.openxmlformats.org/officeDocument/2006/relationships/notesSlide" Target="/ppt/notesSlides/notesSlide21.xml" Id="R51ba27130cbc400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e819271cf449f9" /><Relationship Type="http://schemas.openxmlformats.org/officeDocument/2006/relationships/hyperlink" Target="https://docs.hpc.sjtu.edu.cn/login/sshlogin.html" TargetMode="External" Id="R057435c084224bbf" /><Relationship Type="http://schemas.openxmlformats.org/officeDocument/2006/relationships/hyperlink" Target="https://docs.hpc.sjtu.edu.cn/job/slurm.html" TargetMode="External" Id="R2c763fe3961d4475" /><Relationship Type="http://schemas.openxmlformats.org/officeDocument/2006/relationships/hyperlink" Target="https://docs.hpc.sjtu.edu.cn/transport/transportsolution.html" TargetMode="External" Id="R6048324ed88e4d01" /><Relationship Type="http://schemas.openxmlformats.org/officeDocument/2006/relationships/notesSlide" Target="/ppt/notesSlides/notesSlide22.xml" Id="Ra9816b2793f8405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7E11AA-16BF-4B07-9424-186276CC8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12954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交我算平台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8EB3C5-E753-4E42-AC5F-492EA4FF6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133725"/>
            <a:ext cx="13239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615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运行指南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509EDD-CF67-4208-A430-22EBBD891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5300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B7EDDB"/>
                </a:solidFill>
                <a:latin typeface="Hiragino Sans GB"/>
                <a:ea typeface="Hiragino Sans GB"/>
                <a:cs typeface="Hiragino Sans GB"/>
              </a:rPr>
              <a:t>π 2.0 集群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657BED-9824-420F-9E9E-7F38E2083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581650"/>
            <a:ext cx="11430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DataLab 与 MatrixLab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800642-7ED1-4C7E-AB7A-90167418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486650"/>
            <a:ext cx="1285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B7CECC"/>
                </a:solidFill>
                <a:latin typeface="Hiragino Sans GB"/>
                <a:ea typeface="Hiragino Sans GB"/>
                <a:cs typeface="Hiragino Sans GB"/>
              </a:rPr>
              <a:t>学生上手教程　2026 年 9 月 · 云盘提交版</a:t>
            </a:r>
          </a:p>
        </p:txBody>
      </p:sp>
    </p:spTree>
    <p:extLst>
      <p:ext uri="{BB962C8B-B14F-4D97-AF65-F5344CB8AC3E}">
        <p14:creationId xmlns:p14="http://schemas.microsoft.com/office/powerpoint/2010/main" val="148666813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864DFF-97F5-4DC2-9259-17655D5F9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一次实验的完整流程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57980-2E95-4A25-BFA1-50A82769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857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6000750"/>
                <a:gridCol w="4857750"/>
              </a:tblGrid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位置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执行的操作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常用命令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本地电脑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云盘下载与提交、源码传输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浏览器、ssh、scp / rsync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登录节点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查询队列、申请资源、提交作业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sinfo、srun、sbatch、squeue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计算节点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编译、正确性检查、性能测量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make、cmake、实验程序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715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通过本地客户端传输文件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7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data.hpc.sjtu.edu.cn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46B664-C546-491C-A7DA-8C0EDE7E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866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登录节点禁止运行计算密集任务。编译与实验统一放入 Slurm 分配的计算节点。</a:t>
            </a:r>
          </a:p>
        </p:txBody>
      </p:sp>
    </p:spTree>
    <p:extLst>
      <p:ext uri="{BB962C8B-B14F-4D97-AF65-F5344CB8AC3E}">
        <p14:creationId xmlns:p14="http://schemas.microsoft.com/office/powerpoint/2010/main" val="201188554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 π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B9B1E8-0A26-4E7E-9FBD-B0E2555C9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在本地终端执行，your_username 替换为本人超算用户名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FEF93-934B-4D01-9AC2-2312D5DFE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146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-V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2BEB3C-1B69-4AD7-8964-2838E6DA0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24225"/>
            <a:ext cx="13430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your_username@pilogin.hpc.sjtu.edu.cn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EB50A4-4CA3-4266-9F3F-5910109D4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24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完成后面的本地 SSH 配置后，可以简写为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5CA9-B242-4F6B-9A39-5ABB485F6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E6DC5-2158-444A-8B32-E35DBB429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教学账号须在校内网络登录；jiaowosuan 不是平台统一提供的命令。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 SSH 配置文件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BEE83DAE-2A95-48B3-B33B-42D13BF9C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macOS / Linux：在自己的电脑上编辑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E7EE85EA-6FC9-4DEA-99A6-CE2BB0F1D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7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~/.ssh/config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F8F9D9D-939D-4E85-B927-4277AC200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289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~/.ssh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A5DB860A-F3D0-4315-B5D2-977D6ECC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052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touch ~/.ssh/config &amp;&amp; nano ~/.ssh/config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2A8CF849-5ECA-4830-8F2F-24E04F18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Windows：在 PowerShell 中打开记事本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95FF3CAC-BD1B-4755-8305-6FA628DA9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New-Item -ItemType Directory -Force "$env:USERPROFILE\.ssh"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F2F2AA3E-847A-47F2-9C32-79C7AF55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7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notepad "$env:USERPROFILE\.ssh\config"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7352598-E4D0-4F1F-8A5B-4C610E42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追加或修改自己的 Host 条目；文件名为 config，无 .txt 后缀。完整步骤见讲义。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登录与文件传输的 SSH 别名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096AB81F-76E9-4789-8542-C7A5F6FA7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登录：编辑文件、提交作业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847FF308-C205-4617-8165-3AED79152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7621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传输：上传源码、下载结果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48CAC5A1-6C4C-40BA-8406-3E886E70A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DFB9BFD2-9BAB-440C-920C-DE5F0227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pilogin.hpc.sjtu.edu.cn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9802413B-0533-4ABB-823F-CA84010A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528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F2F10397-91F6-4E8F-BC61-3B2803F5D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FE4086A-1F70-484B-9C52-D0CA91A7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3870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E188AABB-FC94-4BFA-9441-148220DDC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18" name="content-10">
            <a:extLst xmlns:a="http://schemas.openxmlformats.org/drawingml/2006/main">
              <a:ext uri="{FF2B5EF4-FFF2-40B4-BE49-F238E27FC236}">
                <a16:creationId xmlns:a16="http://schemas.microsoft.com/office/drawing/2014/main" id="{7E495652-DAAB-46D3-B128-E25C55AE6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670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 jiaowosuan-data</a:t>
            </a:r>
          </a:p>
        </p:txBody>
      </p:sp>
      <p:sp>
        <p:nvSpPr>
          <p:cNvPr id="19" name="content-11">
            <a:extLst xmlns:a="http://schemas.openxmlformats.org/drawingml/2006/main">
              <a:ext uri="{FF2B5EF4-FFF2-40B4-BE49-F238E27FC236}">
                <a16:creationId xmlns:a16="http://schemas.microsoft.com/office/drawing/2014/main" id="{D2BA50A0-4924-43CB-A2F5-C01E0F334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2099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HostName data.hpc.sjtu.edu.cn</a:t>
            </a:r>
          </a:p>
        </p:txBody>
      </p:sp>
      <p:sp>
        <p:nvSpPr>
          <p:cNvPr id="20" name="content-12">
            <a:extLst xmlns:a="http://schemas.openxmlformats.org/drawingml/2006/main">
              <a:ext uri="{FF2B5EF4-FFF2-40B4-BE49-F238E27FC236}">
                <a16:creationId xmlns:a16="http://schemas.microsoft.com/office/drawing/2014/main" id="{2D8B9A71-D1ED-4BAC-BB33-2346D14E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75285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User your_username</a:t>
            </a:r>
          </a:p>
        </p:txBody>
      </p:sp>
      <p:sp>
        <p:nvSpPr>
          <p:cNvPr id="21" name="content-13">
            <a:extLst xmlns:a="http://schemas.openxmlformats.org/drawingml/2006/main">
              <a:ext uri="{FF2B5EF4-FFF2-40B4-BE49-F238E27FC236}">
                <a16:creationId xmlns:a16="http://schemas.microsoft.com/office/drawing/2014/main" id="{622D84D2-73DC-4A95-84C3-BCC6C6029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29577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Port 22</a:t>
            </a:r>
          </a:p>
        </p:txBody>
      </p:sp>
      <p:sp>
        <p:nvSpPr>
          <p:cNvPr id="22" name="content-14">
            <a:extLst xmlns:a="http://schemas.openxmlformats.org/drawingml/2006/main">
              <a:ext uri="{FF2B5EF4-FFF2-40B4-BE49-F238E27FC236}">
                <a16:creationId xmlns:a16="http://schemas.microsoft.com/office/drawing/2014/main" id="{E75D4AEC-CD9F-46F6-9789-B849C349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838700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ServerAliveInterval 60</a:t>
            </a:r>
          </a:p>
        </p:txBody>
      </p:sp>
      <p:sp>
        <p:nvSpPr>
          <p:cNvPr id="23" name="content-15">
            <a:extLst xmlns:a="http://schemas.openxmlformats.org/drawingml/2006/main">
              <a:ext uri="{FF2B5EF4-FFF2-40B4-BE49-F238E27FC236}">
                <a16:creationId xmlns:a16="http://schemas.microsoft.com/office/drawing/2014/main" id="{3435BA7E-A1BE-4741-BBB0-392B3DCF7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5381625"/>
            <a:ext cx="638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0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ServerAliveCountMax 3</a:t>
            </a:r>
          </a:p>
        </p:txBody>
      </p:sp>
      <p:sp>
        <p:nvSpPr>
          <p:cNvPr id="24" name="content-16">
            <a:extLst xmlns:a="http://schemas.openxmlformats.org/drawingml/2006/main">
              <a:ext uri="{FF2B5EF4-FFF2-40B4-BE49-F238E27FC236}">
                <a16:creationId xmlns:a16="http://schemas.microsoft.com/office/drawing/2014/main" id="{09CBA0C5-90E9-42D9-BC82-DF52FC686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两处 your_username 都替换为本人超算用户名</a:t>
            </a:r>
          </a:p>
        </p:txBody>
      </p:sp>
      <p:sp>
        <p:nvSpPr>
          <p:cNvPr id="25" name="content-17">
            <a:extLst xmlns:a="http://schemas.openxmlformats.org/drawingml/2006/main">
              <a:ext uri="{FF2B5EF4-FFF2-40B4-BE49-F238E27FC236}">
                <a16:creationId xmlns:a16="http://schemas.microsoft.com/office/drawing/2014/main" id="{4A1D4BB2-2275-426A-93F6-4CD55CD79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保存后在本地运行 ssh jiaowosuan。别名简化命令，认证仍按平台要求完成。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可选：平台免密证书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36E9B7D6-A427-40FF-98B4-6FB4FE0C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8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在超算账号管理平台申请有效证书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5BF56B04-0EB0-4C36-BB03-9E657D27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71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将匹配的私钥与证书保存在自己的电脑上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D80A98D5-FC66-46F1-BB5E-34FD28ED5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在对应 Host 配置段中补充（文件名以实际为准）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D45181-B35D-485C-9413-49C20E6D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43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IdentityFile ~/.ssh/id_ed25519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524FA6CF-AE7B-4872-88C0-12CCEF075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14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  CertificateFile ~/.ssh/id_ed25519-cert.pub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D51DF49A-95C0-44DC-AE86-5D23ECAD7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证书到期后按平台流程续签；未申请时可先用密码登录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7BC77FD9-535C-4137-8523-C31D9AB18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私钥留在本地。平台免密认证需要有效证书，单独 ssh-copy-id 不足以开通。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连接与编辑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609A6770-9ABC-4A99-908D-A58F5C357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1  在本地安装 Microsoft Remote - SSH 扩展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F6AC5F6B-C396-4397-AC0E-98B406E1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289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2  按 F1，搜索 Remote-SSH: Connect to Host...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5EA8E908-6F4A-451C-99F3-EAD1E96F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3  选择 jiaowosuan，远端系统选择 Linux，完成认证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4B232E0-1C31-447C-9365-51793F345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7202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4  打开远端 ~/course-labs，确认左下角的 SSH 主机名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3C73381-BF7D-462B-A43C-BB822C08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743575"/>
            <a:ext cx="13335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5  保存源码后，在集成终端先申请计算资源，再编译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7BF07F11-E49B-460E-98AA-7ECD07BD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使用期间保持一个普通 ssh jiaowosuan 会话打开，满足平台的活跃会话要求。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VS Code 首次连接与排错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5CCE61FE-A847-416B-9481-60FAAB306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连接卡住时，查看“输出”中的 Remote - SSH 日志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C137CDE4-D6A2-49AC-BC00-0A189740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193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可在本地“用户设置(JSON)”中合并以下字段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8B010679-3E7B-438D-B6F0-6C7495E2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76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{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E5703089-D1CE-4E4B-B6D2-9455DFE52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48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"remote.SSH.showLoginTerminal": true,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EAFF8F4D-C17D-436D-AEEA-5FBF852D5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19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"remote.SSH.localServerDownload": "always"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4824C8D1-448A-4D18-A24C-4E4879B7F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}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4F7B3432-35A0-40A7-A3D6-D83F099A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3887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显示登录提示；远端下载失败时，由本地下载 Server 再传入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8D169129-2695-4378-85CA-25A48C8A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本地需要能访问微软下载服务。SSH config 与 VS Code 用户设置均独立于仓库。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2D8CD2-C378-452E-BD65-A32051B5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从云盘获取并上传源码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5AA1C-7538-452B-A075-B36D60CDE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  <p:sp>
        <p:nvSpPr>
          <p:cNvPr id="14" name="content-2">
            <a:extLst xmlns:a="http://schemas.openxmlformats.org/drawingml/2006/main">
              <a:ext uri="{FF2B5EF4-FFF2-40B4-BE49-F238E27FC236}">
                <a16:creationId xmlns:a16="http://schemas.microsoft.com/office/drawing/2014/main" id="{3CD37B2F-FD3B-43C0-AF11-E2F282B23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14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浏览器下载教师发布的学生包，解压后将根目录命名为 course-labs</a:t>
            </a:r>
          </a:p>
        </p:txBody>
      </p:sp>
      <p:sp>
        <p:nvSpPr>
          <p:cNvPr id="15" name="content-3">
            <a:extLst xmlns:a="http://schemas.openxmlformats.org/drawingml/2006/main">
              <a:ext uri="{FF2B5EF4-FFF2-40B4-BE49-F238E27FC236}">
                <a16:creationId xmlns:a16="http://schemas.microsoft.com/office/drawing/2014/main" id="{D62A69DB-A711-41DD-99E3-FB2F155C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本地终端：在 course-labs 的上一级目录执行</a:t>
            </a:r>
          </a:p>
        </p:txBody>
      </p:sp>
      <p:sp>
        <p:nvSpPr>
          <p:cNvPr id="16" name="content-4">
            <a:extLst xmlns:a="http://schemas.openxmlformats.org/drawingml/2006/main">
              <a:ext uri="{FF2B5EF4-FFF2-40B4-BE49-F238E27FC236}">
                <a16:creationId xmlns:a16="http://schemas.microsoft.com/office/drawing/2014/main" id="{0D69CE6B-B379-4948-A86D-27F985503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2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-r ./course-labs jiaowosuan-data:</a:t>
            </a:r>
          </a:p>
        </p:txBody>
      </p:sp>
      <p:sp>
        <p:nvSpPr>
          <p:cNvPr id="17" name="content-5">
            <a:extLst xmlns:a="http://schemas.openxmlformats.org/drawingml/2006/main">
              <a:ext uri="{FF2B5EF4-FFF2-40B4-BE49-F238E27FC236}">
                <a16:creationId xmlns:a16="http://schemas.microsoft.com/office/drawing/2014/main" id="{EAA7F502-16FD-4D2E-8D0C-602787B12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ssh jiaowosuan</a:t>
            </a:r>
          </a:p>
        </p:txBody>
      </p:sp>
      <p:sp>
        <p:nvSpPr>
          <p:cNvPr id="18" name="content-6">
            <a:extLst xmlns:a="http://schemas.openxmlformats.org/drawingml/2006/main">
              <a:ext uri="{FF2B5EF4-FFF2-40B4-BE49-F238E27FC236}">
                <a16:creationId xmlns:a16="http://schemas.microsoft.com/office/drawing/2014/main" id="{1A2AD3A8-95AB-4F39-8AE6-9E8ECE9C9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625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19" name="content-7">
            <a:extLst xmlns:a="http://schemas.openxmlformats.org/drawingml/2006/main">
              <a:ext uri="{FF2B5EF4-FFF2-40B4-BE49-F238E27FC236}">
                <a16:creationId xmlns:a16="http://schemas.microsoft.com/office/drawing/2014/main" id="{E3011C2E-F30F-4713-A05E-1E742796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2925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5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ls labs</a:t>
            </a:r>
          </a:p>
        </p:txBody>
      </p:sp>
      <p:sp>
        <p:nvSpPr>
          <p:cNvPr id="20" name="content-8">
            <a:extLst xmlns:a="http://schemas.openxmlformats.org/drawingml/2006/main">
              <a:ext uri="{FF2B5EF4-FFF2-40B4-BE49-F238E27FC236}">
                <a16:creationId xmlns:a16="http://schemas.microsoft.com/office/drawing/2014/main" id="{17AB631B-C4A0-4DD9-BAB1-9AF59624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后续更新先保存远端修改，再合并新版本。分享页面下载到本地后，通过数据节点上传。</a:t>
            </a:r>
          </a:p>
        </p:txBody>
      </p:sp>
    </p:spTree>
    <p:extLst>
      <p:ext uri="{BB962C8B-B14F-4D97-AF65-F5344CB8AC3E}">
        <p14:creationId xmlns:p14="http://schemas.microsoft.com/office/powerpoint/2010/main" val="15234254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E6EC2-21DA-414B-AF6E-2782ACA9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申请一个计算核心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9D959-7B71-430B-BCF8-02A54041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5EA2E-692B-4837-A4E3-AE2A6777D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88F77-E9A0-4DE3-8BCB-D7878E65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860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-p cpu -N 1 -n 1 -c 1 -t 00:20:00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A2566-3C56-4F19-AC4C-D066E5A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--cpu-bind=cores --pty /bin/bash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9D7A4-D17D-4381-A1E8-8356CADB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956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9F30DC-12EB-4A76-8418-ECAEF0FF1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hostname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1BFAE1-8FB9-4E50-AB14-10F440F29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053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gcc --version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414224-07BF-41F8-BB55-F196F21F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--version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2040BB-3DB9-464D-8B2B-57338843F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分配后仅当前终端进入计算节点；新终端先核对 hostname。结束时输入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7451656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D724B1-87ED-4A13-A3F4-C120F4756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1：DataLab 编译与检查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D2784-7D4D-4795-BB5B-E9DE9E97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9A82E2-1865-4C13-A72E-A27ED55F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~/course-labs/labs/lab1-datalab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8C415D-F64F-4EC7-8ADD-7D1D87083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-j1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F4F5BE-F2EA-406A-9983-2D488C20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selftest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E5022B-5E9F-4D7C-A317-95331801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433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89E490-3A2D-4E07-9F9F-804C507D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576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./btest -f bitCount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F4072-5926-4F7D-858E-C3481C0DE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7200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grade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358353-C40A-402E-A3AD-835C7F76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86350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./dlc bits.c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4B5A37-8EFE-4F06-9CAA-F6BE900D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19137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先填写 bits.c 的姓名和学号。btest 查正确性，dlc 只检查其支持的编码规则。</a:t>
            </a:r>
          </a:p>
        </p:txBody>
      </p:sp>
    </p:spTree>
    <p:extLst>
      <p:ext uri="{BB962C8B-B14F-4D97-AF65-F5344CB8AC3E}">
        <p14:creationId xmlns:p14="http://schemas.microsoft.com/office/powerpoint/2010/main" val="163420253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40FD5F-39E6-4985-8D14-D992FD4B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2：MatrixLab 编译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26C0E-36C8-4374-80D8-2A76944BB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AA8B-605E-4FE7-8EC3-747760A6F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~/course-labs/labs/lab2-matrix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76CC0D-CE18-42EC-9EDB-A80FDC3D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9082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. -B build-pi2 -DBUILD_TESTING=ON \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6ADF46-5637-4F54-BFD9-822503294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5280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1D0A58-7B73-4327-8EE1-872F113C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14775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build-pi2 --parallel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9C4AC-744B-4A47-9E8A-CC90853D4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76750"/>
            <a:ext cx="134302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build-pi2 &amp;&amp; ctest --output-on-failure)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CC32C-8FA1-4F4C-AA00-324DCAE38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055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框架已提供参考 BLAS，无需安装额外数学库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31D08D-8C62-42CB-91B9-795597BA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ctest 检查框架和参考 BLAS；学生矩阵乘法还需运行下一页的测试。</a:t>
            </a:r>
          </a:p>
        </p:txBody>
      </p:sp>
    </p:spTree>
    <p:extLst>
      <p:ext uri="{BB962C8B-B14F-4D97-AF65-F5344CB8AC3E}">
        <p14:creationId xmlns:p14="http://schemas.microsoft.com/office/powerpoint/2010/main" val="2139188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E408-4221-4D15-90EE-41ABC8327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2：小矩阵正确性验证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5BF6B0-2386-463E-A36F-5588CDE8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B81390-D8EC-4DC0-A2B7-56D86E4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621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./build-pi2/reg_reuse 6 12 24 48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18FD51-6D86-40D4-BC67-21248FC3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./build-pi2/cache_part3 48 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1B5E1A-9B26-48C1-A6C2-6EC8F586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4802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AE8D44-1B67-48CF-AC6F-586F45092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A6BAEB-7FCD-48A9-89BD-1CD453FBB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./build-pi2/cache_part4_o${opt} 48 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5CB8-A74C-457D-96B6-CA02FC1D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76800"/>
            <a:ext cx="1343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059BCD-31A0-4D9A-B974-036865B61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出现 INVALID 时，先检查对应函数的数值结果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17ACE-DEF7-4E92-BDD2-A8BE10E6F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小规模全部通过后，再提交较长的性能实验。</a:t>
            </a:r>
          </a:p>
        </p:txBody>
      </p:sp>
    </p:spTree>
    <p:extLst>
      <p:ext uri="{BB962C8B-B14F-4D97-AF65-F5344CB8AC3E}">
        <p14:creationId xmlns:p14="http://schemas.microsoft.com/office/powerpoint/2010/main" val="106893996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D6441-C350-47FB-B161-F73F2510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批处理作业的资源参数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F5B9B74-C802-425C-8CCC-F267D57F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14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905000"/>
          <a:ext xmlns:a="http://schemas.openxmlformats.org/drawingml/2006/main" cx="13335000" cy="49149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619625"/>
                <a:gridCol w="3143250"/>
                <a:gridCol w="5572125"/>
              </a:tblGrid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参数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本教程取值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含义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-p / --partition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cpu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明确指定 π 2.0 CPU 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--nodes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一个计算节点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-n / --ntasks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一个进程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-c / --cpus-per-task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分配一个 CPU 核心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19150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-t / --time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00:20:00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100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小规模检查最多运行 20 分钟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C8EA9F-FB44-43A8-A20C-972A36D3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当前 lab 使用串行 CPU 程序。正式实验按实测耗时调整时限。</a:t>
            </a:r>
          </a:p>
        </p:txBody>
      </p:sp>
    </p:spTree>
    <p:extLst>
      <p:ext uri="{BB962C8B-B14F-4D97-AF65-F5344CB8AC3E}">
        <p14:creationId xmlns:p14="http://schemas.microsoft.com/office/powerpoint/2010/main" val="11561446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5D593-FF83-4A87-9AE7-3DD0D9627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1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53FC4-AC56-4EDD-BAC4-B45B5083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95D150-0668-459C-AE77-9AA1DBA18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859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保存为仓库根目录下的 lab1.slurm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AEA266-7F1B-4DFB-BE5D-D5EC42B5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36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5A557F-CAA0-4F6E-A37E-F1C4E56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336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datalab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98FDD5-37A7-4110-93C9-5D6C6023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337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3816B4-D237-403A-9060-CC9E513F9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337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48A46E-7125-4647-92A9-656F3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338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results/lab1-%j.log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BBD5BF-2939-4B86-91DB-5BE1B0DE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338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AFEF14-2324-4424-969E-E7D80BDA1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339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69E6C6-F290-4907-B336-5757222C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339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1B1DE3-20D9-43EE-BC91-861667484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340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-j1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3D62B4-888E-4A06-9749-BB11FC87B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3407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selftest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9E713-9AE5-47A9-B3C0-0209ECA2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34125"/>
            <a:ext cx="1343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make -C labs/lab1-datalab grade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09A94C-64E1-4003-BB13-C7880B40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628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每次作业使用单独的日志文件；姓名学号或答案未完成时，grade 可能失败。</a:t>
            </a:r>
          </a:p>
        </p:txBody>
      </p:sp>
    </p:spTree>
    <p:extLst>
      <p:ext uri="{BB962C8B-B14F-4D97-AF65-F5344CB8AC3E}">
        <p14:creationId xmlns:p14="http://schemas.microsoft.com/office/powerpoint/2010/main" val="21064123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A64C19-1774-4F49-B25C-5CC322AB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Lab 2 批处理脚本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CF88A7-F97A-40C0-9E0D-FC882091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3C0FF3-0558-4BEB-ACE6-ED7FF2F14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7640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保存为 lab2.slurm；左列接右列，完整版本见配套文字讲义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0B188-256B-4888-AA3F-FC71A3AE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#!/bin/bash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9A1864-9B0E-4933-88B2-3F76904E7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-J matrixlab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376D3-336F-429A-B0A1-C7236512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004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-p cpu -N 1 -n 1 -c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067CF-98EB-4287-B58B-7D542029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481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-t 00:20:00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9E48A0-16A2-4440-BDD7-284C309DC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957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#SBATCH -o results/lab2-%j.log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42565C-9C12-43F5-BA3D-D685A951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4345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75A1D-A4C5-44FC-A3DF-ABD2C329E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9112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set -euo pipefail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AF85C-4C1B-4DE4-92BD-D1D23204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638800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"$SLURM_SUBMIT_DIR"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35A968-CF4F-4790-B9C8-D54FE8BC8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86475"/>
            <a:ext cx="666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8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B="build/pi2-lab2-$SLURM_JOB_ID"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58B7D-F7EE-49B1-BA07-C07742C5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5050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-S labs/lab2-matrix -B "$B" 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4483B2-D9A9-416A-BBD2-3671822F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9527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-DBUILD_TESTING=ON \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2E9BA5-C49E-4D19-881C-D096A9A3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4004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-DLAB_USE_SYSTEM_BLAS=OFF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B62359-7DF1-4B72-BDC9-1477374A2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38481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cmake --build "$B" --parallel 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772A91-9F87-41A5-814E-709C0364D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2957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(cd "$B" &amp;&amp; ctest --output-on-failure)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D30D09-EADC-4F82-9C2F-DC571E63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47434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"$B/reg_reuse" 6 12 24 48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EFDEFA-74FD-4B2D-A80C-D976BED8B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19112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srun --cpu-bind=cores "$B/cache_part3" 48 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726F1-DC39-4394-B788-A38D4B6AA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563880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for opt in 0 1 2 3; do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17C360F-FDC1-4892-A83F-C628121AD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086475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srun --cpu-bind=cores "$B/cache_part4_o$opt" 48 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5FF2F7-9ED1-4B7C-A654-4EEA7CAB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6534150"/>
            <a:ext cx="6810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172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776CDA-94D2-4EC6-870F-E0C79974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4676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先 mkdir -p results，再从仓库根目录执行 sbatch lab2.slurm。</a:t>
            </a:r>
          </a:p>
        </p:txBody>
      </p:sp>
    </p:spTree>
    <p:extLst>
      <p:ext uri="{BB962C8B-B14F-4D97-AF65-F5344CB8AC3E}">
        <p14:creationId xmlns:p14="http://schemas.microsoft.com/office/powerpoint/2010/main" val="9385464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857A87-6BCA-4769-9841-3CE59A0E1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性能实验：规模与测量条件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9CA58D-2761-4BD3-A521-597D915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053918-C4D3-49B8-B2E8-B5DCB7FF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57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正式规模以课程统一题面为准，并满足实现的整除条件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011224-D9B4-471D-A5E4-7DF58C99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860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同一组比较保持 CPU 型号、编译器、矩阵规模和块大小一致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06E6-C954-435C-8566-212CEC6BA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813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串行运行各个版本，重复 3 次并记录中位数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B82A7-400F-4834-AF07-0AF09AE64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48627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for rep in 1 2 3; do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5AD37A-2FF2-48C2-A41C-D8025734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91100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  srun --cpu-bind=cores "$B/cache_part4_o3" 2040 60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9C3C0-3A64-4412-9206-0E1589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95925"/>
            <a:ext cx="134302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167A70"/>
                </a:solidFill>
                <a:latin typeface="Menlo"/>
                <a:ea typeface="Menlo"/>
                <a:cs typeface="Menlo"/>
              </a:defRPr>
            </a:pPr>
            <a:r>
              <a:rPr sz="2325" b="0">
                <a:solidFill>
                  <a:srgbClr val="167A70"/>
                </a:solidFill>
                <a:latin typeface="Menlo"/>
                <a:ea typeface="Menlo"/>
                <a:cs typeface="Menlo"/>
              </a:rPr>
              <a:t>done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06BA5-E0D2-4479-9693-4C6C09F4B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7532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上例添加到 Lab 2 作业脚本末尾。扩大规模时同步增加作业时限。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0E704-0090-4552-8B1D-56CCAB2D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9615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正式记录还应包含主机名、CPU 型号、编译选项和正确性状态。</a:t>
            </a:r>
          </a:p>
        </p:txBody>
      </p:sp>
    </p:spTree>
    <p:extLst>
      <p:ext uri="{BB962C8B-B14F-4D97-AF65-F5344CB8AC3E}">
        <p14:creationId xmlns:p14="http://schemas.microsoft.com/office/powerpoint/2010/main" val="99681737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2394CC-8575-4464-AFFB-B6076536C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提交、排队与查看结果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58A11F-D6F6-48EE-ADBB-EDFD897BB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CC70-AE56-4592-A003-4568EB08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335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~/course-labs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4F1CBD-B84F-49C4-8470-7E62BD26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193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0441D-2A63-4E32-AE12-9D90B1AF5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051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lab1.slurm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25BE3C-2016-4364-B632-4CB47B82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sbatch lab2.slurm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4A74E6-1059-4592-A886-07DE4756C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7667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squeue -u "$USER"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9C195E-CADB-4978-ADF6-AB906E525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6245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E0F2F9-C2D3-4E6E-BD74-17FCB90A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48225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tail -f results/lab2-123456.log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AF41C-1C31-41F9-8CAF-A7DD965E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134302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25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sacct -j 123456 --format=JobID,State,ExitCode,Elapsed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9932E0-745F-4F79-9C99-BBD793044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009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PD 表示排队，R 表示运行。123456 需要替换成 sbatch 返回的作业编号。</a:t>
            </a:r>
          </a:p>
        </p:txBody>
      </p:sp>
    </p:spTree>
    <p:extLst>
      <p:ext uri="{BB962C8B-B14F-4D97-AF65-F5344CB8AC3E}">
        <p14:creationId xmlns:p14="http://schemas.microsoft.com/office/powerpoint/2010/main" val="322598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71AF5-F767-424E-8B08-4F54E40B9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下载日志并结束实验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CA767A-97FF-49CD-B2D8-DA59CD7AC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A8C3A1-15A0-463E-A9F1-91F4883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在本地终端下载结果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B2688-9120-4F84-BDED-4DEBCDF1F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622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-p pi2-results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C9EFE-46D4-40F9-8F83-AE28ACEF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765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rsync -av \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8FED9-0F58-40C1-BCCD-F7CA88D07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9092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jiaowosuan-data:course-labs/results/ \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9569E8-5370-42D1-BD9E-28DE338D3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05275"/>
            <a:ext cx="1343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  ./pi2-results/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1CCE-BC83-4B44-BF3C-89AEEB7D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505450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需要主动取消某个作业时，在登录节点执行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4FE189-E016-49D2-AB17-3606BDA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191250"/>
            <a:ext cx="13430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75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75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scancel 123456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225F3-F43E-4509-88A0-2F468547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91400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C4D9D5"/>
                </a:solidFill>
                <a:latin typeface="Hiragino Sans GB"/>
                <a:ea typeface="Hiragino Sans GB"/>
                <a:cs typeface="Hiragino Sans GB"/>
              </a:rPr>
              <a:t>关闭 SSH 后，sbatch 提交的作业仍会继续运行。交互作业结束时输入 exit。</a:t>
            </a:r>
          </a:p>
        </p:txBody>
      </p:sp>
    </p:spTree>
    <p:extLst>
      <p:ext uri="{BB962C8B-B14F-4D97-AF65-F5344CB8AC3E}">
        <p14:creationId xmlns:p14="http://schemas.microsoft.com/office/powerpoint/2010/main" val="140297928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102C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4B2865-DC00-4E59-9F3A-640A7913D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通过交大云盘提交作业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A67C7E-1DCE-457B-9A22-9FD38D176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20</a:t>
            </a:r>
          </a:p>
        </p:txBody>
      </p:sp>
      <p:sp>
        <p:nvSpPr>
          <p:cNvPr id="10" name="content-2">
            <a:extLst xmlns:a="http://schemas.openxmlformats.org/drawingml/2006/main">
              <a:ext uri="{FF2B5EF4-FFF2-40B4-BE49-F238E27FC236}">
                <a16:creationId xmlns:a16="http://schemas.microsoft.com/office/drawing/2014/main" id="{4C733361-F679-4EC8-937A-B9E0A8CE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先保存远端源码并完成测试，再在本地终端下载最终版本</a:t>
            </a:r>
          </a:p>
        </p:txBody>
      </p:sp>
      <p:sp>
        <p:nvSpPr>
          <p:cNvPr id="11" name="content-3">
            <a:extLst xmlns:a="http://schemas.openxmlformats.org/drawingml/2006/main">
              <a:ext uri="{FF2B5EF4-FFF2-40B4-BE49-F238E27FC236}">
                <a16:creationId xmlns:a16="http://schemas.microsoft.com/office/drawing/2014/main" id="{D8064D9C-D658-402C-90B7-11932A8D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mkdir pi2-submission</a:t>
            </a:r>
          </a:p>
        </p:txBody>
      </p:sp>
      <p:sp>
        <p:nvSpPr>
          <p:cNvPr id="12" name="content-4">
            <a:extLst xmlns:a="http://schemas.openxmlformats.org/drawingml/2006/main">
              <a:ext uri="{FF2B5EF4-FFF2-40B4-BE49-F238E27FC236}">
                <a16:creationId xmlns:a16="http://schemas.microsoft.com/office/drawing/2014/main" id="{6F891123-724C-4FC4-BE1E-03DC67EA5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4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cd pi2-submission</a:t>
            </a:r>
          </a:p>
        </p:txBody>
      </p:sp>
      <p:sp>
        <p:nvSpPr>
          <p:cNvPr id="13" name="content-5">
            <a:extLst xmlns:a="http://schemas.openxmlformats.org/drawingml/2006/main">
              <a:ext uri="{FF2B5EF4-FFF2-40B4-BE49-F238E27FC236}">
                <a16:creationId xmlns:a16="http://schemas.microsoft.com/office/drawing/2014/main" id="{7F946EB0-9F8E-4AAB-AF5A-2FBA0EF7F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957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jiaowosuan-data:course-labs/labs/lab1-datalab/bits.c ./</a:t>
            </a:r>
          </a:p>
        </p:txBody>
      </p:sp>
      <p:sp>
        <p:nvSpPr>
          <p:cNvPr id="14" name="content-6">
            <a:extLst xmlns:a="http://schemas.openxmlformats.org/drawingml/2006/main">
              <a:ext uri="{FF2B5EF4-FFF2-40B4-BE49-F238E27FC236}">
                <a16:creationId xmlns:a16="http://schemas.microsoft.com/office/drawing/2014/main" id="{1C427AC3-0DFE-4869-95C5-6DEE79669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291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7EDDB"/>
                </a:solidFill>
                <a:latin typeface="Menlo"/>
                <a:ea typeface="Menlo"/>
                <a:cs typeface="Menlo"/>
              </a:defRPr>
            </a:pPr>
            <a:r>
              <a:rPr sz="2100" b="0">
                <a:solidFill>
                  <a:srgbClr val="B7EDDB"/>
                </a:solidFill>
                <a:latin typeface="Menlo"/>
                <a:ea typeface="Menlo"/>
                <a:cs typeface="Menlo"/>
              </a:rPr>
              <a:t>scp jiaowosuan-data:course-labs/labs/lab2-matrix/src/mygemm.c ./</a:t>
            </a:r>
          </a:p>
        </p:txBody>
      </p:sp>
      <p:sp>
        <p:nvSpPr>
          <p:cNvPr id="15" name="content-7">
            <a:extLst xmlns:a="http://schemas.openxmlformats.org/drawingml/2006/main">
              <a:ext uri="{FF2B5EF4-FFF2-40B4-BE49-F238E27FC236}">
                <a16:creationId xmlns:a16="http://schemas.microsoft.com/office/drawing/2014/main" id="{ECF3154C-1714-4F83-97C1-974A6B535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81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按 Lab 整理源码、报告与日志，建议命名：学号_姓名_Lab编号.zip</a:t>
            </a:r>
          </a:p>
        </p:txBody>
      </p:sp>
      <p:sp>
        <p:nvSpPr>
          <p:cNvPr id="16" name="content-8">
            <a:extLst xmlns:a="http://schemas.openxmlformats.org/drawingml/2006/main">
              <a:ext uri="{FF2B5EF4-FFF2-40B4-BE49-F238E27FC236}">
                <a16:creationId xmlns:a16="http://schemas.microsoft.com/office/drawing/2014/main" id="{C1577B6F-BCA0-4CFA-9E18-695B363F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43625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AF1EF"/>
                </a:solidFill>
                <a:latin typeface="Hiragino Sans GB"/>
                <a:ea typeface="Hiragino Sans GB"/>
                <a:cs typeface="Hiragino Sans GB"/>
              </a:rPr>
              <a:t>上传教师指定的云盘收件入口，重新下载核对并保留提交记录</a:t>
            </a:r>
          </a:p>
        </p:txBody>
      </p:sp>
      <p:sp>
        <p:nvSpPr>
          <p:cNvPr id="17" name="content-9">
            <a:extLst xmlns:a="http://schemas.openxmlformats.org/drawingml/2006/main">
              <a:ext uri="{FF2B5EF4-FFF2-40B4-BE49-F238E27FC236}">
                <a16:creationId xmlns:a16="http://schemas.microsoft.com/office/drawing/2014/main" id="{A8F144F0-F8FC-4089-A144-981FF8E57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239000"/>
            <a:ext cx="1333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A8C6C4"/>
                </a:solidFill>
                <a:latin typeface="Hiragino Sans GB"/>
                <a:ea typeface="Hiragino Sans GB"/>
                <a:cs typeface="Hiragino Sans GB"/>
              </a:rPr>
              <a:t>以题面和截止时间为准。云盘上传后由教师统一评分，不会触发 GitHub 自动测试。</a:t>
            </a:r>
          </a:p>
        </p:txBody>
      </p:sp>
    </p:spTree>
    <p:extLst>
      <p:ext uri="{BB962C8B-B14F-4D97-AF65-F5344CB8AC3E}">
        <p14:creationId xmlns:p14="http://schemas.microsoft.com/office/powerpoint/2010/main" val="29740326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3171DB-808B-4A18-9ACA-95A6DBF51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常见问题与处理顺序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40DB76-BAC7-4FD5-99D5-BF5765160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21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76300" y="1809750"/>
          <a:ext xmlns:a="http://schemas.openxmlformats.org/drawingml/2006/main" cx="13335000" cy="4972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5619750"/>
              </a:tblGrid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现象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先检查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下一步</a:t>
                      </a:r>
                    </a:p>
                  </a:txBody>
                  <a:tcPr marL="91440" marR="91440" marT="45720" marB="45720" anchor="ctr">
                    <a:solidFill>
                      <a:srgbClr val="167A70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作业一直 PD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squeue 显示的原因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等待资源，或核对账户和队列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找不到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module avail cmake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加载可用模块，确认版本 ≥ 3.16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CMake 路径错误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是否复制过旧 build 目录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换新的构建目录重新配置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实验输出 INVALID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对应函数与矩阵参数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小规模调试，修正后再测性能</a:t>
                      </a:r>
                    </a:p>
                  </a:txBody>
                  <a:tcPr marL="91440" marR="91440" marT="45720" marB="45720" anchor="ctr">
                    <a:solidFill>
                      <a:srgbClr val="EDF1ED"/>
                    </a:solidFill>
                  </a:tcPr>
                </a:tc>
              </a:tr>
              <a:tr h="828675"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DataLab 无法评分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姓名学号是否填写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90500" tIns="114300" rIns="142875" bIns="114300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72D36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按题面填写并完成 bits.c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AAA11F-66AD-444C-93C4-06C79BEE3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7324725"/>
            <a:ext cx="13192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本仓库的 submit.sh 不会提交 Slurm。批处理使用 sbatch lab1.slurm / lab2.slurm。</a:t>
            </a:r>
          </a:p>
        </p:txBody>
      </p:sp>
    </p:spTree>
    <p:extLst>
      <p:ext uri="{BB962C8B-B14F-4D97-AF65-F5344CB8AC3E}">
        <p14:creationId xmlns:p14="http://schemas.microsoft.com/office/powerpoint/2010/main" val="107766403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6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722A-A459-4877-B5CF-BEDD709EC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28650"/>
            <a:ext cx="134778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9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第一次练习与参考资料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77480-1642-4A8D-83FC-1C9CC5056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79724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26971"/>
                </a:solidFill>
                <a:latin typeface="Hiragino Sans GB"/>
                <a:ea typeface="Hiragino Sans GB"/>
                <a:cs typeface="Hiragino Sans GB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D56CD-76B5-4F6E-8714-F7AA4A7BF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95475"/>
            <a:ext cx="13335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925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练习目标：完成远程测试，并通过云盘提交一次作业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41C933-B09A-47AC-BBC6-88DC43E68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13335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1. 配置 SSH，用 VS Code 打开远端源码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2. 申请计算节点，编译并检查两个 Lab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3. 提交批处理作业，下载日志和最终源码</a:t>
            </a:r>
          </a:p>
          <a:p xmlns:a="http://schemas.openxmlformats.org/drawingml/2006/main">
            <a:pPr>
              <a:buNone/>
              <a:def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550" b="0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4. 整理作业包，上传云盘并重新下载核对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CD8DAC-05D9-4A50-BC6F-5F4F6FD2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62575"/>
            <a:ext cx="1266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72D36"/>
                </a:solidFill>
                <a:latin typeface="Hiragino Sans GB"/>
                <a:ea typeface="Hiragino Sans GB"/>
                <a:cs typeface="Hiragino Sans GB"/>
              </a:rPr>
              <a:t>官方文档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9CCE5-F9C2-4501-A882-CB8AAA2D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00075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057435c084224bbf"/>
              </a:rPr>
              <a:t>登录与账号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80C01E-7DFC-45C1-B0D2-2DDDAD0B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524625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2c763fe3961d4475"/>
              </a:rPr>
              <a:t>Slurm 作业管理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53C6D5-E03E-43B4-AD6E-0E08D932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7048500"/>
            <a:ext cx="1276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167A70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6048324ed88e4d01"/>
              </a:rPr>
              <a:t>文件传输</a:t>
            </a:r>
          </a:p>
        </p:txBody>
      </p:sp>
    </p:spTree>
    <p:extLst>
      <p:ext uri="{BB962C8B-B14F-4D97-AF65-F5344CB8AC3E}">
        <p14:creationId xmlns:p14="http://schemas.microsoft.com/office/powerpoint/2010/main" val="5143148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2026-09-27T07:50:25.8200000Z</dcterms:created>
  <dcterms:modified xsi:type="dcterms:W3CDTF">2026-09-27T07:50:25.8200000Z</dcterms:modified>
</coreProperties>
</file>