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224ea8d8cbf4e77" /><Relationship Type="http://schemas.openxmlformats.org/officeDocument/2006/relationships/extended-properties" Target="/docProps/app.xml" Id="Rf2af009d299440da" /><Relationship Type="http://schemas.openxmlformats.org/officeDocument/2006/relationships/officeDocument" Target="/ppt/presentation.xml" Id="R3b47d17dcdf54e2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45c5e4f9dad40d0"/>
  </p:sldMasterIdLst>
  <p:notesMasterIdLst>
    <p:notesMasterId xmlns:r="http://schemas.openxmlformats.org/officeDocument/2006/relationships" r:id="Red9b614178124732"/>
  </p:notesMasterIdLst>
  <p:sldIdLst>
    <p:sldId xmlns:r="http://schemas.openxmlformats.org/officeDocument/2006/relationships" id="256" r:id="R78d1f1a17dda4599"/>
    <p:sldId xmlns:r="http://schemas.openxmlformats.org/officeDocument/2006/relationships" id="257" r:id="R0b4797e544c54e59"/>
    <p:sldId xmlns:r="http://schemas.openxmlformats.org/officeDocument/2006/relationships" id="258" r:id="R436e2518b9474fae"/>
    <p:sldId xmlns:r="http://schemas.openxmlformats.org/officeDocument/2006/relationships" id="259" r:id="Rbd141fee6aa44fcf"/>
    <p:sldId xmlns:r="http://schemas.openxmlformats.org/officeDocument/2006/relationships" id="260" r:id="R13f96867a11b4831"/>
    <p:sldId xmlns:r="http://schemas.openxmlformats.org/officeDocument/2006/relationships" id="261" r:id="Rfab119b0ddbe4933"/>
    <p:sldId xmlns:r="http://schemas.openxmlformats.org/officeDocument/2006/relationships" id="262" r:id="Rcf3c3c2ee553409e"/>
    <p:sldId xmlns:r="http://schemas.openxmlformats.org/officeDocument/2006/relationships" id="263" r:id="R3f00c95c0c4b4c27"/>
    <p:sldId xmlns:r="http://schemas.openxmlformats.org/officeDocument/2006/relationships" id="264" r:id="R3e1e30a398a74a0a"/>
    <p:sldId xmlns:r="http://schemas.openxmlformats.org/officeDocument/2006/relationships" id="265" r:id="Re0246108c4b44761"/>
    <p:sldId xmlns:r="http://schemas.openxmlformats.org/officeDocument/2006/relationships" id="266" r:id="Rfb5d0603379d4c4b"/>
    <p:sldId xmlns:r="http://schemas.openxmlformats.org/officeDocument/2006/relationships" id="267" r:id="Rff151fe642cb4dc9"/>
    <p:sldId xmlns:r="http://schemas.openxmlformats.org/officeDocument/2006/relationships" id="268" r:id="R9632f542868046a6"/>
    <p:sldId xmlns:r="http://schemas.openxmlformats.org/officeDocument/2006/relationships" id="269" r:id="R3bbfc776f8ce4c74"/>
    <p:sldId xmlns:r="http://schemas.openxmlformats.org/officeDocument/2006/relationships" id="270" r:id="R19f748f207d4442a"/>
    <p:sldId xmlns:r="http://schemas.openxmlformats.org/officeDocument/2006/relationships" id="271" r:id="R786b4b6e83c446e6"/>
    <p:sldId xmlns:r="http://schemas.openxmlformats.org/officeDocument/2006/relationships" id="272" r:id="R71ae4c040d6c4d66"/>
    <p:sldId xmlns:r="http://schemas.openxmlformats.org/officeDocument/2006/relationships" id="273" r:id="R9782dfb70f7446b2"/>
    <p:sldId xmlns:r="http://schemas.openxmlformats.org/officeDocument/2006/relationships" id="274" r:id="R69e50cb3dc344154"/>
    <p:sldId xmlns:r="http://schemas.openxmlformats.org/officeDocument/2006/relationships" id="275" r:id="R1a75bf930ed74d6e"/>
    <p:sldId xmlns:r="http://schemas.openxmlformats.org/officeDocument/2006/relationships" id="276" r:id="R98d41da5155847f1"/>
    <p:sldId xmlns:r="http://schemas.openxmlformats.org/officeDocument/2006/relationships" id="277" r:id="R455d8597bb784b4c"/>
    <p:sldId xmlns:r="http://schemas.openxmlformats.org/officeDocument/2006/relationships" id="278" r:id="R816a4400a65840fe"/>
    <p:sldId xmlns:r="http://schemas.openxmlformats.org/officeDocument/2006/relationships" id="279" r:id="Re933f70c135b4434"/>
    <p:sldId xmlns:r="http://schemas.openxmlformats.org/officeDocument/2006/relationships" id="280" r:id="Rc5216a65506e4e1d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14638df48cb46c1" /><Relationship Type="http://schemas.openxmlformats.org/officeDocument/2006/relationships/slideMaster" Target="/ppt/slideMasters/slideMaster1.xml" Id="R445c5e4f9dad40d0" /><Relationship Type="http://schemas.openxmlformats.org/officeDocument/2006/relationships/notesMaster" Target="/ppt/notesMasters/notesMaster1.xml" Id="Red9b614178124732" /><Relationship Type="http://schemas.openxmlformats.org/officeDocument/2006/relationships/presProps" Target="/ppt/presProps.xml" Id="R10a6585dc1b34da1" /><Relationship Type="http://schemas.openxmlformats.org/officeDocument/2006/relationships/tableStyles" Target="/ppt/tableStyles.xml" Id="Rc625f35d05f3479a" /><Relationship Type="http://schemas.openxmlformats.org/officeDocument/2006/relationships/slide" Target="/ppt/slides/slide1.xml" Id="R78d1f1a17dda4599" /><Relationship Type="http://schemas.openxmlformats.org/officeDocument/2006/relationships/slide" Target="/ppt/slides/slide2.xml" Id="R0b4797e544c54e59" /><Relationship Type="http://schemas.openxmlformats.org/officeDocument/2006/relationships/slide" Target="/ppt/slides/slide3.xml" Id="R436e2518b9474fae" /><Relationship Type="http://schemas.openxmlformats.org/officeDocument/2006/relationships/slide" Target="/ppt/slides/slide4.xml" Id="Rbd141fee6aa44fcf" /><Relationship Type="http://schemas.openxmlformats.org/officeDocument/2006/relationships/slide" Target="/ppt/slides/slide5.xml" Id="R13f96867a11b4831" /><Relationship Type="http://schemas.openxmlformats.org/officeDocument/2006/relationships/slide" Target="/ppt/slides/slide6.xml" Id="Rfab119b0ddbe4933" /><Relationship Type="http://schemas.openxmlformats.org/officeDocument/2006/relationships/slide" Target="/ppt/slides/slide7.xml" Id="Rcf3c3c2ee553409e" /><Relationship Type="http://schemas.openxmlformats.org/officeDocument/2006/relationships/slide" Target="/ppt/slides/slide8.xml" Id="R3f00c95c0c4b4c27" /><Relationship Type="http://schemas.openxmlformats.org/officeDocument/2006/relationships/slide" Target="/ppt/slides/slide9.xml" Id="R3e1e30a398a74a0a" /><Relationship Type="http://schemas.openxmlformats.org/officeDocument/2006/relationships/slide" Target="/ppt/slides/slide10.xml" Id="Re0246108c4b44761" /><Relationship Type="http://schemas.openxmlformats.org/officeDocument/2006/relationships/slide" Target="/ppt/slides/slide11.xml" Id="Rfb5d0603379d4c4b" /><Relationship Type="http://schemas.openxmlformats.org/officeDocument/2006/relationships/slide" Target="/ppt/slides/slide12.xml" Id="Rff151fe642cb4dc9" /><Relationship Type="http://schemas.openxmlformats.org/officeDocument/2006/relationships/slide" Target="/ppt/slides/slide13.xml" Id="R9632f542868046a6" /><Relationship Type="http://schemas.openxmlformats.org/officeDocument/2006/relationships/slide" Target="/ppt/slides/slide14.xml" Id="R3bbfc776f8ce4c74" /><Relationship Type="http://schemas.openxmlformats.org/officeDocument/2006/relationships/slide" Target="/ppt/slides/slide15.xml" Id="R19f748f207d4442a" /><Relationship Type="http://schemas.openxmlformats.org/officeDocument/2006/relationships/slide" Target="/ppt/slides/slide16.xml" Id="R786b4b6e83c446e6" /><Relationship Type="http://schemas.openxmlformats.org/officeDocument/2006/relationships/slide" Target="/ppt/slides/slide17.xml" Id="R71ae4c040d6c4d66" /><Relationship Type="http://schemas.openxmlformats.org/officeDocument/2006/relationships/slide" Target="/ppt/slides/slide18.xml" Id="R9782dfb70f7446b2" /><Relationship Type="http://schemas.openxmlformats.org/officeDocument/2006/relationships/slide" Target="/ppt/slides/slide19.xml" Id="R69e50cb3dc344154" /><Relationship Type="http://schemas.openxmlformats.org/officeDocument/2006/relationships/slide" Target="/ppt/slides/slide20.xml" Id="R1a75bf930ed74d6e" /><Relationship Type="http://schemas.openxmlformats.org/officeDocument/2006/relationships/slide" Target="/ppt/slides/slide21.xml" Id="R98d41da5155847f1" /><Relationship Type="http://schemas.openxmlformats.org/officeDocument/2006/relationships/slide" Target="/ppt/slides/slide22.xml" Id="R455d8597bb784b4c" /><Relationship Type="http://schemas.openxmlformats.org/officeDocument/2006/relationships/slide" Target="/ppt/slides/slide23.xml" Id="R816a4400a65840fe" /><Relationship Type="http://schemas.openxmlformats.org/officeDocument/2006/relationships/slide" Target="/ppt/slides/slide24.xml" Id="Re933f70c135b4434" /><Relationship Type="http://schemas.openxmlformats.org/officeDocument/2006/relationships/slide" Target="/ppt/slides/slide25.xml" Id="Rc5216a65506e4e1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a70b2ddde944ee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1d098d84dc44b97" /><Relationship Type="http://schemas.openxmlformats.org/officeDocument/2006/relationships/notesMaster" Target="/ppt/notesMasters/notesMaster1.xml" Id="R395e799b0ea84cf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e5d3487566e46e9" /><Relationship Type="http://schemas.openxmlformats.org/officeDocument/2006/relationships/notesMaster" Target="/ppt/notesMasters/notesMaster1.xml" Id="Re21818814b1242a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6522f352dce4b56" /><Relationship Type="http://schemas.openxmlformats.org/officeDocument/2006/relationships/notesMaster" Target="/ppt/notesMasters/notesMaster1.xml" Id="R9b8ea69b8afa4b8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59fe93b2a774d20" /><Relationship Type="http://schemas.openxmlformats.org/officeDocument/2006/relationships/notesMaster" Target="/ppt/notesMasters/notesMaster1.xml" Id="R14690c4785744a3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604083417124a9a" /><Relationship Type="http://schemas.openxmlformats.org/officeDocument/2006/relationships/notesMaster" Target="/ppt/notesMasters/notesMaster1.xml" Id="R4ed0dde682c0452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6712b8f6d64463c" /><Relationship Type="http://schemas.openxmlformats.org/officeDocument/2006/relationships/notesMaster" Target="/ppt/notesMasters/notesMaster1.xml" Id="R6f6b02e0cd04473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67731db617a4cbb" /><Relationship Type="http://schemas.openxmlformats.org/officeDocument/2006/relationships/notesMaster" Target="/ppt/notesMasters/notesMaster1.xml" Id="R51181b4aa1034eb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015487e123042bd" /><Relationship Type="http://schemas.openxmlformats.org/officeDocument/2006/relationships/notesMaster" Target="/ppt/notesMasters/notesMaster1.xml" Id="R7d20cdb8b65246b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80bd011523c492a" /><Relationship Type="http://schemas.openxmlformats.org/officeDocument/2006/relationships/notesMaster" Target="/ppt/notesMasters/notesMaster1.xml" Id="R64a7ee167e23418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24a7f2c6bdd4a13" /><Relationship Type="http://schemas.openxmlformats.org/officeDocument/2006/relationships/notesMaster" Target="/ppt/notesMasters/notesMaster1.xml" Id="R081cbe5ee7734ad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b339a4df4b148d4" /><Relationship Type="http://schemas.openxmlformats.org/officeDocument/2006/relationships/notesMaster" Target="/ppt/notesMasters/notesMaster1.xml" Id="Rb6925dae08cf44d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6bfdde56fb64fd8" /><Relationship Type="http://schemas.openxmlformats.org/officeDocument/2006/relationships/notesMaster" Target="/ppt/notesMasters/notesMaster1.xml" Id="R8fef77059a42481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29ea3fd2c4546cc" /><Relationship Type="http://schemas.openxmlformats.org/officeDocument/2006/relationships/notesMaster" Target="/ppt/notesMasters/notesMaster1.xml" Id="Rb6eea1f2a8eb4d7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27eb6c943cd4351" /><Relationship Type="http://schemas.openxmlformats.org/officeDocument/2006/relationships/notesMaster" Target="/ppt/notesMasters/notesMaster1.xml" Id="R04d50ee8c1c84c1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e5aa1b8a0af42da" /><Relationship Type="http://schemas.openxmlformats.org/officeDocument/2006/relationships/notesMaster" Target="/ppt/notesMasters/notesMaster1.xml" Id="R3682651fe5f64bd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3362b2fd7a74b99" /><Relationship Type="http://schemas.openxmlformats.org/officeDocument/2006/relationships/notesMaster" Target="/ppt/notesMasters/notesMaster1.xml" Id="Ra4110863448047b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4c0249d3ff94458" /><Relationship Type="http://schemas.openxmlformats.org/officeDocument/2006/relationships/notesMaster" Target="/ppt/notesMasters/notesMaster1.xml" Id="Ra4f9bb00a82940d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d8bea21d23c42ce" /><Relationship Type="http://schemas.openxmlformats.org/officeDocument/2006/relationships/notesMaster" Target="/ppt/notesMasters/notesMaster1.xml" Id="Re71e4338e41d459c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e84a31cbd4f4e3f" /><Relationship Type="http://schemas.openxmlformats.org/officeDocument/2006/relationships/notesMaster" Target="/ppt/notesMasters/notesMaster1.xml" Id="R8df9d135bf8a465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8fc465c41a6d4849" /><Relationship Type="http://schemas.openxmlformats.org/officeDocument/2006/relationships/notesMaster" Target="/ppt/notesMasters/notesMaster1.xml" Id="Rc140c7e7073b419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d85650d6d4554700" /><Relationship Type="http://schemas.openxmlformats.org/officeDocument/2006/relationships/notesMaster" Target="/ppt/notesMasters/notesMaster1.xml" Id="Rd9e59b886e4a4050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725c10f8660c4efe" /><Relationship Type="http://schemas.openxmlformats.org/officeDocument/2006/relationships/notesMaster" Target="/ppt/notesMasters/notesMaster1.xml" Id="R095b0f4c50d949d7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478289d90e974a39" /><Relationship Type="http://schemas.openxmlformats.org/officeDocument/2006/relationships/notesMaster" Target="/ppt/notesMasters/notesMaster1.xml" Id="Re221bf180ad94c48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523eff8d577943c9" /><Relationship Type="http://schemas.openxmlformats.org/officeDocument/2006/relationships/notesMaster" Target="/ppt/notesMasters/notesMaster1.xml" Id="R397289063ea04082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f0ad32d32b7f4cad" /><Relationship Type="http://schemas.openxmlformats.org/officeDocument/2006/relationships/notesMaster" Target="/ppt/notesMasters/notesMaster1.xml" Id="R45cf9f090acb4a9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本教程面向第一次使用超算的课程学生。所有命令示例均需学生自行执行。本教程未提交任何作业。命令以当前课程仓库和交我算官方文档为依据。用户名使用占位符，学生必须使用本人账号。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教师通过交大云盘分发学生包。学生下载后传入平台；编辑可用 VS Code，编译与测试须申请计算节点。结束后下载最终源码、报告和日志，再上传课程指定的云盘收件入口。GitHub 仓库用于维护课程材料。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https://docs.hpc.sjtu.edu.cn/transport/transportsolution.html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HPC_USER 在本地终端设置。将 your_username 替换为本人的超算账号。jiaowosuan 是当前使用者电脑上已有的 SSH 别名，其他学生未配置时应使用完整域名。平台文档规定 2026-04-10 起教学账号禁止校外登录。不要展示或转发密码、证书私钥。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配置保存在本地用户目录。保留已有其他主机配置；同名 Host 修改原条目。nano 用 Ctrl-O、Enter 保存，Ctrl-X 退出。macOS/Linux 保存后可设 chmod 700 ~/.ssh 和 chmod 600 ~/.ssh/config。与仓库 .vscode 目录无关。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https://docs.hpc.sjtu.edu.cn/login/vscode.html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两个 Host 段都写入自己的本地 config。Host 是别名，HostName 是入口域名，User 是超算账号。ServerAlive 参数只帮助检测连接，不替代平台活跃会话要求。不要把密码写入配置。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https://docs.hpc.sjtu.edu.cn/transport/transportsolution.html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先用课程发放的账号完成普通 SSH 登录。网页登录后核对当前超算账号，避免把另一科研账号的证书用于教学账号。缺少身份绑定时按平台要求补充，已有绑定不要随意更改。没有自己的密钥时可按官方教程一键生成；已有密钥时上传其公钥，私钥不上传。平台提示额外授权时按选择的通知渠道确认。账号是否开放申请应以实际页面和管理员确认为准。学生竞赛指南提供了学生账号的证书申请示例，但不能据此保证本课程所有教学账号均开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https://docs.hpc.sjtu.edu.cn/accounts/security.html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https://xflops.sjtu.edu.cn/hpc-start-guide/network/login-HPC/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请通过文件管理器把本次下载的密钥和证书放入独立的 jiaowosuan 子目录。若原目录已有同名文件，先核对用途，另建目录存放新文件。使用已有公钥申请时，私钥仍使用原文件，下一页的 IdentityFile 改为原私钥的实际路径。一键生成若返回 id_rsa、id_rsa.pub、id_rsa-cert.pub，后续命令和配置都替换为对应名称。macOS/Linux 可先 mkdir -p ~/.ssh/jiaowosuan，并设置目录权限 chmod 700 ~/.ssh/jiaowosuan。chmod 不适用于 Windows PowerShell。私钥、个人配置和证书不加入仓库或作业包。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https://docs.hpc.sjtu.edu.cn/accounts/security.html</a:t>
            </a:r>
          </a:p>
          <a:p xmlns:a="http://schemas.openxmlformats.org/drawingml/2006/main">
            <a:r>
              <a:t>https://docs.hpc.sjtu.edu.cn/login/sshlogin.html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将两行分别加入已有的两个 Host 段中，不单独创建缺少 Host 的全局配置。User 仍填老师发放的教学账号，证书也必须属于该账号。Windows 的示例绝对路径为 C:/Users/your_name/.ssh/jiaowosuan/id_ed25519；路径含空格时用双引号括起。使用已有密钥时 IdentityFile 指向那把私钥。平台已停用只靠 authorized_keys 的传统免密方式，单独 ssh-copy-id 不能替代证书申请。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https://docs.hpc.sjtu.edu.cn/accounts/security.html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https://man.openbsd.org/ssh_config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先在本地终端进入证书所在目录，再运行 ssh-keygen -L 显示证书信息，可核对 Valid 有效期和 Principals 中的用户名。示例命令中的文件名须与下载结果一致。PreferredAuthentications=publickey 只对本次命令生效，避免配置错误时回退到账号密码而误以为免密成功。私钥若有 passphrase，输入的是本地密钥口令，不代表平台证书免密失败。登录成功后可运行 hostname 确认，再输入 exit 退出。文件传输也可用同样方式将别名替换为 jiaowosuan-data 测试。失败时检查文件路径、密钥与证书匹配、账号名和有效期；普通 ssh jiaowosuan 可继续按提示用密码认证。续签若使用原公钥，只更新证书；若重新生成密钥，则同时更新私钥与证书。教学账号自 2026 年 4 月 10 日起禁止校外登录，免密证书不改变这一限制。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https://docs.hpc.sjtu.edu.cn/accounts/security.html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https://man.openbsd.org/ssh-keygen</a:t>
            </a:r>
          </a:p>
          <a:p xmlns:a="http://schemas.openxmlformats.org/drawingml/2006/main">
            <a:r>
              <a:t>https://man.openbsd.org/ssh_config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先在独立终端测试 SSH，再打开 VS Code 远程连接。打开文件夹时若 ~ 未展开，使用普通 SSH 会话 pwd 确认的绝对路径。保存改变的是服务器上的文件，提交云盘前要下载最终源码。集成终端初始通常在登录节点。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https://docs.hpc.sjtu.edu.cn/login/vscode.html</a:t>
            </a:r>
          </a:p>
          <a:p xmlns:a="http://schemas.openxmlformats.org/drawingml/2006/main">
            <a:r>
              <a:t>https://code.visualstudio.com/docs/remote/ssh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已有用户设置时合并字段，不覆盖其他配置。别名找不到检查本地 config 路径和文件后缀。SSH 失败先检查校内网络、账号认证和证书。终端正常但 VS Code 不稳定时检查普通 SSH 活跃会话，以及负载均衡入口导致不同连接落到不同节点的问题。扩展的依赖下载可能仍需另行处理。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https://docs.hpc.sjtu.edu.cn/login/vscode.html</a:t>
            </a:r>
          </a:p>
          <a:p xmlns:a="http://schemas.openxmlformats.org/drawingml/2006/main">
            <a:r>
              <a:t>https://code.visualstudio.com/docs/remote/ssh</a:t>
            </a:r>
          </a:p>
          <a:p xmlns:a="http://schemas.openxmlformats.org/drawingml/2006/main">
            <a:r>
              <a:t>https://code.visualstudio.com/docs/remote/troubleshooting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首次上传流程适用于 macOS、Linux 及具备 OpenSSH 客户端的 Windows。课程根目录应包含 labs/。不要传入本地构建产物。macOS/Linux 的 rsync 过滤示例见讲义。云盘分享链接可能需要登录或提取码，不一定是 wget 可用的文件直链。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https://docs.hpc.sjtu.edu.cn/transport/transportsolution.html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在登录节点执行 srun。成功分配后才执行下方编译器检查，hostname 应显示计算节点。若排队，等待分配，不要退回登录节点直接运行实验。1 task、1 CPU 足以运行当前串行框架。20 分钟仅用于小规模调试。退出 bash 会释放交互式资源。登录节点于 2026-09-27 实测有 GCC 8.5.0、CMake 3.20.2，但计算节点仍需现场确认。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https://docs.hpc.sjtu.edu.cn/job/partition.html</a:t>
            </a:r>
          </a:p>
          <a:p xmlns:a="http://schemas.openxmlformats.org/drawingml/2006/main">
            <a:r>
              <a:t>https://docs.hpc.sjtu.edu.cn/job/kos.html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make selftest 检查测试器、参考函数、签名和评分流程，不能证明 bits.c 已完成。make grade 检查学生答案。当前本地 bits.c 是姓名学号为空的学生模板，正式评分会拒绝运行；学生需要按题面自行填写并完成作答。dlc 是 x86-64 Linux 可执行文件，适合 Pi CPU 节点；当前版本不能识别新增 FP8 题的全部规则。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课程仓库 labs/lab1-datalab/README.md、Makefile、bits.c（2026-09-27）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 CMake &gt;= 3.16。默认使用随框架提供的参考 BLAS，不需要安装 MKL 或 OpenBLAS。build-pi2 是独立构建目录，不上传本地的 CMakeCache.txt。当前 CMakeLists 已为 reg_reuse 和 cache_part3 指定 -O0，为 cache_part4_o0..o3 分别指定优化级别；不添加额外全局优化选项。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课程仓库 labs/lab2-matrix/CMakeLists.txt、README.md、benchmarks/*.c、scripts/*.sh（2026-09-27）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这些命令覆盖寄存器复用、六种循环次序、六种缓存分块和 optimal 的四个优化级别。48、6 可满足当前框架的整除条件。只把不含 INVALID、退出状态为 0 的测试视为通过。学生空白实现会失败，这是预期行为。小矩阵测试是快速检查，不能证明所有输入均正确。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课程仓库 labs/lab2-matrix/CMakeLists.txt、README.md、benchmarks/*.c、scripts/*.sh（2026-09-27）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Slurm 的 ntasks 是进程数，cpus-per-task 是每个进程分配的 CPU 数。当前课程框架没有 MPI/OpenMP 并行，增加分配核数不会自动使单个实验加速。cpu 队列现场查询为每核默认 4096 MiB，上限也为 4096 MiB。任务时限是最大允许值，不是预计耗时。避免默认选择独占整节点。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https://docs.hpc.sjtu.edu.cn/job/partition.html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把本页内容保存为 course-labs/lab1.slurm。从仓库根目录提交，提交前先 mkdir -p results，因为 Slurm 在启动脚本前就会打开日志文件。脚本直接在所分配的计算节点执行。set -euo pipefail 使检查失败时作业返回非零。%j 由 Slurm 替换为作业编号。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课程仓库 labs/lab1-datalab/README.md、Makefile、bits.c（2026-09-27）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保存为 course-labs/lab2.slurm。左列接右列构成同一脚本，文字讲义提供完整可复制版本。每个作业使用包含 job ID 的独立构建目录，避免不同作业争用构建文件。这里执行小规模检查。正式实验应保留编译和正确性检查，再按课程题面添加运行命令并增加时限。若计算节点缺少工具，先 module avail，再加载实际存在的模块。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课程仓库 labs/lab2-matrix/CMakeLists.txt、README.md、benchmarks/*.c、scripts/*.sh（2026-09-27）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当前驱动默认值：reg_reuse 为 66,126,258,510,1026,2046；cache_part3 为 n=2000,b=10；cache_part4 为 n=2040,b=60。当前 README 部分正式规模与 dgemm3 的整除约定不一致，课程发布前应由教师统一。这里的命令仅演示重复运行，不定义新的课程测量规模。2040 和 60 满足 2、3、6 及缓存块的整除条件。CPU 绑核限制进程迁移，不能消除共享节点上的缓存、带宽、频率干扰。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课程仓库 labs/lab2-matrix/CMakeLists.txt、README.md、benchmarks/*.c、scripts/*.sh（2026-09-27）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这些命令在登录节点运行。必须先创建 results/ 再 sbatch。sbatch 返回的数字是 job ID，把 123456 替换为实际编号。PD 表示等待调度，R 表示运行中。squeue 中消失后，使用 sacct 看最终状态和退出码。只有 COMPLETED 且 ExitCode=0:0，结合程序检查结果，才确认该次作业成功。tail -f 用 Ctrl-C 结束查看，它不会取消作业。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在本地终端下载日志。Windows 或没有 rsync 时，在新建的本地收集目录执行 scp -r jiaowosuan-data:course-labs/results ./。源码需另外下载，参见下一页。关闭 SSH 不会自动结束已提交的 sbatch 作业。取消只针对明确的作业编号。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https://docs.hpc.sjtu.edu.cn/transport/transportsolution.html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下载示例同时收集两个 Lab，正式按每个 Lab 题面分别打包。pi2-submission 若已存在，应核对版本或换新目录，避免混淆。不要上传构建目录、可执行文件或个人 SSH 配置。教师维护课程仓库，学生通过指定的云盘收件入口交作业，无需 PR。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若 cmake 不存在或版本过旧，在分配的计算节点上 module avail cmake，再 module load 实际存在的完整模块名，随后验证 cmake --version。旧 CMake 缓存必须使用新的构建目录，不能跨本地和集群复用。当前 labs/lab2-matrix/scripts/submit.sh 仅是 run_all.sh 的包装，不调用 sbatch，因此不能直接在登录节点使用。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https://docs.hpc.sjtu.edu.cn/job/kos.html</a:t>
            </a:r>
          </a:p>
          <a:p xmlns:a="http://schemas.openxmlformats.org/drawingml/2006/main">
            <a:r>
              <a:t>课程仓库 labs/lab1-datalab/README.md、Makefile、bits.c（2026-09-27）</a:t>
            </a:r>
          </a:p>
          <a:p xmlns:a="http://schemas.openxmlformats.org/drawingml/2006/main">
            <a:r>
              <a:t>课程仓库 labs/lab2-matrix/CMakeLists.txt、README.md、benchmarks/*.c、scripts/*.sh（2026-09-27）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课堂练习只运行小规模测试。学生尚未实现的函数允许输出失败，但必须能定位日志中的具体函数。下载结果后让学生说明本地、登录节点、计算节点的职责。官方文档和实际配置可能变化，软件版本与队列状态以当前 module avail、sinfo 和 scontrol 输出为准。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https://docs.hpc.sjtu.edu.cn/transport/transportsolution.html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https://docs.hpc.sjtu.edu.cn/job/partition.html</a:t>
            </a:r>
          </a:p>
          <a:p xmlns:a="http://schemas.openxmlformats.org/drawingml/2006/main">
            <a:r>
              <a:t>https://docs.hpc.sjtu.edu.cn/job/kos.html</a:t>
            </a:r>
          </a:p>
          <a:p xmlns:a="http://schemas.openxmlformats.org/drawingml/2006/main">
            <a:r>
              <a:t>课程仓库 labs/lab1-datalab/README.md、Makefile、bits.c（2026-09-27）</a:t>
            </a:r>
          </a:p>
          <a:p xmlns:a="http://schemas.openxmlformats.org/drawingml/2006/main">
            <a:r>
              <a:t>课程仓库 labs/lab2-matrix/CMakeLists.txt、README.md、benchmarks/*.c、scripts/*.sh（2026-09-27）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736ed10b6649e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baa8dcaac994cdd" /><Relationship Type="http://schemas.openxmlformats.org/officeDocument/2006/relationships/slideLayout" Target="/ppt/slideLayouts/slideLayout1.xml" Id="R8b979249872e441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b979249872e441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924cba9eff4958" /><Relationship Type="http://schemas.openxmlformats.org/officeDocument/2006/relationships/notesSlide" Target="/ppt/notesSlides/notesSlide1.xml" Id="R59f17a412a7441d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799a5a8b234880" /><Relationship Type="http://schemas.openxmlformats.org/officeDocument/2006/relationships/notesSlide" Target="/ppt/notesSlides/notesSlide2.xml" Id="Rb17b9b4b26514a8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5b3a0b37bf4e2e" /><Relationship Type="http://schemas.openxmlformats.org/officeDocument/2006/relationships/notesSlide" Target="/ppt/notesSlides/notesSlide3.xml" Id="R56b1c03c87ab4a2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b258a3ce914bab" /><Relationship Type="http://schemas.openxmlformats.org/officeDocument/2006/relationships/notesSlide" Target="/ppt/notesSlides/notesSlide4.xml" Id="Rdc9fd165601146c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ec695768564dde" /><Relationship Type="http://schemas.openxmlformats.org/officeDocument/2006/relationships/notesSlide" Target="/ppt/notesSlides/notesSlide5.xml" Id="Rad3fdec88da8402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0e00c769434963" /><Relationship Type="http://schemas.openxmlformats.org/officeDocument/2006/relationships/notesSlide" Target="/ppt/notesSlides/notesSlide6.xml" Id="R111c6efa4ca748a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d264e3687a494f" /><Relationship Type="http://schemas.openxmlformats.org/officeDocument/2006/relationships/notesSlide" Target="/ppt/notesSlides/notesSlide7.xml" Id="Raa6a6902b247487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a5a831ada34b6b" /><Relationship Type="http://schemas.openxmlformats.org/officeDocument/2006/relationships/notesSlide" Target="/ppt/notesSlides/notesSlide8.xml" Id="R53a9c32878df461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acfc6f5f8d43ad" /><Relationship Type="http://schemas.openxmlformats.org/officeDocument/2006/relationships/notesSlide" Target="/ppt/notesSlides/notesSlide9.xml" Id="Rffafd52469b64fb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1f269f49a94ec2" /><Relationship Type="http://schemas.openxmlformats.org/officeDocument/2006/relationships/notesSlide" Target="/ppt/notesSlides/notesSlide10.xml" Id="R801d35ef2cec438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64a249a5864664" /><Relationship Type="http://schemas.openxmlformats.org/officeDocument/2006/relationships/notesSlide" Target="/ppt/notesSlides/notesSlide11.xml" Id="R3737ce6ca914434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d950efb4c84c63" /><Relationship Type="http://schemas.openxmlformats.org/officeDocument/2006/relationships/notesSlide" Target="/ppt/notesSlides/notesSlide12.xml" Id="R8afd878c4b8c4f8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2596f8c9d946eb" /><Relationship Type="http://schemas.openxmlformats.org/officeDocument/2006/relationships/notesSlide" Target="/ppt/notesSlides/notesSlide13.xml" Id="R4cbb7e62bfd448a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f33c852cf046d7" /><Relationship Type="http://schemas.openxmlformats.org/officeDocument/2006/relationships/notesSlide" Target="/ppt/notesSlides/notesSlide14.xml" Id="R45bb5943a2644f5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51c92bdff84f7f" /><Relationship Type="http://schemas.openxmlformats.org/officeDocument/2006/relationships/notesSlide" Target="/ppt/notesSlides/notesSlide15.xml" Id="R4dfa96fa4ea746c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e9b0b37f5c42ba" /><Relationship Type="http://schemas.openxmlformats.org/officeDocument/2006/relationships/notesSlide" Target="/ppt/notesSlides/notesSlide16.xml" Id="Rd150f6177bb94f7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09bd4b768f45d3" /><Relationship Type="http://schemas.openxmlformats.org/officeDocument/2006/relationships/notesSlide" Target="/ppt/notesSlides/notesSlide17.xml" Id="R99f1d74f3edd464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d47cecfe224091" /><Relationship Type="http://schemas.openxmlformats.org/officeDocument/2006/relationships/notesSlide" Target="/ppt/notesSlides/notesSlide18.xml" Id="R06b078782e704c1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75e797799640fc" /><Relationship Type="http://schemas.openxmlformats.org/officeDocument/2006/relationships/notesSlide" Target="/ppt/notesSlides/notesSlide19.xml" Id="Rcc0f142587ba4d2b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6a78cf91ba4f6a" /><Relationship Type="http://schemas.openxmlformats.org/officeDocument/2006/relationships/notesSlide" Target="/ppt/notesSlides/notesSlide20.xml" Id="R081553079196417e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9c122e5d464e49" /><Relationship Type="http://schemas.openxmlformats.org/officeDocument/2006/relationships/notesSlide" Target="/ppt/notesSlides/notesSlide21.xml" Id="R763bd674fe0e462e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3e6a3c031746d6" /><Relationship Type="http://schemas.openxmlformats.org/officeDocument/2006/relationships/notesSlide" Target="/ppt/notesSlides/notesSlide22.xml" Id="R99a68748c82f4243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ace3672dcf42b4" /><Relationship Type="http://schemas.openxmlformats.org/officeDocument/2006/relationships/notesSlide" Target="/ppt/notesSlides/notesSlide23.xml" Id="Rd0f8d922a7c54b6b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e880c17a3043d6" /><Relationship Type="http://schemas.openxmlformats.org/officeDocument/2006/relationships/notesSlide" Target="/ppt/notesSlides/notesSlide24.xml" Id="R8fd2e81b10f94401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e79f9d518a4b1e" /><Relationship Type="http://schemas.openxmlformats.org/officeDocument/2006/relationships/hyperlink" Target="https://docs.hpc.sjtu.edu.cn/login/sshlogin.html" TargetMode="External" Id="Red6d026c0276447e" /><Relationship Type="http://schemas.openxmlformats.org/officeDocument/2006/relationships/hyperlink" Target="https://docs.hpc.sjtu.edu.cn/job/slurm.html" TargetMode="External" Id="R8f173dde8e544b7b" /><Relationship Type="http://schemas.openxmlformats.org/officeDocument/2006/relationships/hyperlink" Target="https://docs.hpc.sjtu.edu.cn/transport/transportsolution.html" TargetMode="External" Id="R3c19fdbc10ca4a17" /><Relationship Type="http://schemas.openxmlformats.org/officeDocument/2006/relationships/notesSlide" Target="/ppt/notesSlides/notesSlide25.xml" Id="R369d145e1f7c4fa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7E11AA-16BF-4B07-9424-186276CC8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00250"/>
            <a:ext cx="12954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615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615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交我算平台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8EB3C5-E753-4E42-AC5F-492EA4FF6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33725"/>
            <a:ext cx="13239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615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615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运行指南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509EDD-CF67-4208-A430-22EBBD891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53000"/>
            <a:ext cx="1143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50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</a:rPr>
              <a:t>π 2.0 集群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657BED-9824-420F-9E9E-7F38E2083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581650"/>
            <a:ext cx="1143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DataLab 与 MatrixLab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800642-7ED1-4C7E-AB7A-90167418B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7486650"/>
            <a:ext cx="12858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CECC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B7CECC"/>
                </a:solidFill>
                <a:latin typeface="Hiragino Sans GB"/>
                <a:ea typeface="Hiragino Sans GB"/>
                <a:cs typeface="Hiragino Sans GB"/>
              </a:rPr>
              <a:t>学生上手教程　2026 年 9 月 · 云盘提交版</a:t>
            </a:r>
          </a:p>
        </p:txBody>
      </p:sp>
    </p:spTree>
    <p:extLst>
      <p:ext uri="{BB962C8B-B14F-4D97-AF65-F5344CB8AC3E}">
        <p14:creationId xmlns:p14="http://schemas.microsoft.com/office/powerpoint/2010/main" val="148666813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864DFF-97F5-4DC2-9259-17655D5F9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一次实验的完整流程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157980-2E95-4A25-BFA1-50A82769C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02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876300" y="1905000"/>
          <a:ext xmlns:a="http://schemas.openxmlformats.org/drawingml/2006/main" cx="13335000" cy="4857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76500"/>
                <a:gridCol w="6000750"/>
                <a:gridCol w="4857750"/>
              </a:tblGrid>
              <a:tr h="971550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位置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执行的操作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常用命令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</a:tr>
              <a:tr h="971550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本地电脑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云盘下载与提交、源码传输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浏览器、ssh、scp / rsync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971550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登录节点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查询队列、申请资源、提交作业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sinfo、srun、sbatch、squeue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</a:tr>
              <a:tr h="971550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计算节点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编译、正确性检查、性能测量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make、cmake、实验程序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971550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数据节点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通过本地客户端传输文件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data.hpc.sjtu.edu.cn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46B664-C546-491C-A7DA-8C0EDE7EE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8662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登录节点禁止运行计算密集任务。编译与实验统一放入 Slurm 分配的计算节点。</a:t>
            </a:r>
          </a:p>
        </p:txBody>
      </p:sp>
    </p:spTree>
    <p:extLst>
      <p:ext uri="{BB962C8B-B14F-4D97-AF65-F5344CB8AC3E}">
        <p14:creationId xmlns:p14="http://schemas.microsoft.com/office/powerpoint/2010/main" val="201188554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登录 π 2.0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B9B1E8-0A26-4E7E-9FBD-B0E2555C9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在本地终端执行，your_username 替换为本人超算用户名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CFEF93-934B-4D01-9AC2-2312D5DFE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14625"/>
            <a:ext cx="1343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-V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2BEB3C-1B69-4AD7-8964-2838E6DA0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24225"/>
            <a:ext cx="1343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your_username@pilogin.hpc.sjtu.edu.cn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EB50A4-4CA3-4266-9F3F-5910109D4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24375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完成后面的本地 SSH 配置后，可以简写为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3D5CA9-B242-4F6B-9A39-5ABB485F6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7800"/>
            <a:ext cx="1343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7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jiaowosuan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2E6DC5-2158-444A-8B32-E35DBB429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19137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教学账号须在校内网络登录；jiaowosuan 不是平台统一提供的命令。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本地 SSH 配置文件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04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BEE83DAE-2A95-48B3-B33B-42D13BF9C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macOS / Linux：在自己的电脑上编辑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E7EE85EA-6FC9-4DEA-99A6-CE2BB0F1D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622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7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~/.ssh/config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5F8F9D9D-939D-4E85-B927-4277AC200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2895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-p ~/.ssh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A5DB860A-F3D0-4315-B5D2-977D6ECCD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touch ~/.ssh/config &amp;&amp; nano ~/.ssh/config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2A8CF849-5ECA-4830-8F2F-24E04F18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100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Windows：在 PowerShell 中打开记事本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95FF3CAC-BD1B-4755-8305-6FA628DA9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958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New-Item -ItemType Directory -Force "$env:USERPROFILE\.ssh"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F2F2AA3E-847A-47F2-9C32-79C7AF555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7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notepad "$env:USERPROFILE\.ssh\config"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87352598-E4D0-4F1F-8A5B-4C610E42A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追加或修改自己的 Host 条目；文件名为 config，无 .txt 后缀。完整步骤见讲义。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登录与文件传输的 SSH 别名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05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096AB81F-76E9-4789-8542-C7A5F6FA7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登录：编辑文件、提交作业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847FF308-C205-4617-8165-3AED79152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762125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传输：上传源码、下载结果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48CAC5A1-6C4C-40BA-8406-3E886E70A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Host jiaowosuan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DFB9BFD2-9BAB-440C-920C-DE5F0227B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9925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HostName pilogin.hpc.sjtu.edu.cn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9802413B-0533-4ABB-823F-CA84010A8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52850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User your_username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F2F10397-91F6-4E8F-BC61-3B2803F5D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95775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Port 22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7FE4086A-1F70-484B-9C52-D0CA91A70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38700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ServerAliveInterval 60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E188AABB-FC94-4BFA-9441-148220DDC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81625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ServerAliveCountMax 3</a:t>
            </a:r>
          </a:p>
        </p:txBody>
      </p:sp>
      <p:sp>
        <p:nvSpPr>
          <p:cNvPr id="18" name="content-10">
            <a:extLst xmlns:a="http://schemas.openxmlformats.org/drawingml/2006/main">
              <a:ext uri="{FF2B5EF4-FFF2-40B4-BE49-F238E27FC236}">
                <a16:creationId xmlns:a16="http://schemas.microsoft.com/office/drawing/2014/main" id="{7E495652-DAAB-46D3-B128-E25C55AE6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667000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Host jiaowosuan-data</a:t>
            </a:r>
          </a:p>
        </p:txBody>
      </p:sp>
      <p:sp>
        <p:nvSpPr>
          <p:cNvPr id="19" name="content-11">
            <a:extLst xmlns:a="http://schemas.openxmlformats.org/drawingml/2006/main">
              <a:ext uri="{FF2B5EF4-FFF2-40B4-BE49-F238E27FC236}">
                <a16:creationId xmlns:a16="http://schemas.microsoft.com/office/drawing/2014/main" id="{D2BA50A0-4924-43CB-A2F5-C01E0F334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09925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HostName data.hpc.sjtu.edu.cn</a:t>
            </a:r>
          </a:p>
        </p:txBody>
      </p:sp>
      <p:sp>
        <p:nvSpPr>
          <p:cNvPr id="20" name="content-12">
            <a:extLst xmlns:a="http://schemas.openxmlformats.org/drawingml/2006/main">
              <a:ext uri="{FF2B5EF4-FFF2-40B4-BE49-F238E27FC236}">
                <a16:creationId xmlns:a16="http://schemas.microsoft.com/office/drawing/2014/main" id="{2D8B9A71-D1ED-4BAC-BB33-2346D14EF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752850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User your_username</a:t>
            </a:r>
          </a:p>
        </p:txBody>
      </p:sp>
      <p:sp>
        <p:nvSpPr>
          <p:cNvPr id="21" name="content-13">
            <a:extLst xmlns:a="http://schemas.openxmlformats.org/drawingml/2006/main">
              <a:ext uri="{FF2B5EF4-FFF2-40B4-BE49-F238E27FC236}">
                <a16:creationId xmlns:a16="http://schemas.microsoft.com/office/drawing/2014/main" id="{622D84D2-73DC-4A95-84C3-BCC6C6029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295775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Port 22</a:t>
            </a:r>
          </a:p>
        </p:txBody>
      </p:sp>
      <p:sp>
        <p:nvSpPr>
          <p:cNvPr id="22" name="content-14">
            <a:extLst xmlns:a="http://schemas.openxmlformats.org/drawingml/2006/main">
              <a:ext uri="{FF2B5EF4-FFF2-40B4-BE49-F238E27FC236}">
                <a16:creationId xmlns:a16="http://schemas.microsoft.com/office/drawing/2014/main" id="{E75D4AEC-CD9F-46F6-9789-B849C3495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838700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ServerAliveInterval 60</a:t>
            </a:r>
          </a:p>
        </p:txBody>
      </p:sp>
      <p:sp>
        <p:nvSpPr>
          <p:cNvPr id="23" name="content-15">
            <a:extLst xmlns:a="http://schemas.openxmlformats.org/drawingml/2006/main">
              <a:ext uri="{FF2B5EF4-FFF2-40B4-BE49-F238E27FC236}">
                <a16:creationId xmlns:a16="http://schemas.microsoft.com/office/drawing/2014/main" id="{3435BA7E-A1BE-4741-BBB0-392B3DCF7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381625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ServerAliveCountMax 3</a:t>
            </a:r>
          </a:p>
        </p:txBody>
      </p:sp>
      <p:sp>
        <p:nvSpPr>
          <p:cNvPr id="24" name="content-16">
            <a:extLst xmlns:a="http://schemas.openxmlformats.org/drawingml/2006/main">
              <a:ext uri="{FF2B5EF4-FFF2-40B4-BE49-F238E27FC236}">
                <a16:creationId xmlns:a16="http://schemas.microsoft.com/office/drawing/2014/main" id="{09CBA0C5-90E9-42D9-BC82-DF52FC686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388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两处 your_username 都替换为本人超算用户名</a:t>
            </a:r>
          </a:p>
        </p:txBody>
      </p:sp>
      <p:sp>
        <p:nvSpPr>
          <p:cNvPr id="25" name="content-17">
            <a:extLst xmlns:a="http://schemas.openxmlformats.org/drawingml/2006/main">
              <a:ext uri="{FF2B5EF4-FFF2-40B4-BE49-F238E27FC236}">
                <a16:creationId xmlns:a16="http://schemas.microsoft.com/office/drawing/2014/main" id="{4A1D4BB2-2275-426A-93F6-4CD55CD79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保存后在本地运行 ssh jiaowosuan。别名简化命令，认证仍按平台要求完成。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学生免密登录：申请证书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06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B8A01086-6CB9-40E6-803E-55C256852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适用：账号已开放证书申请，并能正常使用密码登录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7E2E5067-8024-4B71-861B-417A8CF6A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1  在本地浏览器打开超算管理系统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F81AABA0-2008-4ADA-80CC-B50C19AE0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289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40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>
                <a:solidFill>
                  <a:srgbClr val="B7EDDB"/>
                </a:solidFill>
                <a:latin typeface="Menlo"/>
                <a:ea typeface="Menlo"/>
                <a:cs typeface="Menlo"/>
              </a:rPr>
              <a:t>https://my.hpc.sjtu.edu.cn/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7E43AD0A-EDA9-4924-B597-FD0E705BD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05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2  核对登录账号，按提示完成 jAccount / 邮箱绑定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51689C4C-F8EF-42AC-9A41-0238D9BF6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67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3  在证书申请中选择“一键生成”或提交已有公钥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6A6BF024-7340-42F7-9657-3EC677A59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29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4  按页面提示完成授权，下载证书和对应密钥文件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F7D0A37E-CA0E-455F-A292-6537AC806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91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使用已有密钥时，只提交公钥（.pub），保留原私钥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F6A1678C-44DC-4AA3-A04E-95E708753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申请权限以实际账号为准。若无入口或申请失败，继续使用密码登录并联系助教。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证书与密钥的本地保存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07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0B669421-4782-4303-9BBF-80F27871C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在本地 .ssh 下新建 jiaowosuan 子目录，集中保存下载的文件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ED342048-649C-47A6-94DD-2383F52A0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288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macOS / Linux   ~/.ssh/jiaowosuan/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44E38E08-9468-48A6-AE9A-869315CBB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527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Windows   C:/Users/你的用户名/.ssh/jiaowosuan/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11E42D95-5AB5-44AE-B9ED-5CF33BB94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10000"/>
            <a:ext cx="4381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>
                <a:solidFill>
                  <a:srgbClr val="B7EDDB"/>
                </a:solidFill>
                <a:latin typeface="Menlo"/>
                <a:ea typeface="Menlo"/>
                <a:cs typeface="Menlo"/>
              </a:rPr>
              <a:t>id_ed25519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1A6FADBE-574C-47C2-A23B-D07C716D8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810000"/>
            <a:ext cx="8096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私钥：仅在自己的电脑上保存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EC36CF4B-E1DB-4E7E-9A18-284F9F5AD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91025"/>
            <a:ext cx="4381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>
                <a:solidFill>
                  <a:srgbClr val="B7EDDB"/>
                </a:solidFill>
                <a:latin typeface="Menlo"/>
                <a:ea typeface="Menlo"/>
                <a:cs typeface="Menlo"/>
              </a:rPr>
              <a:t>id_ed25519.pub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1EDB6FEE-4978-4E14-869B-463653F03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391025"/>
            <a:ext cx="8096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公钥：申请证书时提交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2276BF17-236B-433F-88D9-A10B9A800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72050"/>
            <a:ext cx="4381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>
                <a:solidFill>
                  <a:srgbClr val="B7EDDB"/>
                </a:solidFill>
                <a:latin typeface="Menlo"/>
                <a:ea typeface="Menlo"/>
                <a:cs typeface="Menlo"/>
              </a:rPr>
              <a:t>id_ed25519-cert.pub</a:t>
            </a:r>
          </a:p>
        </p:txBody>
      </p:sp>
      <p:sp>
        <p:nvSpPr>
          <p:cNvPr id="18" name="content-10">
            <a:extLst xmlns:a="http://schemas.openxmlformats.org/drawingml/2006/main">
              <a:ext uri="{FF2B5EF4-FFF2-40B4-BE49-F238E27FC236}">
                <a16:creationId xmlns:a16="http://schemas.microsoft.com/office/drawing/2014/main" id="{A198F020-BBBD-4D59-9D5C-E1BD22A65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972050"/>
            <a:ext cx="8096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证书：与私钥匹配，并有有效期</a:t>
            </a:r>
          </a:p>
        </p:txBody>
      </p:sp>
      <p:sp>
        <p:nvSpPr>
          <p:cNvPr id="19" name="content-11">
            <a:extLst xmlns:a="http://schemas.openxmlformats.org/drawingml/2006/main">
              <a:ext uri="{FF2B5EF4-FFF2-40B4-BE49-F238E27FC236}">
                <a16:creationId xmlns:a16="http://schemas.microsoft.com/office/drawing/2014/main" id="{84BA9D2A-91E8-47DE-AD1E-49F5C9A54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626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macOS / Linux：限制私钥文件权限</a:t>
            </a:r>
          </a:p>
        </p:txBody>
      </p:sp>
      <p:sp>
        <p:nvSpPr>
          <p:cNvPr id="20" name="content-12">
            <a:extLst xmlns:a="http://schemas.openxmlformats.org/drawingml/2006/main">
              <a:ext uri="{FF2B5EF4-FFF2-40B4-BE49-F238E27FC236}">
                <a16:creationId xmlns:a16="http://schemas.microsoft.com/office/drawing/2014/main" id="{53238EDD-3953-4C2D-8902-5276D5126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150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>
                <a:solidFill>
                  <a:srgbClr val="B7EDDB"/>
                </a:solidFill>
                <a:latin typeface="Menlo"/>
                <a:ea typeface="Menlo"/>
                <a:cs typeface="Menlo"/>
              </a:rPr>
              <a:t>chmod 600 ~/.ssh/jiaowosuan/id_ed25519</a:t>
            </a:r>
          </a:p>
        </p:txBody>
      </p:sp>
      <p:sp>
        <p:nvSpPr>
          <p:cNvPr id="21" name="content-13">
            <a:extLst xmlns:a="http://schemas.openxmlformats.org/drawingml/2006/main">
              <a:ext uri="{FF2B5EF4-FFF2-40B4-BE49-F238E27FC236}">
                <a16:creationId xmlns:a16="http://schemas.microsoft.com/office/drawing/2014/main" id="{5E409872-AE81-481D-9DE0-8373DB573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这里以 ED25519 文件名为例，实际以下载文件为准。保留原有密钥，私钥不上传作业。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免密登录的 SSH config 配置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08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A2E859F6-7799-4CEC-9C9B-350532767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在自己电脑的 SSH config 中找到前面配置的两个 Host 段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CD7B08DB-AAE4-479C-99B9-11645363E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分别在 jiaowosuan 和 jiaowosuan-data 段内追加以下两行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C50C89E2-DAA7-4E42-9C81-2481A5D8B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IdentityFile ~/.ssh/jiaowosuan/id_ed25519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AAF0AF94-102C-40D3-BB97-BE2056B0A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338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CertificateFile ~/.ssh/jiaowosuan/id_ed25519-cert.pub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69904EB0-990E-4F77-97B5-F5F1A6FD0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816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IdentityFile 指向私钥，CertificateFile 指向匹配的证书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EF2B43A8-2FF3-4010-AF7A-8DA7C18F1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91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Windows 也可使用 ~/.ssh/...，或填写自己用户目录的绝对路径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2A662273-2589-4B02-B23E-E3DAFEDBC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保留已有 HostName、User 等配置。文件名与路径要对应实际文件，config 中不填写密码。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免密验证与证书续签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09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09E88B3C-E0C5-455F-A13E-302910BB4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本地终端进入证书所在目录，查看有效期（Valid）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6DE18206-C5A1-4B62-85B7-3D7A2A85E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860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>
                <a:solidFill>
                  <a:srgbClr val="B7EDDB"/>
                </a:solidFill>
                <a:latin typeface="Menlo"/>
                <a:ea typeface="Menlo"/>
                <a:cs typeface="Menlo"/>
              </a:rPr>
              <a:t>ssh-keygen -L -f id_ed25519-cert.pub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24E4671E-0C54-4A17-A41B-A3CDF9E81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仅使用公钥认证，验证刚才的配置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EB12DF69-16A4-4CE7-A73A-21707BE16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-o PreferredAuthentications=publickey jiaowosuan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D8A72D21-D017-4C52-8032-4B364E01D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148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成功登录且未要求账号密码后，用同一别名连接 VS Code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B9FCECAB-2A7D-4117-9085-84C476C45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768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私钥的 passphrase 是本地密钥口令，连接时仍可能需要输入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50929651-786F-47A6-ACF4-260F33EC4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91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证书过期：重新申请并更新证书文件，再重复验证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1A3A0DF1-4A02-4A65-9F99-DEDFDB91D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失败时可用 ssh jiaowosuan 继续密码登录并排查。教学账号仍须遵守校内网络登录限制。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VS Code 连接与编辑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10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609A6770-9ABC-4A99-908D-A58F5C357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5737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1  在本地安装 Microsoft Remote - SSH 扩展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F6AC5F6B-C396-4397-AC0E-98B406E1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2892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2  按 F1，搜索 Remote-SSH: Connect to Host...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5EA8E908-6F4A-451C-99F3-EAD1E96F7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0047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3  选择 jiaowosuan，远端系统选择 Linux，完成认证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E4B232E0-1C31-447C-9365-51793F345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7202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4  打开远端 ~/course-labs，确认左下角的 SSH 主机名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E3C73381-BF7D-462B-A43C-BB822C080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4357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5  保存源码后，在集成终端先申请计算资源，再编译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7BF07F11-E49B-460E-98AA-7ECD07BD9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使用期间保持一个普通 ssh jiaowosuan 会话打开，满足平台的活跃会话要求。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VS Code 首次连接与排错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11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5CCE61FE-A847-416B-9481-60FAAB306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连接卡住时，查看“输出”中的 Remote - SSH 日志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C137CDE4-D6A2-49AC-BC00-0A1897405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193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可在本地“用户设置(JSON)”中合并以下字段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8B010679-3E7B-438D-B6F0-6C7495E21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766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{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E5703089-D1CE-4E4B-B6D2-9455DFE52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48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"remote.SSH.showLoginTerminal": true,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EAFF8F4D-C17D-436D-AEEA-5FBF852D5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196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"remote.SSH.localServerDownload": "always"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4824C8D1-448A-4D18-A24C-4E4879B7F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91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4F7B3432-35A0-40A7-A3D6-D83F099AF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388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显示登录提示；远端下载失败时，由本地下载 Server 再传入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8D169129-2695-4378-85CA-25A48C8A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本地需要能访问微软下载服务。SSH config 与 VS Code 用户设置均独立于仓库。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2D8CD2-C378-452E-BD65-A32051B5A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从云盘获取并上传源码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65AA1C-7538-452B-A075-B36D60CDE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12</a:t>
            </a:r>
          </a:p>
        </p:txBody>
      </p:sp>
      <p:sp>
        <p:nvSpPr>
          <p:cNvPr id="14" name="content-2">
            <a:extLst xmlns:a="http://schemas.openxmlformats.org/drawingml/2006/main">
              <a:ext uri="{FF2B5EF4-FFF2-40B4-BE49-F238E27FC236}">
                <a16:creationId xmlns:a16="http://schemas.microsoft.com/office/drawing/2014/main" id="{3CD37B2F-FD3B-43C0-AF11-E2F282B23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浏览器下载教师发布的学生包，解压后将根目录命名为 course-labs</a:t>
            </a:r>
          </a:p>
        </p:txBody>
      </p:sp>
      <p:sp>
        <p:nvSpPr>
          <p:cNvPr id="15" name="content-3">
            <a:extLst xmlns:a="http://schemas.openxmlformats.org/drawingml/2006/main">
              <a:ext uri="{FF2B5EF4-FFF2-40B4-BE49-F238E27FC236}">
                <a16:creationId xmlns:a16="http://schemas.microsoft.com/office/drawing/2014/main" id="{D62A69DB-A711-41DD-99E3-FB2F155CD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本地终端：在 course-labs 的上一级目录执行</a:t>
            </a:r>
          </a:p>
        </p:txBody>
      </p:sp>
      <p:sp>
        <p:nvSpPr>
          <p:cNvPr id="16" name="content-4">
            <a:extLst xmlns:a="http://schemas.openxmlformats.org/drawingml/2006/main">
              <a:ext uri="{FF2B5EF4-FFF2-40B4-BE49-F238E27FC236}">
                <a16:creationId xmlns:a16="http://schemas.microsoft.com/office/drawing/2014/main" id="{0D69CE6B-B379-4948-A86D-27F985503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scp -r ./course-labs jiaowosuan-data:</a:t>
            </a:r>
          </a:p>
        </p:txBody>
      </p:sp>
      <p:sp>
        <p:nvSpPr>
          <p:cNvPr id="17" name="content-5">
            <a:extLst xmlns:a="http://schemas.openxmlformats.org/drawingml/2006/main">
              <a:ext uri="{FF2B5EF4-FFF2-40B4-BE49-F238E27FC236}">
                <a16:creationId xmlns:a16="http://schemas.microsoft.com/office/drawing/2014/main" id="{EAA7F502-16FD-4D2E-8D0C-602787B12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9575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jiaowosuan</a:t>
            </a:r>
          </a:p>
        </p:txBody>
      </p:sp>
      <p:sp>
        <p:nvSpPr>
          <p:cNvPr id="18" name="content-6">
            <a:extLst xmlns:a="http://schemas.openxmlformats.org/drawingml/2006/main">
              <a:ext uri="{FF2B5EF4-FFF2-40B4-BE49-F238E27FC236}">
                <a16:creationId xmlns:a16="http://schemas.microsoft.com/office/drawing/2014/main" id="{1A2AD3A8-95AB-4F39-8AE6-9E8ECE9C9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625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</a:t>
            </a:r>
          </a:p>
        </p:txBody>
      </p:sp>
      <p:sp>
        <p:nvSpPr>
          <p:cNvPr id="19" name="content-7">
            <a:extLst xmlns:a="http://schemas.openxmlformats.org/drawingml/2006/main">
              <a:ext uri="{FF2B5EF4-FFF2-40B4-BE49-F238E27FC236}">
                <a16:creationId xmlns:a16="http://schemas.microsoft.com/office/drawing/2014/main" id="{E3011C2E-F30F-4713-A05E-1E7427964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2925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ls labs</a:t>
            </a:r>
          </a:p>
        </p:txBody>
      </p:sp>
      <p:sp>
        <p:nvSpPr>
          <p:cNvPr id="20" name="content-8">
            <a:extLst xmlns:a="http://schemas.openxmlformats.org/drawingml/2006/main">
              <a:ext uri="{FF2B5EF4-FFF2-40B4-BE49-F238E27FC236}">
                <a16:creationId xmlns:a16="http://schemas.microsoft.com/office/drawing/2014/main" id="{17AB631B-C4A0-4DD9-BAB1-9AF59624C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后续更新先保存远端修改，再合并新版本。分享页面下载到本地后，通过数据节点上传。</a:t>
            </a:r>
          </a:p>
        </p:txBody>
      </p:sp>
    </p:spTree>
    <p:extLst>
      <p:ext uri="{BB962C8B-B14F-4D97-AF65-F5344CB8AC3E}">
        <p14:creationId xmlns:p14="http://schemas.microsoft.com/office/powerpoint/2010/main" val="152342540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8E6EC2-21DA-414B-AF6E-2782ACA9D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申请一个计算核心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99D959-7B71-430B-BCF8-02A540419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E5EA2E-692B-4837-A4E3-AE2A6777D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81200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088F77-E9A0-4DE3-8BCB-D7878E65A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8602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srun -p cpu -N 1 -n 1 -c 1 -t 00:20:00 \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0A2566-3C56-4F19-AC4C-D066E5A3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90850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--cpu-bind=cores --pty /bin/bash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C9D7A4-D17D-4381-A1E8-8356CADBA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9567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9F30DC-12EB-4A76-8418-ECAEF0FF1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hostname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1BFAE1-8FB9-4E50-AB14-10F440F29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0532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gcc --version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414224-07BF-41F8-BB55-F196F21F8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10150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--version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2040BB-3DB9-464D-8B2B-57338843F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19137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分配后仅当前终端进入计算节点；新终端先核对 hostname。结束时输入 exit。</a:t>
            </a:r>
          </a:p>
        </p:txBody>
      </p:sp>
    </p:spTree>
    <p:extLst>
      <p:ext uri="{BB962C8B-B14F-4D97-AF65-F5344CB8AC3E}">
        <p14:creationId xmlns:p14="http://schemas.microsoft.com/office/powerpoint/2010/main" val="174516563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D724B1-87ED-4A13-A3F4-C120F4756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1：DataLab 编译与检查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2D2784-7D4D-4795-BB5B-E9DE9E978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9A82E2-1865-4C13-A72E-A27ED55FE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00250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~/course-labs/labs/lab1-datalab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8C415D-F64F-4EC7-8ADD-7D1D87083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14600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make -j1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F4F5BE-F2EA-406A-9983-2D488C201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8950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make selftest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E5022B-5E9F-4D7C-A317-953318013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43300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89E490-3A2D-4E07-9F9F-804C507D8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./btest -f bitCount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BF4072-5926-4F7D-858E-C3481C0DE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72000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make grade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358353-C40A-402E-A3AD-835C7F76A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86350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./dlc bits.c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4B5A37-8EFE-4F06-9CAA-F6BE900DD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19137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先填写 bits.c 的姓名和学号。btest 查正确性，dlc 只检查其支持的编码规则。</a:t>
            </a:r>
          </a:p>
        </p:txBody>
      </p:sp>
    </p:spTree>
    <p:extLst>
      <p:ext uri="{BB962C8B-B14F-4D97-AF65-F5344CB8AC3E}">
        <p14:creationId xmlns:p14="http://schemas.microsoft.com/office/powerpoint/2010/main" val="163420253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40FD5F-39E6-4985-8D14-D992FD4B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2：MatrixLab 编译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E26C0E-36C8-4374-80D8-2A76944BB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80AA8B-605E-4FE7-8EC3-747760A6F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28850"/>
            <a:ext cx="134302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~/course-labs/labs/lab2-matrix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76CC0D-CE18-42EC-9EDB-A80FDC3D8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90825"/>
            <a:ext cx="134302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-S . -B build-pi2 -DBUILD_TESTING=ON \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6ADF46-5637-4F54-BFD9-822503294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52800"/>
            <a:ext cx="134302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-DLAB_USE_SYSTEM_BLAS=OFF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1D0A58-7B73-4327-8EE1-872F113CB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14775"/>
            <a:ext cx="134302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--build build-pi2 --parallel 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D9C4AC-744B-4A47-9E8A-CC90853D4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76750"/>
            <a:ext cx="134302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(cd build-pi2 &amp;&amp; ctest --output-on-failure)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8CC32C-8FA1-4F4C-AA00-324DCAE38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905500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框架已提供参考 BLAS，无需安装额外数学库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31D08D-8C62-42CB-91B9-795597BAD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ctest 检查框架和参考 BLAS；学生矩阵乘法还需运行下一页的测试。</a:t>
            </a:r>
          </a:p>
        </p:txBody>
      </p:sp>
    </p:spTree>
    <p:extLst>
      <p:ext uri="{BB962C8B-B14F-4D97-AF65-F5344CB8AC3E}">
        <p14:creationId xmlns:p14="http://schemas.microsoft.com/office/powerpoint/2010/main" val="2139188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86E408-4221-4D15-90EE-41ABC8327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2：小矩阵正确性验证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5BF6B0-2386-463E-A36F-5588CDE87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B81390-D8EC-4DC0-A2B7-56D86E45E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62175"/>
            <a:ext cx="1343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./build-pi2/reg_reuse 6 12 24 48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18FD51-6D86-40D4-BC67-21248FC38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05100"/>
            <a:ext cx="1343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./build-pi2/cache_part3 48 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1B5E1A-9B26-48C1-A6C2-6EC8F5867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48025"/>
            <a:ext cx="1343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AE8D44-1B67-48CF-AC6F-586F45092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90950"/>
            <a:ext cx="1343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for opt in 0 1 2 3; do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A6BAEB-7FCD-48A9-89BD-1CD453FBB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33875"/>
            <a:ext cx="1343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./build-pi2/cache_part4_o${opt} 48 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FB5CB8-A74C-457D-96B6-CA02FC1D1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76800"/>
            <a:ext cx="1343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done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059BCD-31A0-4D9A-B974-036865B61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29350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出现 INVALID 时，先检查对应函数的数值结果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517ACE-DEF7-4E92-BDD2-A8BE10E6F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32472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小规模全部通过后，再提交较长的性能实验。</a:t>
            </a:r>
          </a:p>
        </p:txBody>
      </p:sp>
    </p:spTree>
    <p:extLst>
      <p:ext uri="{BB962C8B-B14F-4D97-AF65-F5344CB8AC3E}">
        <p14:creationId xmlns:p14="http://schemas.microsoft.com/office/powerpoint/2010/main" val="106893996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ED6441-C350-47FB-B161-F73F25102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批处理作业的资源参数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5B9B74-C802-425C-8CCC-F267D57F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17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876300" y="1905000"/>
          <a:ext xmlns:a="http://schemas.openxmlformats.org/drawingml/2006/main" cx="13335000" cy="49149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619625"/>
                <a:gridCol w="3143250"/>
                <a:gridCol w="5572125"/>
              </a:tblGrid>
              <a:tr h="819150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参数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本教程取值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含义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</a:tr>
              <a:tr h="819150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-p / --partition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cpu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明确指定 π 2.0 CPU 队列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19150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-N / --nodes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一个计算节点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</a:tr>
              <a:tr h="819150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-n / --ntasks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一个进程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19150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-c / --cpus-per-task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分配一个 CPU 核心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</a:tr>
              <a:tr h="819150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-t / --time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00:20:00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小规模检查最多运行 20 分钟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C8EA9F-FB44-43A8-A20C-972A36D3E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当前 lab 使用串行 CPU 程序。正式实验按实测耗时调整时限。</a:t>
            </a:r>
          </a:p>
        </p:txBody>
      </p:sp>
    </p:spTree>
    <p:extLst>
      <p:ext uri="{BB962C8B-B14F-4D97-AF65-F5344CB8AC3E}">
        <p14:creationId xmlns:p14="http://schemas.microsoft.com/office/powerpoint/2010/main" val="115614462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25D593-FF83-4A87-9AE7-3DD0D9627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1 批处理脚本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653FC4-AC56-4EDD-BAC4-B45B5083D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95D150-0668-459C-AE77-9AA1DBA18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85925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保存为仓库根目录下的 lab1.slurm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AEA266-7F1B-4DFB-BE5D-D5EC42B5F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362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#!/bin/bash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5A557F-CAA0-4F6E-A37E-F1C4E5660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3367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-J datalab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98FDD5-37A7-4110-93C9-5D6C6023F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3372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-p cpu -N 1 -n 1 -c 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3816B4-D237-403A-9060-CC9E513F9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3377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-t 00:20:00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48A46E-7125-4647-92A9-656F30ED3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3382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-o results/lab1-%j.log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BBD5BF-2939-4B86-91DB-5BE1B0DEF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3387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AFEF14-2324-4424-969E-E7D80BDA1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3392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set -euo pipefail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69E6C6-F290-4907-B336-5757222C8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3397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"$SLURM_SUBMIT_DIR"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1B1DE3-20D9-43EE-BC91-861667484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3402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make -C labs/lab1-datalab -j1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3D62B4-888E-4A06-9749-BB11FC87B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3407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make -C labs/lab1-datalab selftest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19E713-9AE5-47A9-B3C0-0209ECA24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33412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make -C labs/lab1-datalab grade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09A94C-64E1-4003-BB13-C7880B401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36282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每次作业使用单独的日志文件；姓名学号或答案未完成时，grade 可能失败。</a:t>
            </a:r>
          </a:p>
        </p:txBody>
      </p:sp>
    </p:spTree>
    <p:extLst>
      <p:ext uri="{BB962C8B-B14F-4D97-AF65-F5344CB8AC3E}">
        <p14:creationId xmlns:p14="http://schemas.microsoft.com/office/powerpoint/2010/main" val="210641230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A64C19-1774-4F49-B25C-5CC322AB6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2 批处理脚本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CF88A7-F97A-40C0-9E0D-FC882091E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3C0FF3-0558-4BEB-ACE6-ED7FF2F14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76400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保存为 lab2.slurm；左列接右列，完整版本见配套文字讲义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00B188-256B-4888-AA3F-FC71A3AE9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05075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#!/bin/bash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9A1864-9B0E-4933-88B2-3F76904E7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52750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-J matrixlab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D376D3-336F-429A-B0A1-C72365128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00425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-p cpu -N 1 -n 1 -c 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B067CF-98EB-4287-B58B-7D5420292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48100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-t 00:20:00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9E48A0-16A2-4440-BDD7-284C309DC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95775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-o results/lab2-%j.log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42565C-9C12-43F5-BA3D-D685A9518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43450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175A1D-A4C5-44FC-A3DF-ABD2C329E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91125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set -euo pipefail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EAF85C-4C1B-4DE4-92BD-D1D23204A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38800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"$SLURM_SUBMIT_DIR"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35A968-CF4F-4790-B9C8-D54FE8BC8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086475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B="build/pi2-lab2-$SLURM_JOB_ID"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858B7D-F7EE-49B1-BA07-C07742C5A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2505075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-S labs/lab2-matrix -B "$B" \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4483B2-D9A9-416A-BBD2-3671822F5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2952750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-DBUILD_TESTING=ON \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2E9BA5-C49E-4D19-881C-D096A9A3F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3400425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-DLAB_USE_SYSTEM_BLAS=OFF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B62359-7DF1-4B72-BDC9-1477374A2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3848100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--build "$B" --parallel 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772A91-9F87-41A5-814E-709C0364D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4295775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(cd "$B" &amp;&amp; ctest --output-on-failure)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D30D09-EADC-4F82-9C2F-DC571E639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4743450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srun --cpu-bind=cores "$B/reg_reuse" 6 12 24 48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EFDEFA-74FD-4B2D-A80C-D976BED8B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5191125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srun --cpu-bind=cores "$B/cache_part3" 48 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B726F1-DC39-4394-B788-A38D4B6AA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5638800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for opt in 0 1 2 3; do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7C360F-FDC1-4892-A83F-C628121AD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6086475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srun --cpu-bind=cores "$B/cache_part4_o$opt" 48 6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5FF2F7-9ED1-4B7C-A654-4EEA7CAB4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6534150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done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776CDA-94D2-4EC6-870F-E0C799743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467600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先 mkdir -p results，再从仓库根目录执行 sbatch lab2.slurm。</a:t>
            </a:r>
          </a:p>
        </p:txBody>
      </p:sp>
    </p:spTree>
    <p:extLst>
      <p:ext uri="{BB962C8B-B14F-4D97-AF65-F5344CB8AC3E}">
        <p14:creationId xmlns:p14="http://schemas.microsoft.com/office/powerpoint/2010/main" val="93854646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857A87-6BCA-4769-9841-3CE59A0E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性能实验：规模与测量条件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9CA58D-2761-4BD3-A521-597D915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053918-C4D3-49B8-B2E8-B5DCB7FFD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57375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62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62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正式规模以课程统一题面为准，并满足实现的整除条件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011224-D9B4-471D-A5E4-7DF58C99E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86050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同一组比较保持 CPU 型号、编译器、矩阵规模和块大小一致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F906E6-C954-435C-8566-212CEC6BA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81375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串行运行各个版本，重复 3 次并记录中位数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FB82A7-400F-4834-AF07-0AF09AE64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8627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67A70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167A70"/>
                </a:solidFill>
                <a:latin typeface="Menlo"/>
                <a:ea typeface="Menlo"/>
                <a:cs typeface="Menlo"/>
              </a:rPr>
              <a:t>for rep in 1 2 3; do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5AD37A-2FF2-48C2-A41C-D80257343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91100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67A70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167A70"/>
                </a:solidFill>
                <a:latin typeface="Menlo"/>
                <a:ea typeface="Menlo"/>
                <a:cs typeface="Menlo"/>
              </a:rPr>
              <a:t>  srun --cpu-bind=cores "$B/cache_part4_o3" 2040 60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09C3C0-3A64-4412-9206-0E15895BB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9592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67A70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167A70"/>
                </a:solidFill>
                <a:latin typeface="Menlo"/>
                <a:ea typeface="Menlo"/>
                <a:cs typeface="Menlo"/>
              </a:rPr>
              <a:t>done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706BA5-E0D2-4479-9693-4C6C09F4B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75322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上例添加到 Lab 2 作业脚本末尾。扩大规模时同步增加作业时限。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90E704-0090-4552-8B1D-56CCAB2DA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96150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正式记录还应包含主机名、CPU 型号、编译选项和正确性状态。</a:t>
            </a:r>
          </a:p>
        </p:txBody>
      </p:sp>
    </p:spTree>
    <p:extLst>
      <p:ext uri="{BB962C8B-B14F-4D97-AF65-F5344CB8AC3E}">
        <p14:creationId xmlns:p14="http://schemas.microsoft.com/office/powerpoint/2010/main" val="99681737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2394CC-8575-4464-AFFB-B6076536C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提交、排队与查看结果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58A11F-D6F6-48EE-ADBB-EDFD897BB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B9CC70-AE56-4592-A003-4568EB08C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33575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4F1CBD-B84F-49C4-8470-7E62BD262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19350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-p results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60441D-2A63-4E32-AE12-9D90B1AF5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05125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sbatch lab1.slurm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25BE3C-2016-4364-B632-4CB47B829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sbatch lab2.slurm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4A74E6-1059-4592-A886-07DE4756C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76675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squeue -u "$USER"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9C195E-CADB-4978-ADF6-AB906E525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62450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E0F2F9-C2D3-4E6E-BD74-17FCB90AA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48225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tail -f results/lab2-123456.log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6AF41C-1C31-41F9-8CAF-A7DD965E0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34000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sacct -j 123456 --format=JobID,State,ExitCode,Elapsed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9932E0-745F-4F79-9C99-BBD793044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00900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PD 表示排队，R 表示运行。123456 需要替换成 sbatch 返回的作业编号。</a:t>
            </a:r>
          </a:p>
        </p:txBody>
      </p:sp>
    </p:spTree>
    <p:extLst>
      <p:ext uri="{BB962C8B-B14F-4D97-AF65-F5344CB8AC3E}">
        <p14:creationId xmlns:p14="http://schemas.microsoft.com/office/powerpoint/2010/main" val="32259866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871AF5-F767-424E-8B08-4F54E40B9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下载日志并结束实验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CA767A-97FF-49CD-B2D8-DA59CD7AC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A8C3A1-15A0-463E-A9F1-91F488315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在本地终端下载结果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4B2688-9120-4F84-BDED-4DEBCDF1F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62225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-p pi2-results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BC9EFE-46D4-40F9-8F83-AE28ACEFC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76575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rsync -av \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68FED9-0F58-40C1-BCCD-F7CA88D07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90925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jiaowosuan-data:course-labs/results/ \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9569E8-5370-42D1-BD9E-28DE338D3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05275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./pi2-results/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271CCE-BC83-4B44-BF3C-89AEEB7DF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05450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需要主动取消某个作业时，在登录节点执行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4FE189-E016-49D2-AB17-3606BDA31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191250"/>
            <a:ext cx="1343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scancel 123456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6225F3-F43E-4509-88A0-2F468547D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391400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关闭 SSH 后，sbatch 提交的作业仍会继续运行。交互作业结束时输入 exit。</a:t>
            </a:r>
          </a:p>
        </p:txBody>
      </p:sp>
    </p:spTree>
    <p:extLst>
      <p:ext uri="{BB962C8B-B14F-4D97-AF65-F5344CB8AC3E}">
        <p14:creationId xmlns:p14="http://schemas.microsoft.com/office/powerpoint/2010/main" val="1402979281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通过交大云盘提交作业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23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4C733361-F679-4EC8-937A-B9E0A8CE5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先保存远端源码并完成测试，再在本地终端下载最终版本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D8064D9C-D658-402C-90B7-11932A8DC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pi2-submission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6F891123-724C-4FC4-BE1E-03DC67EA5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99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pi2-submission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7F946EB0-9F8E-4AAB-AF5A-2FBA0EF7F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957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scp jiaowosuan-data:course-labs/labs/lab1-datalab/bits.c ./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1C427AC3-0DFE-4869-95C5-6DEE79669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29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scp jiaowosuan-data:course-labs/labs/lab2-matrix/src/mygemm.c ./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ECF3154C-1714-4F83-97C1-974A6B535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816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按 Lab 整理源码、报告与日志，建议命名：学号_姓名_Lab编号.zip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C1577B6F-BCA0-4CFA-9E18-695B363F8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436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上传教师指定的云盘收件入口，重新下载核对并保留提交记录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A8F144F0-F8FC-4089-A144-981FF8E57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以题面和截止时间为准。云盘上传后由教师统一评分，不会触发 GitHub 自动测试。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3171DB-808B-4A18-9ACA-95A6DBF51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常见问题与处理顺序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40DB76-BAC7-4FD5-99D5-BF5765160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24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876300" y="1809750"/>
          <a:ext xmlns:a="http://schemas.openxmlformats.org/drawingml/2006/main" cx="13335000" cy="49720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4476750"/>
                <a:gridCol w="5619750"/>
              </a:tblGrid>
              <a:tr h="828675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现象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先检查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下一步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</a:tr>
              <a:tr h="828675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作业一直 PD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squeue 显示的原因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等待资源，或核对账户和队列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28675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找不到 cmake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module avail cmake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加载可用模块，确认版本 ≥ 3.16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</a:tr>
              <a:tr h="828675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CMake 路径错误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是否复制过旧 build 目录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换新的构建目录重新配置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28675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实验输出 INVALID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对应函数与矩阵参数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小规模调试，修正后再测性能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</a:tr>
              <a:tr h="828675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DataLab 无法评分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姓名学号是否填写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按题面填写并完成 bits.c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AAA11F-66AD-444C-93C4-06C79BEE3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32472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本仓库的 submit.sh 不会提交 Slurm。批处理使用 sbatch lab1.slurm / lab2.slurm。</a:t>
            </a:r>
          </a:p>
        </p:txBody>
      </p:sp>
    </p:spTree>
    <p:extLst>
      <p:ext uri="{BB962C8B-B14F-4D97-AF65-F5344CB8AC3E}">
        <p14:creationId xmlns:p14="http://schemas.microsoft.com/office/powerpoint/2010/main" val="107766403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F6722A-A459-4877-B5CF-BEDD709EC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第一次练习与参考资料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377480-1642-4A8D-83FC-1C9CC5056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FD56CD-76B5-4F6E-8714-F7AA4A7BF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95475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92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92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练习目标：完成远程测试，并通过云盘提交一次作业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41C933-B09A-47AC-BBC6-88DC43E68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09875"/>
            <a:ext cx="1333500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1. 配置 SSH，用 VS Code 打开远端源码</a:t>
            </a:r>
          </a:p>
          <a:p xmlns:a="http://schemas.openxmlformats.org/drawingml/2006/main">
            <a:pPr>
              <a:buNone/>
              <a:def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2. 申请计算节点，编译并检查两个 Lab</a:t>
            </a:r>
          </a:p>
          <a:p xmlns:a="http://schemas.openxmlformats.org/drawingml/2006/main">
            <a:pPr>
              <a:buNone/>
              <a:def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3. 提交批处理作业，下载日志和最终源码</a:t>
            </a:r>
          </a:p>
          <a:p xmlns:a="http://schemas.openxmlformats.org/drawingml/2006/main">
            <a:pPr>
              <a:buNone/>
              <a:def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4. 整理作业包，上传云盘并重新下载核对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CD8DAC-05D9-4A50-BC6F-5F4F6FD25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62575"/>
            <a:ext cx="1266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官方文档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F9CCE5-F9C2-4501-A882-CB8AAA2DC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00750"/>
            <a:ext cx="1276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67A70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67A70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ed6d026c0276447e"/>
              </a:rPr>
              <a:t>登录与账号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80C01E-7DFC-45C1-B0D2-2DDDAD0B5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524625"/>
            <a:ext cx="1276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67A70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67A70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8f173dde8e544b7b"/>
              </a:rPr>
              <a:t>Slurm 作业管理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53C6D5-E03E-43B4-AD6E-0E08D932A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048500"/>
            <a:ext cx="1276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67A70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67A70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3c19fdbc10ca4a17"/>
              </a:rPr>
              <a:t>文件传输</a:t>
            </a:r>
          </a:p>
        </p:txBody>
      </p:sp>
    </p:spTree>
    <p:extLst>
      <p:ext uri="{BB962C8B-B14F-4D97-AF65-F5344CB8AC3E}">
        <p14:creationId xmlns:p14="http://schemas.microsoft.com/office/powerpoint/2010/main" val="5143148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2026-09-27T08:13:37.6120000Z</dcterms:created>
  <dcterms:modified xsi:type="dcterms:W3CDTF">2026-09-27T08:13:37.6120000Z</dcterms:modified>
</coreProperties>
</file>